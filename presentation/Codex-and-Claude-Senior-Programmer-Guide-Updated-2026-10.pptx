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a8b7091d1a486b" /><Relationship Type="http://schemas.openxmlformats.org/officeDocument/2006/relationships/extended-properties" Target="/docProps/app.xml" Id="Rd2944cb2dfe84f92" /><Relationship Type="http://schemas.openxmlformats.org/officeDocument/2006/relationships/officeDocument" Target="/ppt/presentation.xml" Id="Rbfaa05128e284e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2a4d419ab24272"/>
  </p:sldMasterIdLst>
  <p:notesMasterIdLst>
    <p:notesMasterId xmlns:r="http://schemas.openxmlformats.org/officeDocument/2006/relationships" r:id="Rf05aa3a98fdc4f77"/>
  </p:notesMasterIdLst>
  <p:sldIdLst>
    <p:sldId xmlns:r="http://schemas.openxmlformats.org/officeDocument/2006/relationships" id="256" r:id="R6a8afe692f5744f3"/>
    <p:sldId xmlns:r="http://schemas.openxmlformats.org/officeDocument/2006/relationships" id="257" r:id="R9ae1e269b78a4fa4"/>
    <p:sldId xmlns:r="http://schemas.openxmlformats.org/officeDocument/2006/relationships" id="258" r:id="R5f40906b8c0a4902"/>
    <p:sldId xmlns:r="http://schemas.openxmlformats.org/officeDocument/2006/relationships" id="259" r:id="R86ce2212d00a45ae"/>
    <p:sldId xmlns:r="http://schemas.openxmlformats.org/officeDocument/2006/relationships" id="260" r:id="R0fe2faea54b84072"/>
    <p:sldId xmlns:r="http://schemas.openxmlformats.org/officeDocument/2006/relationships" id="261" r:id="R6e7d9476ac584ada"/>
    <p:sldId xmlns:r="http://schemas.openxmlformats.org/officeDocument/2006/relationships" id="262" r:id="R8c9185069a954e96"/>
    <p:sldId xmlns:r="http://schemas.openxmlformats.org/officeDocument/2006/relationships" id="263" r:id="Red8968d2156f48d4"/>
    <p:sldId xmlns:r="http://schemas.openxmlformats.org/officeDocument/2006/relationships" id="264" r:id="R7f5bd34b565b4f46"/>
    <p:sldId xmlns:r="http://schemas.openxmlformats.org/officeDocument/2006/relationships" id="265" r:id="R83446d23bb734137"/>
    <p:sldId xmlns:r="http://schemas.openxmlformats.org/officeDocument/2006/relationships" id="266" r:id="R167da5e44a584f93"/>
    <p:sldId xmlns:r="http://schemas.openxmlformats.org/officeDocument/2006/relationships" id="267" r:id="R2deb9588ffa04a82"/>
    <p:sldId xmlns:r="http://schemas.openxmlformats.org/officeDocument/2006/relationships" id="268" r:id="R5f9d8e5ede354ca3"/>
    <p:sldId xmlns:r="http://schemas.openxmlformats.org/officeDocument/2006/relationships" id="269" r:id="Rd545101009da46ae"/>
    <p:sldId xmlns:r="http://schemas.openxmlformats.org/officeDocument/2006/relationships" id="270" r:id="R71c83f947e78431f"/>
    <p:sldId xmlns:r="http://schemas.openxmlformats.org/officeDocument/2006/relationships" id="271" r:id="Rb9faea1ba4224d35"/>
    <p:sldId xmlns:r="http://schemas.openxmlformats.org/officeDocument/2006/relationships" id="272" r:id="R83c9d2153d304f22"/>
    <p:sldId xmlns:r="http://schemas.openxmlformats.org/officeDocument/2006/relationships" id="273" r:id="Rce164cbb011f4e4e"/>
    <p:sldId xmlns:r="http://schemas.openxmlformats.org/officeDocument/2006/relationships" id="274" r:id="Re3f00673a1804160"/>
    <p:sldId xmlns:r="http://schemas.openxmlformats.org/officeDocument/2006/relationships" id="275" r:id="R4a4b9e6c96d74603"/>
    <p:sldId xmlns:r="http://schemas.openxmlformats.org/officeDocument/2006/relationships" id="276" r:id="R7b49b22a97c94304"/>
    <p:sldId xmlns:r="http://schemas.openxmlformats.org/officeDocument/2006/relationships" id="277" r:id="R77fcd37d78da44bc"/>
    <p:sldId xmlns:r="http://schemas.openxmlformats.org/officeDocument/2006/relationships" id="278" r:id="Rb0279370dd254f28"/>
    <p:sldId xmlns:r="http://schemas.openxmlformats.org/officeDocument/2006/relationships" id="279" r:id="Rab07d7f2836d4235"/>
    <p:sldId xmlns:r="http://schemas.openxmlformats.org/officeDocument/2006/relationships" id="280" r:id="R026808c202ea425a"/>
    <p:sldId xmlns:r="http://schemas.openxmlformats.org/officeDocument/2006/relationships" id="281" r:id="R5da84de17d64450e"/>
    <p:sldId xmlns:r="http://schemas.openxmlformats.org/officeDocument/2006/relationships" id="282" r:id="R85ac0bc7883348ee"/>
    <p:sldId xmlns:r="http://schemas.openxmlformats.org/officeDocument/2006/relationships" id="283" r:id="R18a81ac899774549"/>
    <p:sldId xmlns:r="http://schemas.openxmlformats.org/officeDocument/2006/relationships" id="284" r:id="R0d7fa71f2375418e"/>
    <p:sldId xmlns:r="http://schemas.openxmlformats.org/officeDocument/2006/relationships" id="285" r:id="Ra535e57e4536450f"/>
    <p:sldId xmlns:r="http://schemas.openxmlformats.org/officeDocument/2006/relationships" id="286" r:id="Rd45da19c4a244d02"/>
    <p:sldId xmlns:r="http://schemas.openxmlformats.org/officeDocument/2006/relationships" id="287" r:id="R46c314f5c48645a8"/>
    <p:sldId xmlns:r="http://schemas.openxmlformats.org/officeDocument/2006/relationships" id="288" r:id="R62728d13f5ee4fc6"/>
    <p:sldId xmlns:r="http://schemas.openxmlformats.org/officeDocument/2006/relationships" id="289" r:id="R4e43a8faf77e4fcc"/>
    <p:sldId xmlns:r="http://schemas.openxmlformats.org/officeDocument/2006/relationships" id="290" r:id="R2fbd86614b1c4ee0"/>
    <p:sldId xmlns:r="http://schemas.openxmlformats.org/officeDocument/2006/relationships" id="291" r:id="Rb7455c7934db47af"/>
    <p:sldId xmlns:r="http://schemas.openxmlformats.org/officeDocument/2006/relationships" id="292" r:id="Ra82e66eed3d84124"/>
    <p:sldId xmlns:r="http://schemas.openxmlformats.org/officeDocument/2006/relationships" id="293" r:id="R3bb4429d26c24f9f"/>
    <p:sldId xmlns:r="http://schemas.openxmlformats.org/officeDocument/2006/relationships" id="294" r:id="R232f30040eb1433e"/>
    <p:sldId xmlns:r="http://schemas.openxmlformats.org/officeDocument/2006/relationships" id="295" r:id="Rf95ba20b613b4bd7"/>
    <p:sldId xmlns:r="http://schemas.openxmlformats.org/officeDocument/2006/relationships" id="296" r:id="R7bf89f5bb9614e11"/>
    <p:sldId xmlns:r="http://schemas.openxmlformats.org/officeDocument/2006/relationships" id="297" r:id="R30da25817d034112"/>
    <p:sldId xmlns:r="http://schemas.openxmlformats.org/officeDocument/2006/relationships" id="298" r:id="R750b9652b5af451d"/>
    <p:sldId xmlns:r="http://schemas.openxmlformats.org/officeDocument/2006/relationships" id="299" r:id="R36bbe177957f4eb2"/>
    <p:sldId xmlns:r="http://schemas.openxmlformats.org/officeDocument/2006/relationships" id="300" r:id="R4d6b24ee07554807"/>
    <p:sldId xmlns:r="http://schemas.openxmlformats.org/officeDocument/2006/relationships" id="301" r:id="Re27e5ef908da46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ee785f79904ae7" /><Relationship Type="http://schemas.openxmlformats.org/officeDocument/2006/relationships/slideMaster" Target="/ppt/slideMasters/slideMaster1.xml" Id="Rda2a4d419ab24272" /><Relationship Type="http://schemas.openxmlformats.org/officeDocument/2006/relationships/notesMaster" Target="/ppt/notesMasters/notesMaster1.xml" Id="Rf05aa3a98fdc4f77" /><Relationship Type="http://schemas.openxmlformats.org/officeDocument/2006/relationships/presProps" Target="/ppt/presProps.xml" Id="R91f18bd8588b45a9" /><Relationship Type="http://schemas.openxmlformats.org/officeDocument/2006/relationships/viewProps" Target="/ppt/viewProps.xml" Id="Rf1528f7b0dac4ba5" /><Relationship Type="http://schemas.openxmlformats.org/officeDocument/2006/relationships/tableStyles" Target="/ppt/tableStyles.xml" Id="R3b09e62113ba40a6" /><Relationship Type="http://schemas.openxmlformats.org/officeDocument/2006/relationships/slide" Target="/ppt/slides/slide1.xml" Id="R6a8afe692f5744f3" /><Relationship Type="http://schemas.openxmlformats.org/officeDocument/2006/relationships/slide" Target="/ppt/slides/slide2.xml" Id="R9ae1e269b78a4fa4" /><Relationship Type="http://schemas.openxmlformats.org/officeDocument/2006/relationships/slide" Target="/ppt/slides/slide3.xml" Id="R5f40906b8c0a4902" /><Relationship Type="http://schemas.openxmlformats.org/officeDocument/2006/relationships/slide" Target="/ppt/slides/slide4.xml" Id="R86ce2212d00a45ae" /><Relationship Type="http://schemas.openxmlformats.org/officeDocument/2006/relationships/slide" Target="/ppt/slides/slide5.xml" Id="R0fe2faea54b84072" /><Relationship Type="http://schemas.openxmlformats.org/officeDocument/2006/relationships/slide" Target="/ppt/slides/slide6.xml" Id="R6e7d9476ac584ada" /><Relationship Type="http://schemas.openxmlformats.org/officeDocument/2006/relationships/slide" Target="/ppt/slides/slide7.xml" Id="R8c9185069a954e96" /><Relationship Type="http://schemas.openxmlformats.org/officeDocument/2006/relationships/slide" Target="/ppt/slides/slide8.xml" Id="Red8968d2156f48d4" /><Relationship Type="http://schemas.openxmlformats.org/officeDocument/2006/relationships/slide" Target="/ppt/slides/slide9.xml" Id="R7f5bd34b565b4f46" /><Relationship Type="http://schemas.openxmlformats.org/officeDocument/2006/relationships/slide" Target="/ppt/slides/slide10.xml" Id="R83446d23bb734137" /><Relationship Type="http://schemas.openxmlformats.org/officeDocument/2006/relationships/slide" Target="/ppt/slides/slide11.xml" Id="R167da5e44a584f93" /><Relationship Type="http://schemas.openxmlformats.org/officeDocument/2006/relationships/slide" Target="/ppt/slides/slide12.xml" Id="R2deb9588ffa04a82" /><Relationship Type="http://schemas.openxmlformats.org/officeDocument/2006/relationships/slide" Target="/ppt/slides/slide13.xml" Id="R5f9d8e5ede354ca3" /><Relationship Type="http://schemas.openxmlformats.org/officeDocument/2006/relationships/slide" Target="/ppt/slides/slide14.xml" Id="Rd545101009da46ae" /><Relationship Type="http://schemas.openxmlformats.org/officeDocument/2006/relationships/slide" Target="/ppt/slides/slide15.xml" Id="R71c83f947e78431f" /><Relationship Type="http://schemas.openxmlformats.org/officeDocument/2006/relationships/slide" Target="/ppt/slides/slide16.xml" Id="Rb9faea1ba4224d35" /><Relationship Type="http://schemas.openxmlformats.org/officeDocument/2006/relationships/slide" Target="/ppt/slides/slide17.xml" Id="R83c9d2153d304f22" /><Relationship Type="http://schemas.openxmlformats.org/officeDocument/2006/relationships/slide" Target="/ppt/slides/slide18.xml" Id="Rce164cbb011f4e4e" /><Relationship Type="http://schemas.openxmlformats.org/officeDocument/2006/relationships/slide" Target="/ppt/slides/slide19.xml" Id="Re3f00673a1804160" /><Relationship Type="http://schemas.openxmlformats.org/officeDocument/2006/relationships/slide" Target="/ppt/slides/slide20.xml" Id="R4a4b9e6c96d74603" /><Relationship Type="http://schemas.openxmlformats.org/officeDocument/2006/relationships/slide" Target="/ppt/slides/slide21.xml" Id="R7b49b22a97c94304" /><Relationship Type="http://schemas.openxmlformats.org/officeDocument/2006/relationships/slide" Target="/ppt/slides/slide22.xml" Id="R77fcd37d78da44bc" /><Relationship Type="http://schemas.openxmlformats.org/officeDocument/2006/relationships/slide" Target="/ppt/slides/slide23.xml" Id="Rb0279370dd254f28" /><Relationship Type="http://schemas.openxmlformats.org/officeDocument/2006/relationships/slide" Target="/ppt/slides/slide24.xml" Id="Rab07d7f2836d4235" /><Relationship Type="http://schemas.openxmlformats.org/officeDocument/2006/relationships/slide" Target="/ppt/slides/slide25.xml" Id="R026808c202ea425a" /><Relationship Type="http://schemas.openxmlformats.org/officeDocument/2006/relationships/slide" Target="/ppt/slides/slide26.xml" Id="R5da84de17d64450e" /><Relationship Type="http://schemas.openxmlformats.org/officeDocument/2006/relationships/slide" Target="/ppt/slides/slide27.xml" Id="R85ac0bc7883348ee" /><Relationship Type="http://schemas.openxmlformats.org/officeDocument/2006/relationships/slide" Target="/ppt/slides/slide28.xml" Id="R18a81ac899774549" /><Relationship Type="http://schemas.openxmlformats.org/officeDocument/2006/relationships/slide" Target="/ppt/slides/slide29.xml" Id="R0d7fa71f2375418e" /><Relationship Type="http://schemas.openxmlformats.org/officeDocument/2006/relationships/slide" Target="/ppt/slides/slide30.xml" Id="Ra535e57e4536450f" /><Relationship Type="http://schemas.openxmlformats.org/officeDocument/2006/relationships/slide" Target="/ppt/slides/slide31.xml" Id="Rd45da19c4a244d02" /><Relationship Type="http://schemas.openxmlformats.org/officeDocument/2006/relationships/slide" Target="/ppt/slides/slide32.xml" Id="R46c314f5c48645a8" /><Relationship Type="http://schemas.openxmlformats.org/officeDocument/2006/relationships/slide" Target="/ppt/slides/slide33.xml" Id="R62728d13f5ee4fc6" /><Relationship Type="http://schemas.openxmlformats.org/officeDocument/2006/relationships/slide" Target="/ppt/slides/slide34.xml" Id="R4e43a8faf77e4fcc" /><Relationship Type="http://schemas.openxmlformats.org/officeDocument/2006/relationships/slide" Target="/ppt/slides/slide35.xml" Id="R2fbd86614b1c4ee0" /><Relationship Type="http://schemas.openxmlformats.org/officeDocument/2006/relationships/slide" Target="/ppt/slides/slide36.xml" Id="Rb7455c7934db47af" /><Relationship Type="http://schemas.openxmlformats.org/officeDocument/2006/relationships/slide" Target="/ppt/slides/slide37.xml" Id="Ra82e66eed3d84124" /><Relationship Type="http://schemas.openxmlformats.org/officeDocument/2006/relationships/slide" Target="/ppt/slides/slide38.xml" Id="R3bb4429d26c24f9f" /><Relationship Type="http://schemas.openxmlformats.org/officeDocument/2006/relationships/slide" Target="/ppt/slides/slide39.xml" Id="R232f30040eb1433e" /><Relationship Type="http://schemas.openxmlformats.org/officeDocument/2006/relationships/slide" Target="/ppt/slides/slide40.xml" Id="Rf95ba20b613b4bd7" /><Relationship Type="http://schemas.openxmlformats.org/officeDocument/2006/relationships/slide" Target="/ppt/slides/slide41.xml" Id="R7bf89f5bb9614e11" /><Relationship Type="http://schemas.openxmlformats.org/officeDocument/2006/relationships/slide" Target="/ppt/slides/slide42.xml" Id="R30da25817d034112" /><Relationship Type="http://schemas.openxmlformats.org/officeDocument/2006/relationships/slide" Target="/ppt/slides/slide43.xml" Id="R750b9652b5af451d" /><Relationship Type="http://schemas.openxmlformats.org/officeDocument/2006/relationships/slide" Target="/ppt/slides/slide44.xml" Id="R36bbe177957f4eb2" /><Relationship Type="http://schemas.openxmlformats.org/officeDocument/2006/relationships/slide" Target="/ppt/slides/slide45.xml" Id="R4d6b24ee07554807" /><Relationship Type="http://schemas.openxmlformats.org/officeDocument/2006/relationships/slide" Target="/ppt/slides/slide46.xml" Id="Re27e5ef908da46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4ae125464344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74b2de11c44e92" /><Relationship Type="http://schemas.openxmlformats.org/officeDocument/2006/relationships/notesMaster" Target="/ppt/notesMasters/notesMaster1.xml" Id="R4ec1650ff6cf43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2fd3a5a0a24e1a" /><Relationship Type="http://schemas.openxmlformats.org/officeDocument/2006/relationships/notesMaster" Target="/ppt/notesMasters/notesMaster1.xml" Id="Rfc6348e2700449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e41c738491424d" /><Relationship Type="http://schemas.openxmlformats.org/officeDocument/2006/relationships/notesMaster" Target="/ppt/notesMasters/notesMaster1.xml" Id="Rc067e866b3954d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9c9c46bd8e4f2a" /><Relationship Type="http://schemas.openxmlformats.org/officeDocument/2006/relationships/notesMaster" Target="/ppt/notesMasters/notesMaster1.xml" Id="R7d38e248f5f346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5bb99f8e724438" /><Relationship Type="http://schemas.openxmlformats.org/officeDocument/2006/relationships/notesMaster" Target="/ppt/notesMasters/notesMaster1.xml" Id="R42306e57998047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9dcf4eaf2b43b5" /><Relationship Type="http://schemas.openxmlformats.org/officeDocument/2006/relationships/notesMaster" Target="/ppt/notesMasters/notesMaster1.xml" Id="R2b73fcd7c7ba4b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7fe1bf9aae44f6" /><Relationship Type="http://schemas.openxmlformats.org/officeDocument/2006/relationships/notesMaster" Target="/ppt/notesMasters/notesMaster1.xml" Id="Rd67a6e3e28ca4d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17ea1b3bac4bc0" /><Relationship Type="http://schemas.openxmlformats.org/officeDocument/2006/relationships/notesMaster" Target="/ppt/notesMasters/notesMaster1.xml" Id="Rf454d16d957249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81ac9d76624d05" /><Relationship Type="http://schemas.openxmlformats.org/officeDocument/2006/relationships/notesMaster" Target="/ppt/notesMasters/notesMaster1.xml" Id="R76b6802238394c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037915811e4ca5" /><Relationship Type="http://schemas.openxmlformats.org/officeDocument/2006/relationships/notesMaster" Target="/ppt/notesMasters/notesMaster1.xml" Id="R2c93ec54f48c43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6882ae659a4c6f" /><Relationship Type="http://schemas.openxmlformats.org/officeDocument/2006/relationships/notesMaster" Target="/ppt/notesMasters/notesMaster1.xml" Id="R5b721d93c5a040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8908d5d6ca4ecc" /><Relationship Type="http://schemas.openxmlformats.org/officeDocument/2006/relationships/notesMaster" Target="/ppt/notesMasters/notesMaster1.xml" Id="R14d9826b2e3341a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bd78d391a44d80" /><Relationship Type="http://schemas.openxmlformats.org/officeDocument/2006/relationships/notesMaster" Target="/ppt/notesMasters/notesMaster1.xml" Id="R623e9ec871564a2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81ec0a371041be" /><Relationship Type="http://schemas.openxmlformats.org/officeDocument/2006/relationships/notesMaster" Target="/ppt/notesMasters/notesMaster1.xml" Id="R2c04acc070b44dc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43807336404526" /><Relationship Type="http://schemas.openxmlformats.org/officeDocument/2006/relationships/notesMaster" Target="/ppt/notesMasters/notesMaster1.xml" Id="R39ba80bb807448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1cfc4ab226e435e" /><Relationship Type="http://schemas.openxmlformats.org/officeDocument/2006/relationships/notesMaster" Target="/ppt/notesMasters/notesMaster1.xml" Id="Rdc25ca79dafd4fe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639c9263c84369" /><Relationship Type="http://schemas.openxmlformats.org/officeDocument/2006/relationships/notesMaster" Target="/ppt/notesMasters/notesMaster1.xml" Id="R53b3ae4ee5eb4d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3a9911b5cfe4d78" /><Relationship Type="http://schemas.openxmlformats.org/officeDocument/2006/relationships/notesMaster" Target="/ppt/notesMasters/notesMaster1.xml" Id="R86801351fb17429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a44a99bb7d42fd" /><Relationship Type="http://schemas.openxmlformats.org/officeDocument/2006/relationships/notesMaster" Target="/ppt/notesMasters/notesMaster1.xml" Id="R7e800d3ca27146b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544edff8d14768" /><Relationship Type="http://schemas.openxmlformats.org/officeDocument/2006/relationships/notesMaster" Target="/ppt/notesMasters/notesMaster1.xml" Id="Rf506b04a9ec744a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73279929bf24b39" /><Relationship Type="http://schemas.openxmlformats.org/officeDocument/2006/relationships/notesMaster" Target="/ppt/notesMasters/notesMaster1.xml" Id="R808b7ed1648845c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4a6e280888447b9" /><Relationship Type="http://schemas.openxmlformats.org/officeDocument/2006/relationships/notesMaster" Target="/ppt/notesMasters/notesMaster1.xml" Id="Rba46b9f77a334a4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8f6b1a150834f9c" /><Relationship Type="http://schemas.openxmlformats.org/officeDocument/2006/relationships/notesMaster" Target="/ppt/notesMasters/notesMaster1.xml" Id="R4c3baf0f09234c4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7d9160402424180" /><Relationship Type="http://schemas.openxmlformats.org/officeDocument/2006/relationships/notesMaster" Target="/ppt/notesMasters/notesMaster1.xml" Id="Rc5e2e53e9a3b49a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f1fa65b431e45b6" /><Relationship Type="http://schemas.openxmlformats.org/officeDocument/2006/relationships/notesMaster" Target="/ppt/notesMasters/notesMaster1.xml" Id="R9510e80ffca54f3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bbd284b88814c26" /><Relationship Type="http://schemas.openxmlformats.org/officeDocument/2006/relationships/notesMaster" Target="/ppt/notesMasters/notesMaster1.xml" Id="R4d9f75067c284ae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2a8abf0e3d84079" /><Relationship Type="http://schemas.openxmlformats.org/officeDocument/2006/relationships/notesMaster" Target="/ppt/notesMasters/notesMaster1.xml" Id="R8dffe642767147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70a35bf8d214b05" /><Relationship Type="http://schemas.openxmlformats.org/officeDocument/2006/relationships/notesMaster" Target="/ppt/notesMasters/notesMaster1.xml" Id="R5db7ca2122804e7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18de7ab48374804" /><Relationship Type="http://schemas.openxmlformats.org/officeDocument/2006/relationships/notesMaster" Target="/ppt/notesMasters/notesMaster1.xml" Id="Rb11c868c6e51499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6d3a4d4ff37495f" /><Relationship Type="http://schemas.openxmlformats.org/officeDocument/2006/relationships/notesMaster" Target="/ppt/notesMasters/notesMaster1.xml" Id="R061afb005d4c4f5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3c267696f65402d" /><Relationship Type="http://schemas.openxmlformats.org/officeDocument/2006/relationships/notesMaster" Target="/ppt/notesMasters/notesMaster1.xml" Id="R152bb20b0014423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05e6ddf270345d2" /><Relationship Type="http://schemas.openxmlformats.org/officeDocument/2006/relationships/notesMaster" Target="/ppt/notesMasters/notesMaster1.xml" Id="Rea31f0e406114e5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7c7464648384a10" /><Relationship Type="http://schemas.openxmlformats.org/officeDocument/2006/relationships/notesMaster" Target="/ppt/notesMasters/notesMaster1.xml" Id="R21854e49c71a482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46fd42f315d4857" /><Relationship Type="http://schemas.openxmlformats.org/officeDocument/2006/relationships/notesMaster" Target="/ppt/notesMasters/notesMaster1.xml" Id="Rb55d5519b26244c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3714fe681814454" /><Relationship Type="http://schemas.openxmlformats.org/officeDocument/2006/relationships/notesMaster" Target="/ppt/notesMasters/notesMaster1.xml" Id="R88f51997a1dc438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a149caa93524eab" /><Relationship Type="http://schemas.openxmlformats.org/officeDocument/2006/relationships/notesMaster" Target="/ppt/notesMasters/notesMaster1.xml" Id="R5f7b98a149cf419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a86a9b4659841bb" /><Relationship Type="http://schemas.openxmlformats.org/officeDocument/2006/relationships/notesMaster" Target="/ppt/notesMasters/notesMaster1.xml" Id="R7ae04618f7aa477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407edc6b9c34c27" /><Relationship Type="http://schemas.openxmlformats.org/officeDocument/2006/relationships/notesMaster" Target="/ppt/notesMasters/notesMaster1.xml" Id="R89313a14965e412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472dfa5b3bb43e5" /><Relationship Type="http://schemas.openxmlformats.org/officeDocument/2006/relationships/notesMaster" Target="/ppt/notesMasters/notesMaster1.xml" Id="Rf21e6421f2a3448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ba4781bf80140f8" /><Relationship Type="http://schemas.openxmlformats.org/officeDocument/2006/relationships/notesMaster" Target="/ppt/notesMasters/notesMaster1.xml" Id="R53003031884843c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7c49031671e4a19" /><Relationship Type="http://schemas.openxmlformats.org/officeDocument/2006/relationships/notesMaster" Target="/ppt/notesMasters/notesMaster1.xml" Id="R0d0ca9c0f237475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54fb3b81121452c" /><Relationship Type="http://schemas.openxmlformats.org/officeDocument/2006/relationships/notesMaster" Target="/ppt/notesMasters/notesMaster1.xml" Id="R984617b00a37446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7854d0b90174293" /><Relationship Type="http://schemas.openxmlformats.org/officeDocument/2006/relationships/notesMaster" Target="/ppt/notesMasters/notesMaster1.xml" Id="R4638a50f546b477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a94913046a944eb" /><Relationship Type="http://schemas.openxmlformats.org/officeDocument/2006/relationships/notesMaster" Target="/ppt/notesMasters/notesMaster1.xml" Id="R3e12d0646d0240b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b9b06aa1c1d46fb" /><Relationship Type="http://schemas.openxmlformats.org/officeDocument/2006/relationships/notesMaster" Target="/ppt/notesMasters/notesMaster1.xml" Id="Re822b860a9d64ba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af1e48be61a4da3" /><Relationship Type="http://schemas.openxmlformats.org/officeDocument/2006/relationships/notesMaster" Target="/ppt/notesMasters/notesMaster1.xml" Id="Ra4f2d743c8004f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https://learn.chatgpt.com/docs/agent-configuration/agents-md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https://learn.chatgpt.com/docs/prompting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C:/Users/yonim/Documents/Codex/2026-08-23/codex-senior-programmer-guide-chatgpt-conversation/work/presentation/claude-prompting-guide.txt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C:/Users/yonim/Documents/Codex/2026-08-23/codex-senior-programmer-guide-chatgpt-conversation/work/presentation/claude-prompting-guide.txt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C:/Users/yonim/Documents/Codex/2026-08-23/codex-senior-programmer-guide-chatgpt-conversation/work/presentation/claude-prompting-guide.txt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C:/Users/yonim/Documents/Codex/2026-08-23/codex-senior-programmer-guide-chatgpt-conversation/work/presentation/claude-prompting-guide.txt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C:/Users/yonim/Documents/Codex/2026-08-23/codex-senior-programmer-guide-chatgpt-conversation/work/presentation/claude-prompting-guide.txt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https://learn.chatgpt.com/docs/prompting</a:t>
            </a:r>
          </a:p>
          <a:p xmlns:a="http://schemas.openxmlformats.org/drawingml/2006/main">
            <a:r>
              <a:t>- https://developers.openai.com/cookbook/examples/gpt-5/codex_prompting_guide</a:t>
            </a:r>
          </a:p>
          <a:p xmlns:a="http://schemas.openxmlformats.org/drawingml/2006/main">
            <a:r>
              <a:t>- https://developers.openai.com/api/docs/guides/latest-model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https://learn.chatgpt.com/docs/prompting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https://developers.openai.com/cookbook/examples/gpt-5/codex_prompting_guide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https://learn.chatgpt.com/docs/prompting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https://developers.openai.com/cookbook/examples/gpt-5/codex_prompting_guide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https://learn.chatgpt.com/docs/prompting</a:t>
            </a:r>
          </a:p>
          <a:p xmlns:a="http://schemas.openxmlformats.org/drawingml/2006/main">
            <a:r>
              <a:t>- https://developers.openai.com/cookbook/examples/gpt-5/codex_prompting_guide</a:t>
            </a:r>
          </a:p>
          <a:p xmlns:a="http://schemas.openxmlformats.org/drawingml/2006/main">
            <a:r>
              <a:t>- https://developers.openai.com/api/docs/guides/latest-model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https://learn.chatgpt.com/docs/prompting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https://developers.openai.com/cookbook/examples/gpt-5/codex_prompting_guide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https://learn.chatgpt.com/docs/prompting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https://developers.openai.com/cookbook/examples/gpt-5/codex_prompting_guide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https://developers.openai.com/api/docs/models</a:t>
            </a:r>
            <a:endParaRPr/>
          </a:p>
          <a:p xmlns:a="http://schemas.openxmlformats.org/drawingml/2006/main">
            <a:r>
              <a:t>- https://developers.openai.com/api/docs/guides/latest-model</a:t>
            </a:r>
            <a:endParaRPr/>
          </a:p>
          <a:p xmlns:a="http://schemas.openxmlformats.org/drawingml/2006/main">
            <a:r>
              <a:t>- https://learn.chatgpt.com/docs/models</a:t>
            </a:r>
            <a:endParaRPr/>
          </a:p>
          <a:p xmlns:a="http://schemas.openxmlformats.org/drawingml/2006/main">
            <a:r>
              <a:t>- https://www.anthropic.com/transparency</a:t>
            </a:r>
            <a:endParaRPr/>
          </a:p>
          <a:p xmlns:a="http://schemas.openxmlformats.org/drawingml/2006/main">
            <a:r>
              <a:t>- https://platform.claude.com/docs/en/about-claude/model-deprecations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https://developers.openai.com/api/docs/models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https://learn.chatgpt.com/docs/models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https://code.claude.com/docs/en/cli-usage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https://developers.openai.com/api/docs/models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https://developers.openai.com/api/docs/guides/model-selection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https://learn.chatgpt.com/docs/models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https://developers.openai.com/api/docs/models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https://developers.openai.com/api/docs/guides/model-selection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https://learn.chatgpt.com/docs/models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https://learn.chatgpt.com/docs/whats-new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https://developers.openai.com/api/docs/models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https://www.anthropic.com/transparency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https://platform.claude.com/docs/en/about-claude/model-deprecations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https://platform.claude.com/docs/en/about-claude/model-deprecations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https://www.anthropic.com/transparency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https://code.claude.com/docs/en/cli-usage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https://platform.claude.com/docs/en/build-with-claude/prompt-engineering/claude-prompting-best-practices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https://developers.openai.com/api/docs/guides/model-selection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https://learn.chatgpt.com/docs/models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https://www.anthropic.com/transparency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https://code.claude.com/docs/en/cli-usage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[Note] Recommendations on this slide are an inference from the cited first-party guidance and should be validated on the team's own tasks.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https://developers.openai.com/api/docs/guides/latest-model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https://developers.openai.com/api/docs/guides/model-selection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https://www.anthropic.com/transparency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https://code.claude.com/docs/en/cli-usage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[Note] Recommendations on this slide are an inference from the cited first-party guidance and should be validated on the team's own tasks.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https://developers.openai.com/api/docs/guides/model-selection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https://platform.claude.com/docs/en/build-with-claude/prompt-engineering/claude-prompting-best-practices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[Note] Recommendations on this slide are an inference from the cited first-party guidance and should be validated on the team's own tasks.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C:/Users/yonim/Documents/Codex/2026-08-23/codex-senior-programmer-guide-chatgpt-conversation/work/presentation/original-guide.pptx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9feec32a034a2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a5377caa3a40f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f7ced35d8410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10b3ea5d649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f7265ca83c499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5e9bd769b41b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9ab896e8124a1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67cc0765f44c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fef4c9e50b4577" /><Relationship Type="http://schemas.openxmlformats.org/officeDocument/2006/relationships/image" Target="/ppt/media/image.png" Id="R7949ecbb36064b4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ae1bea95d146ff" /><Relationship Type="http://schemas.openxmlformats.org/officeDocument/2006/relationships/image" Target="/ppt/media/image2.png" Id="R6df267db5c374a7d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7949ecbb36064b4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6df267db5c374a7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500bec8f2d4988" /><Relationship Type="http://schemas.openxmlformats.org/officeDocument/2006/relationships/slideLayout" Target="/ppt/slideLayouts/slideLayout1.xml" Id="Re1e86cf11f70438e" /><Relationship Type="http://schemas.openxmlformats.org/officeDocument/2006/relationships/slideLayout" Target="/ppt/slideLayouts/slideLayout2.xml" Id="R2eee9bbd176a4336" /><Relationship Type="http://schemas.openxmlformats.org/officeDocument/2006/relationships/slideLayout" Target="/ppt/slideLayouts/slideLayout3.xml" Id="Rea37882dd38e463f" /><Relationship Type="http://schemas.openxmlformats.org/officeDocument/2006/relationships/slideLayout" Target="/ppt/slideLayouts/slideLayout4.xml" Id="R6e5789fa4f5845d8" /><Relationship Type="http://schemas.openxmlformats.org/officeDocument/2006/relationships/slideLayout" Target="/ppt/slideLayouts/slideLayout5.xml" Id="R103d4bfc0b3d4b18" /><Relationship Type="http://schemas.openxmlformats.org/officeDocument/2006/relationships/slideLayout" Target="/ppt/slideLayouts/slideLayout6.xml" Id="R2a7da3adc676435e" /><Relationship Type="http://schemas.openxmlformats.org/officeDocument/2006/relationships/slideLayout" Target="/ppt/slideLayouts/slideLayout7.xml" Id="Rc0384593c0fa4512" /><Relationship Type="http://schemas.openxmlformats.org/officeDocument/2006/relationships/slideLayout" Target="/ppt/slideLayouts/slideLayout8.xml" Id="R093ca386466547c4" /><Relationship Type="http://schemas.openxmlformats.org/officeDocument/2006/relationships/slideLayout" Target="/ppt/slideLayouts/slideLayout9.xml" Id="R123c339853074dd0" /><Relationship Type="http://schemas.openxmlformats.org/officeDocument/2006/relationships/slideLayout" Target="/ppt/slideLayouts/slideLayout10.xml" Id="R62d9481908c7461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9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9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e86cf11f70438e"/>
    <p:sldLayoutId xmlns:r="http://schemas.openxmlformats.org/officeDocument/2006/relationships" id="2147483650" r:id="R2eee9bbd176a4336"/>
    <p:sldLayoutId xmlns:r="http://schemas.openxmlformats.org/officeDocument/2006/relationships" id="2147483651" r:id="Rea37882dd38e463f"/>
    <p:sldLayoutId xmlns:r="http://schemas.openxmlformats.org/officeDocument/2006/relationships" id="2147483652" r:id="R6e5789fa4f5845d8"/>
    <p:sldLayoutId xmlns:r="http://schemas.openxmlformats.org/officeDocument/2006/relationships" id="2147483653" r:id="R103d4bfc0b3d4b18"/>
    <p:sldLayoutId xmlns:r="http://schemas.openxmlformats.org/officeDocument/2006/relationships" id="2147483654" r:id="R2a7da3adc676435e"/>
    <p:sldLayoutId xmlns:r="http://schemas.openxmlformats.org/officeDocument/2006/relationships" id="2147483655" r:id="Rc0384593c0fa4512"/>
    <p:sldLayoutId xmlns:r="http://schemas.openxmlformats.org/officeDocument/2006/relationships" id="2147483656" r:id="R093ca386466547c4"/>
    <p:sldLayoutId xmlns:r="http://schemas.openxmlformats.org/officeDocument/2006/relationships" id="2147483657" r:id="R123c339853074dd0"/>
    <p:sldLayoutId xmlns:r="http://schemas.openxmlformats.org/officeDocument/2006/relationships" id="2147483658" r:id="R62d9481908c7461c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858e1b22242d6" /><Relationship Type="http://schemas.openxmlformats.org/officeDocument/2006/relationships/notesSlide" Target="/ppt/notesSlides/notesSlide1.xml" Id="R5e7233ae521046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bd670be694620" /><Relationship Type="http://schemas.openxmlformats.org/officeDocument/2006/relationships/notesSlide" Target="/ppt/notesSlides/notesSlide2.xml" Id="R77ee923fbe9749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9c8c59a88243cc" /><Relationship Type="http://schemas.openxmlformats.org/officeDocument/2006/relationships/notesSlide" Target="/ppt/notesSlides/notesSlide3.xml" Id="R13ed747528124d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13eb2e01ca4b92" /><Relationship Type="http://schemas.openxmlformats.org/officeDocument/2006/relationships/notesSlide" Target="/ppt/notesSlides/notesSlide4.xml" Id="Rfbd98b2edfb64f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233322c62f4582" /><Relationship Type="http://schemas.openxmlformats.org/officeDocument/2006/relationships/notesSlide" Target="/ppt/notesSlides/notesSlide5.xml" Id="R39192a885c224b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a15ef092d646cc" /><Relationship Type="http://schemas.openxmlformats.org/officeDocument/2006/relationships/notesSlide" Target="/ppt/notesSlides/notesSlide6.xml" Id="R250028ada46343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14e9cc93934dd8" /><Relationship Type="http://schemas.openxmlformats.org/officeDocument/2006/relationships/notesSlide" Target="/ppt/notesSlides/notesSlide7.xml" Id="R8debf4b4d74643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266ae2296f4479" /><Relationship Type="http://schemas.openxmlformats.org/officeDocument/2006/relationships/notesSlide" Target="/ppt/notesSlides/notesSlide8.xml" Id="Rc43a3d9df50045c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e1b7ccf5624ae2" /><Relationship Type="http://schemas.openxmlformats.org/officeDocument/2006/relationships/notesSlide" Target="/ppt/notesSlides/notesSlide9.xml" Id="R54d93857c97e4a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451ecf645d9468f" /><Relationship Type="http://schemas.openxmlformats.org/officeDocument/2006/relationships/notesSlide" Target="/ppt/notesSlides/notesSlide10.xml" Id="Rea5157e59e5546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eb3b8a1fa0d4e15" /><Relationship Type="http://schemas.openxmlformats.org/officeDocument/2006/relationships/notesSlide" Target="/ppt/notesSlides/notesSlide11.xml" Id="Rf6c2041f715746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51671d347c4e22" /><Relationship Type="http://schemas.openxmlformats.org/officeDocument/2006/relationships/notesSlide" Target="/ppt/notesSlides/notesSlide12.xml" Id="R27ebeeb6612846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3d46799e6c349c6" /><Relationship Type="http://schemas.openxmlformats.org/officeDocument/2006/relationships/notesSlide" Target="/ppt/notesSlides/notesSlide13.xml" Id="R8d26bd06746649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d23951e2934974" /><Relationship Type="http://schemas.openxmlformats.org/officeDocument/2006/relationships/notesSlide" Target="/ppt/notesSlides/notesSlide14.xml" Id="R9cf2470adc7546f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bee7bd6c2054bf0" /><Relationship Type="http://schemas.openxmlformats.org/officeDocument/2006/relationships/notesSlide" Target="/ppt/notesSlides/notesSlide15.xml" Id="R96c1aec3cbdf4df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5f6a9a9b5c48c7" /><Relationship Type="http://schemas.openxmlformats.org/officeDocument/2006/relationships/notesSlide" Target="/ppt/notesSlides/notesSlide16.xml" Id="R60371b5470fd45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f1ea644fea41c7" /><Relationship Type="http://schemas.openxmlformats.org/officeDocument/2006/relationships/notesSlide" Target="/ppt/notesSlides/notesSlide17.xml" Id="Rf7954559ce844b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09ca8d1f014fbe" /><Relationship Type="http://schemas.openxmlformats.org/officeDocument/2006/relationships/notesSlide" Target="/ppt/notesSlides/notesSlide18.xml" Id="Rc4e1433528ef4b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c40dba1fde4c0c" /><Relationship Type="http://schemas.openxmlformats.org/officeDocument/2006/relationships/notesSlide" Target="/ppt/notesSlides/notesSlide19.xml" Id="R2c619d0612b848f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ec6883efd143b5" /><Relationship Type="http://schemas.openxmlformats.org/officeDocument/2006/relationships/notesSlide" Target="/ppt/notesSlides/notesSlide20.xml" Id="Rf72ae76e30f3420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2ab835965624f62" /><Relationship Type="http://schemas.openxmlformats.org/officeDocument/2006/relationships/notesSlide" Target="/ppt/notesSlides/notesSlide21.xml" Id="Rc003c2fabd5540f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27651d8c440b7" /><Relationship Type="http://schemas.openxmlformats.org/officeDocument/2006/relationships/notesSlide" Target="/ppt/notesSlides/notesSlide22.xml" Id="R0d8c56f06a584f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6e8bed038914a16" /><Relationship Type="http://schemas.openxmlformats.org/officeDocument/2006/relationships/notesSlide" Target="/ppt/notesSlides/notesSlide23.xml" Id="Rf222d09478fb42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c9f186a6174320" /><Relationship Type="http://schemas.openxmlformats.org/officeDocument/2006/relationships/notesSlide" Target="/ppt/notesSlides/notesSlide24.xml" Id="Rb321da7e20f34e2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86468fb0fc64da2" /><Relationship Type="http://schemas.openxmlformats.org/officeDocument/2006/relationships/notesSlide" Target="/ppt/notesSlides/notesSlide25.xml" Id="R2a44e0e9fbdd4eb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2820f726d2437c" /><Relationship Type="http://schemas.openxmlformats.org/officeDocument/2006/relationships/notesSlide" Target="/ppt/notesSlides/notesSlide26.xml" Id="Rfa86cee1530747e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224885d3614439" /><Relationship Type="http://schemas.openxmlformats.org/officeDocument/2006/relationships/notesSlide" Target="/ppt/notesSlides/notesSlide27.xml" Id="Rd39480ba0a514fd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171e88aaca4d6a" /><Relationship Type="http://schemas.openxmlformats.org/officeDocument/2006/relationships/notesSlide" Target="/ppt/notesSlides/notesSlide28.xml" Id="R195d64fc3adc480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1d10fb78b74b2e" /><Relationship Type="http://schemas.openxmlformats.org/officeDocument/2006/relationships/notesSlide" Target="/ppt/notesSlides/notesSlide29.xml" Id="Rc339b87042dc404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dfb5f22f00d4899" /><Relationship Type="http://schemas.openxmlformats.org/officeDocument/2006/relationships/notesSlide" Target="/ppt/notesSlides/notesSlide30.xml" Id="Rd64cae62dd404bb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d39d3497944b00" /><Relationship Type="http://schemas.openxmlformats.org/officeDocument/2006/relationships/notesSlide" Target="/ppt/notesSlides/notesSlide31.xml" Id="R317e76ada5cd47d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80a3ec12b84b7d" /><Relationship Type="http://schemas.openxmlformats.org/officeDocument/2006/relationships/notesSlide" Target="/ppt/notesSlides/notesSlide32.xml" Id="R323876c6255d45c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0530867314277" /><Relationship Type="http://schemas.openxmlformats.org/officeDocument/2006/relationships/notesSlide" Target="/ppt/notesSlides/notesSlide33.xml" Id="Re829dbd989234d3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4b30f566434292" /><Relationship Type="http://schemas.openxmlformats.org/officeDocument/2006/relationships/notesSlide" Target="/ppt/notesSlides/notesSlide34.xml" Id="R39f848211a704b2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bdd6ecb27a4f9f" /><Relationship Type="http://schemas.openxmlformats.org/officeDocument/2006/relationships/notesSlide" Target="/ppt/notesSlides/notesSlide35.xml" Id="Rcc8b71f27ad7446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115717330847b8" /><Relationship Type="http://schemas.openxmlformats.org/officeDocument/2006/relationships/notesSlide" Target="/ppt/notesSlides/notesSlide36.xml" Id="Rfa15774484bd404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e2342a35e4543f8" /><Relationship Type="http://schemas.openxmlformats.org/officeDocument/2006/relationships/notesSlide" Target="/ppt/notesSlides/notesSlide37.xml" Id="R3c5f51249f7d45e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69e8d778bc404b" /><Relationship Type="http://schemas.openxmlformats.org/officeDocument/2006/relationships/notesSlide" Target="/ppt/notesSlides/notesSlide38.xml" Id="R7ebff8a6b20a417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1319c44c4c4dd0" /><Relationship Type="http://schemas.openxmlformats.org/officeDocument/2006/relationships/notesSlide" Target="/ppt/notesSlides/notesSlide39.xml" Id="R02add0973d6542d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4c69b700de41bd" /><Relationship Type="http://schemas.openxmlformats.org/officeDocument/2006/relationships/notesSlide" Target="/ppt/notesSlides/notesSlide40.xml" Id="R916b697250f3428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a72d3d804ec41ab" /><Relationship Type="http://schemas.openxmlformats.org/officeDocument/2006/relationships/notesSlide" Target="/ppt/notesSlides/notesSlide41.xml" Id="R2ce750708e95474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e10ab4e1c645c3" /><Relationship Type="http://schemas.openxmlformats.org/officeDocument/2006/relationships/notesSlide" Target="/ppt/notesSlides/notesSlide42.xml" Id="R6bea404ed1764ce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3a2753528f4858" /><Relationship Type="http://schemas.openxmlformats.org/officeDocument/2006/relationships/notesSlide" Target="/ppt/notesSlides/notesSlide43.xml" Id="R0611d73dc409481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ff0c4845794ac0" /><Relationship Type="http://schemas.openxmlformats.org/officeDocument/2006/relationships/notesSlide" Target="/ppt/notesSlides/notesSlide44.xml" Id="R31dcca140e46477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ff5b689f6404358" /><Relationship Type="http://schemas.openxmlformats.org/officeDocument/2006/relationships/notesSlide" Target="/ppt/notesSlides/notesSlide45.xml" Id="R609b05d98a09429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06531b8604700" /><Relationship Type="http://schemas.openxmlformats.org/officeDocument/2006/relationships/notesSlide" Target="/ppt/notesSlides/notesSlide46.xml" Id="R6e5cb10206054a20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0F24658D-7578-8E1B-095D-2634178665B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84537" y="1850746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6500">
                <a:solidFill>
                  <a:srgbClr val="F6FAFF"/>
                </a:solidFill>
              </a:rPr>
              <a:t>Senior Developer</a:t>
            </a:r>
          </a:p>
          <a:p xmlns:a="http://schemas.openxmlformats.org/drawingml/2006/main">
            <a:r>
              <a:rPr sz="6500">
                <a:solidFill>
                  <a:srgbClr val="F6FAFF"/>
                </a:solidFill>
              </a:rPr>
              <a:t>Workflow Guide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9CFCDDD1-6B62-D648-FCD8-F519A8EBFE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5170707"/>
            <a:ext cx="3568700" cy="6477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E2EEFC"/>
                </a:solidFill>
              </a:rPr>
              <a:t>Claude Code + Codex</a:t>
            </a:r>
          </a:p>
          <a:p xmlns:a="http://schemas.openxmlformats.org/drawingml/2006/main">
            <a:r>
              <a:rPr sz="1800">
                <a:solidFill>
                  <a:srgbClr val="E2EEFC"/>
                </a:solidFill>
              </a:rPr>
              <a:t>Current models, prompting, and production workflow</a:t>
            </a:r>
          </a:p>
        </p:txBody>
      </p:sp>
      <p:sp>
        <p:nvSpPr>
          <p:cNvPr id="2" name="Subtitle 4">
            <a:extLst xmlns:a="http://schemas.openxmlformats.org/drawingml/2006/main">
              <a:ext uri="{FF2B5EF4-FFF2-40B4-BE49-F238E27FC236}">
                <a16:creationId xmlns:a16="http://schemas.microsoft.com/office/drawing/2014/main" id="{7DE36FE5-F5E6-DBA2-7BCD-BDE05B2A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789" y="5170707"/>
            <a:ext cx="35687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800">
                <a:solidFill>
                  <a:srgbClr val="E2EEFC"/>
                </a:solidFill>
              </a:rPr>
              <a:t>Prepared for</a:t>
            </a:r>
          </a:p>
          <a:p xmlns:a="http://schemas.openxmlformats.org/drawingml/2006/main">
            <a:r>
              <a:rPr sz="1800">
                <a:solidFill>
                  <a:srgbClr val="E2EEFC"/>
                </a:solidFill>
              </a:rPr>
              <a:t>software builders and engineering teams</a:t>
            </a:r>
          </a:p>
        </p:txBody>
      </p:sp>
      <p:sp>
        <p:nvSpPr>
          <p:cNvPr id="3" name="Subtitle 4">
            <a:extLst xmlns:a="http://schemas.openxmlformats.org/drawingml/2006/main">
              <a:ext uri="{FF2B5EF4-FFF2-40B4-BE49-F238E27FC236}">
                <a16:creationId xmlns:a16="http://schemas.microsoft.com/office/drawing/2014/main" id="{1855E0C5-A5E4-590B-0D77-15A6F24D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8228" y="623595"/>
            <a:ext cx="319923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UPDATED OCTOBER 2026</a:t>
            </a:r>
          </a:p>
        </p:txBody>
      </p:sp>
      <p:sp>
        <p:nvSpPr>
          <p:cNvPr id="7" name="Subtitle 4">
            <a:extLst xmlns:a="http://schemas.openxmlformats.org/drawingml/2006/main">
              <a:ext uri="{FF2B5EF4-FFF2-40B4-BE49-F238E27FC236}">
                <a16:creationId xmlns:a16="http://schemas.microsoft.com/office/drawing/2014/main" id="{5794C0B2-4912-64A0-21CF-60B66252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23595"/>
            <a:ext cx="55372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rPr sz="18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CODEX + CLAUDE CODE</a:t>
            </a:r>
          </a:p>
        </p:txBody>
      </p:sp>
      <p:sp>
        <p:nvSpPr>
          <p:cNvPr id="8" name="Straight Connector 7">
            <a:extLst xmlns:a="http://schemas.openxmlformats.org/drawingml/2006/main">
              <a:ext uri="{FF2B5EF4-FFF2-40B4-BE49-F238E27FC236}">
                <a16:creationId xmlns:a16="http://schemas.microsoft.com/office/drawing/2014/main" id="{A06171C7-074C-45CA-8E54-22542027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37" y="374574"/>
            <a:ext cx="1142292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7DD3FC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986947201"/>
      </p:ext>
    </p:extLst>
  </p:cSld>
</p:sld>
</file>

<file path=ppt/slides/slide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40BD946D-556A-ECA8-679C-19ABE963A4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965513"/>
            <a:ext cx="9448800" cy="1066487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3800">
                <a:solidFill>
                  <a:srgbClr val="F6FAFF"/>
                </a:solidFill>
              </a:rPr>
              <a:t>What learners will master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173F7058-30A0-0125-1A90-B808A012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99" y="392242"/>
            <a:ext cx="3578411" cy="3451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LEARNING PATH</a:t>
            </a:r>
          </a:p>
        </p:txBody>
      </p:sp>
      <p:graphicFrame>
        <p:nvGraphicFramePr>
          <p:cNvPr id="10" name="Table 6"/>
          <p:cNvGraphicFramePr/>
          <p:nvPr/>
        </p:nvGraphicFramePr>
        <p:xfrm>
          <a:off xmlns:a="http://schemas.openxmlformats.org/drawingml/2006/main" x="393698" y="2667171"/>
          <a:ext xmlns:a="http://schemas.openxmlformats.org/drawingml/2006/main" cx="7835901" cy="328165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2"/>
                <a:gridCol w="7213599"/>
              </a:tblGrid>
              <a:tr h="546943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F6FA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01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F6FA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Operating model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D5EA8"/>
                    </a:solidFill>
                  </a:tcPr>
                </a:tc>
              </a:tr>
              <a:tr h="546943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02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repository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315F"/>
                    </a:solidFill>
                  </a:tcPr>
                </a:tc>
              </a:tr>
              <a:tr h="546943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03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Delivery lifecycle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3D70"/>
                    </a:solidFill>
                  </a:tcPr>
                </a:tc>
              </a:tr>
              <a:tr h="546943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04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Verification + review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315F"/>
                    </a:solidFill>
                  </a:tcPr>
                </a:tc>
              </a:tr>
              <a:tr h="546943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05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selection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3D70"/>
                    </a:solidFill>
                  </a:tcPr>
                </a:tc>
              </a:tr>
              <a:tr h="546943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06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100" b="0" i="0" u="none" cap="none" spc="0">
                          <a:ln>
                            <a:noFill/>
                          </a:ln>
                          <a:solidFill>
                            <a:srgbClr val="E2EEF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Prompting playbooks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315F"/>
                    </a:solidFill>
                  </a:tcPr>
                </a:tc>
              </a:tr>
            </a:tbl>
          </a:graphicData>
        </a:graphic>
      </p:graphicFrame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810BED8-CB43-D17C-4D24-32A4B0893D6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>
                <a:solidFill>
                  <a:srgbClr val="A9C7E8"/>
                </a:solidFill>
              </a:rPr>
              <a:t>CODEX + CLAUDE CODE</a:t>
            </a:r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9ED408-E4DF-E76D-2726-E1F5A044108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E2598689-54C9-18A7-3A19-ED76AA08988F}" type="slidenum">
              <a:rPr sz="1100" b="0" i="0" u="none" cap="none" spc="0">
                <a:ln>
                  <a:noFill/>
                </a:ln>
                <a:solidFill>
                  <a:srgbClr val="A9C7E8"/>
                </a:solidFill>
                <a:latin typeface="Helvetica Neue"/>
                <a:ea typeface="Helvetica Neue"/>
                <a:cs typeface="Helvetica Neue"/>
              </a:rPr>
              <a:t>2</a:t>
            </a:fld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77949545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One engineering system closes the loop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Code — reason and review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Clarify requirements, map architecture, investigate evidence, and challenge the result.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Define the problem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Expose assumptions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Review independently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— execute and verify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 approved scope, run tools and tests, iterate on runtime behavior, and prepare delivery.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Build the slice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Prove completion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Deliver a clean diff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A human engineering owner coordinates two capable agents. Each gets a primary responsibility and an independent verifier.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Human owner — approve scope, resolve risk, inspect product behavior, and control merge and release.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rgbClr val="A9C7E8"/>
                </a:solidFill>
              </a:rPr>
              <a:t>3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Assign primary ownership, then independent review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Code leads reasoning-heavy work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Requirements, architecture, repository investigation, root-cause analysis, security review, and design critique.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Plan deliberately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Cite evidence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Challenge assumptions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leads delivery-heavy work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Scoped implementation, multi-file edits, automated checks, runtime iteration, Git branches, and pull requests.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Act autonomously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Verify results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Prepare handoff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Both agents can analyze, edit, test, and review. The distinction is workflow ownership—not a product limitation.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Human gate — settle disagreements, approve sensitive changes, read the diff, verify the product, and own release.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rgbClr val="A9C7E8"/>
                </a:solidFill>
              </a:rPr>
              <a:t>4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8B77B614-E3C4-8964-0877-92800631D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99" y="344009"/>
            <a:ext cx="11404599" cy="5957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Both agents can build across the stack</a:t>
            </a: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4774D92-572F-796B-CFA0-75F5BDE3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0439ECA-9193-112F-E7E6-326447C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Web applications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React, Next.js, Vite, TypeScript, Tailwind, and full-stack frameworks.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ED27E76-B721-E464-2478-718E91A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40DA34A0-E630-37E8-0332-0E57245D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Mobile applications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React Native + Expo, Flutter, Kotlin, Swift, and native tooling.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F421FB3D-82DC-94B6-ADD3-99BB3C8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22C651-AF0B-D7E1-E9EF-3F4BC1C5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Desktop applications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Tauri, Electron, Flutter Desktop, .NET, and platform integrations.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DA590ED-3B5F-06BC-B0E9-C6DC4E8B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B1BBBB3-DA5C-C3DF-7DD6-33AB7A8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Backend and APIs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Node.js, NestJS, Express, FastAPI, Spring, .NET, SQL, and cloud services.</a:t>
            </a:r>
          </a:p>
        </p:txBody>
      </p:sp>
      <p:sp>
        <p:nvSpPr>
          <p:cNvPr id="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4E6B723-686B-D8DD-4DA5-3E62BDE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Choose the framework for the product surface; choose the agent workflow for the engineering job.</a:t>
            </a: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C4B207BF-6BAB-0D91-F12C-1E6FFBCC420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12" name="Slide Number Placeholder 11">
            <a:extLst xmlns:a="http://schemas.openxmlformats.org/drawingml/2006/main">
              <a:ext uri="{FF2B5EF4-FFF2-40B4-BE49-F238E27FC236}">
                <a16:creationId xmlns:a16="http://schemas.microsoft.com/office/drawing/2014/main" id="{24C9B83B-D496-749A-8CAB-E5D5829B60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rgbClr val="A9C7E8"/>
                </a:solidFill>
              </a:rPr>
              <a:t>5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66000242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9299C6E-3FDF-5AB3-E054-F3F59B33981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>
                <a:solidFill>
                  <a:srgbClr val="A9C7E8"/>
                </a:solidFill>
              </a:rPr>
              <a:t>CODEX + CLAUDE CODE</a:t>
            </a:r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3DF656-61B4-2882-D797-9122308526B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8C630A04-5A25-9E0C-9436-126091DB86B3}" type="slidenum">
              <a:rPr sz="1100" b="0" i="0" u="none" cap="none" spc="0">
                <a:ln>
                  <a:noFill/>
                </a:ln>
                <a:solidFill>
                  <a:srgbClr val="A9C7E8"/>
                </a:solidFill>
                <a:latin typeface="Helvetica Neue"/>
                <a:ea typeface="Helvetica Neue"/>
                <a:cs typeface="Helvetica Neue"/>
              </a:rPr>
              <a:t>6</a:t>
            </a:fld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414154B-F746-1A74-21F7-6E5F045F17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GitHub access differs between cloud and local work</a:t>
            </a:r>
            <a:endParaRPr/>
          </a:p>
        </p:txBody>
      </p:sp>
      <p:sp>
        <p:nvSpPr>
          <p:cNvPr id="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D9F23F1-48AA-5A67-CC7C-B65A7A75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796192"/>
            <a:ext cx="11404599" cy="12264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Cloud integrations use an installed GitHub app and repository selection. Local tools normally use Git credentials already configured on the computer.</a:t>
            </a:r>
          </a:p>
        </p:txBody>
      </p:sp>
      <p:sp>
        <p:nvSpPr>
          <p:cNvPr id="7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B02F86-AD0D-BE24-B025-8A7BB49E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384301"/>
            <a:ext cx="11404599" cy="23127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ACCESS MODEL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39129E7-9749-F0E3-59EF-1B786983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365498"/>
            <a:ext cx="3568700" cy="2628901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8728FDE-6DD0-74E3-B860-01CB47A2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3365498"/>
            <a:ext cx="3568700" cy="2628901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228B342-3C4A-AE4E-4223-223CEE77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97" y="3365498"/>
            <a:ext cx="3568700" cy="2628901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A83E7952-0C3E-8CA0-CBD2-20DE64FB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381" y="3709346"/>
            <a:ext cx="2949339" cy="19812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Cloud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Connect GitHub, select repositories, create an environment, then verify with a read-only task.</a:t>
            </a:r>
            <a:endParaRPr sz="16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1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ED1D1552-9316-E417-6E62-1A809C63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81" y="3709346"/>
            <a:ext cx="2949339" cy="19812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local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Authenticate Git or GitHub CLI, clone the repository, start Codex at the project root, and confirm remote access.</a:t>
            </a:r>
            <a:endParaRPr sz="16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E266E2C-270B-3F65-3279-162369AD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954" y="3709346"/>
            <a:ext cx="2949339" cy="19812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Code local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Authenticate GitHub locally, clone the repository, run Claude inside the project, and verify read/push access.</a:t>
            </a:r>
            <a:endParaRPr sz="16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0122253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Persistent instructions keep both agents aligned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CLAUDE.md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Architecture, investigation habits, planning standards, security expectations, and review criteria.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Read the code first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Separate evidence from hypotheses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Plan the smallest safe change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AGENTS.md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Implementation rules, allowed commands, testing requirements, file ownership, and definition of done.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Preserve scope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 required checks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Report the final diff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Project instructions prevent teams from repeating the same repository context in every task.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Keep instructions concise, specific, and close to the code they govern. Nested guidance can override broader rules.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rgbClr val="A9C7E8"/>
                </a:solidFill>
              </a:rPr>
              <a:t>7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E0BC934-0157-542C-D5BB-4CBBF257CC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7418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One repository becomes the shared source of truth</a:t>
            </a: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19C0BA-A84A-2A07-E313-F86616F2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09028"/>
            <a:ext cx="4583034" cy="1111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Store product requirements, architecture, database design, API contracts, security decisions, testing commands, and feature specifications in version control.</a:t>
            </a:r>
            <a:endParaRPr sz="1600" b="0" i="0" u="none" kern="1200" cap="none" spc="0" baseline="0">
              <a:ln>
                <a:noFill/>
              </a:ln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581A225-34F9-0D3B-555E-87AD9B04250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4C369A1-27DC-4417-B82E-882C775F89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rgbClr val="A9C7E8"/>
                </a:solidFill>
              </a:rPr>
              <a:t>8</a:t>
            </a:fld>
            <a:endParaRPr sz="1100"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F440E49-120F-1A2F-57EB-B0293456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620" y="1881916"/>
            <a:ext cx="6329680" cy="1656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Both agents read the same artifacts before work begins. Important decisions live in the repository—not only in chat history.</a:t>
            </a: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61FF1B71-7343-3428-E1A5-01301745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40" y="1881916"/>
            <a:ext cx="4583034" cy="2287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spc="1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SHARED DOCUMENTS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E5C8191-FF5D-721C-939A-810BF6FF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622601"/>
            <a:ext cx="4583034" cy="1097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 feature specification defines the business objective, expected behavior, acceptance criteria, authorization rules, failure states, tests, rollback plan, and non-goals.</a:t>
            </a:r>
            <a:endParaRPr sz="1600" b="0" i="0" u="none" kern="1200" cap="none" spc="0" baseline="0">
              <a:ln>
                <a:noFill/>
              </a:ln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32FB920-4338-60DE-B515-40C9397A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620" y="4195489"/>
            <a:ext cx="6329680" cy="1656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 resolved contract prevents competing interpretations and makes review objective.</a:t>
            </a:r>
          </a:p>
        </p:txBody>
      </p:sp>
      <p:sp>
        <p:nvSpPr>
          <p:cNvPr id="1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88B171C2-7536-1E2D-C49E-6F245F44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40" y="4195489"/>
            <a:ext cx="4583034" cy="2287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spc="1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FEATURE CONTRACT</a:t>
            </a:r>
          </a:p>
        </p:txBody>
      </p:sp>
    </p:spTree>
    <p:extLst>
      <p:ext uri="{BB962C8B-B14F-4D97-AF65-F5344CB8AC3E}">
        <p14:creationId xmlns:p14="http://schemas.microsoft.com/office/powerpoint/2010/main" val="4204513895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Strong prompts define the result—not every move</a:t>
            </a:r>
            <a:endParaRPr/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State the desired outcome and what success looks like.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GOAL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Point to the relevant repository, files, current behavior, sources, or reproduction steps.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CONTEXT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Specify the report, patch, artifact, length, or evidence the final response must contain.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OUTPUT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Name the few constraints that prevent real damage or unwanted scope expansion.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BOUNDARIES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For important work, add acceptance criteria and a final verification check. Use only the prompt components that materially change the result.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8F6686A-B9AA-33C7-DC98-7A7FF4AC876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rgbClr val="A9C7E8"/>
                </a:solidFill>
              </a:rPr>
              <a:t>9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BCC789E-87DC-C416-5298-C7F6E26A95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Define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Clarify requirements, risks, non-goals, and acceptance criteria.</a:t>
            </a:r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46838" cy="103489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Separate the lifecycle into explicit decision gates</a:t>
            </a:r>
          </a:p>
        </p:txBody>
      </p:sp>
      <p:sp>
        <p:nvSpPr>
          <p:cNvPr id="1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986AEEE5-7F7B-65AD-1D88-9157CF0514D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4317119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Build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 one approved vertical slice; keep unrelated work out.</a:t>
            </a:r>
          </a:p>
        </p:txBody>
      </p:sp>
      <p:sp>
        <p:nvSpPr>
          <p:cNvPr id="18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B32A8A18-E9FA-02B4-6667-53C019EC43C0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8240538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Verify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 tests, inspect runtime behavior, review the diff, and resolve findings.</a:t>
            </a:r>
          </a:p>
        </p:txBody>
      </p:sp>
      <p:cxnSp>
        <p:nvCxnSpPr>
          <p:cNvPr id="38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3373753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7DD3F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GATE A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APPROVE THE CONTRACT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87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GATE B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PROVE THE CHANGE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49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GATE C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CONTROL RELEASE</a:t>
            </a: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8" name="Slide Number Placeholder 7">
            <a:extLst xmlns:a="http://schemas.openxmlformats.org/drawingml/2006/main">
              <a:ext uri="{FF2B5EF4-FFF2-40B4-BE49-F238E27FC236}">
                <a16:creationId xmlns:a16="http://schemas.microsoft.com/office/drawing/2014/main" id="{B8054922-82AE-F5B4-3254-FF8E3B11A7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rgbClr val="A9C7E8"/>
                </a:solidFill>
              </a:rPr>
              <a:t>10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CD0B058-69B3-6143-3EBD-18BD898104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User value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One complete journey that can be demonstrated and reviewed.</a:t>
            </a:r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EE0017B1-61AD-F17E-4365-4C53665026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Build one deployable vertical slice at a time</a:t>
            </a:r>
          </a:p>
        </p:txBody>
      </p:sp>
      <p:sp>
        <p:nvSpPr>
          <p:cNvPr id="1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B0668A09-AE04-4D10-D919-57ECE29CD5EA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Validation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Client and server rules; clear error behavior.</a:t>
            </a:r>
          </a:p>
        </p:txBody>
      </p:sp>
      <p:sp>
        <p:nvSpPr>
          <p:cNvPr id="18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CC1BC07A-CC6E-9DC4-2C70-CCF4F96B0F92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API contract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Inputs, outputs, errors, compatibility, and ownership.</a:t>
            </a:r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3437E985-0C72-7D72-6091-7E6FBAF26D6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Database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Schema, constraints, indexes, migrations, and rollback.</a:t>
            </a: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618AB53F-D83E-C97D-48FB-E643E6A7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28977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Authorization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Server-side access rules; never rely on hidden UI.</a:t>
            </a:r>
          </a:p>
        </p:txBody>
      </p:sp>
      <p:sp>
        <p:nvSpPr>
          <p:cNvPr id="3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15B6FC25-43EA-8D50-20ED-40A075FC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66" y="2828977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UI states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Loading, empty, error, success, responsive, and accessible.</a:t>
            </a:r>
          </a:p>
        </p:txBody>
      </p:sp>
      <p:sp>
        <p:nvSpPr>
          <p:cNvPr id="5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DC86E5BF-3A43-49E0-A1B8-91615035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3" y="2828977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Tests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Unit, integration, end-to-end, and regression coverage.</a:t>
            </a:r>
          </a:p>
        </p:txBody>
      </p:sp>
      <p:sp>
        <p:nvSpPr>
          <p:cNvPr id="6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941D607D-4DDA-372A-EE8A-A370B36C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679" y="2828977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Non-goals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Explicitly exclude adjacent features and broad refactors.</a:t>
            </a: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3F6F69E-B773-8572-FA7F-ECBC6977592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8" name="Slide Number Placeholder 7">
            <a:extLst xmlns:a="http://schemas.openxmlformats.org/drawingml/2006/main">
              <a:ext uri="{FF2B5EF4-FFF2-40B4-BE49-F238E27FC236}">
                <a16:creationId xmlns:a16="http://schemas.microsoft.com/office/drawing/2014/main" id="{A2DC3E09-5458-5FAC-7B68-A9CC33D48CC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rgbClr val="A9C7E8"/>
                </a:solidFill>
              </a:rPr>
              <a:t>11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3078930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722684"/>
            <a:ext cx="5537200" cy="8654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Reproduce → Trace → Prove</a:t>
            </a:r>
            <a:endParaRPr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0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Evidence-based debugging finds the first divergence</a:t>
            </a:r>
            <a:endParaRPr/>
          </a:p>
        </p:txBody>
      </p:sp>
      <p:sp>
        <p:nvSpPr>
          <p:cNvPr id="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1357382-F889-8A40-7C64-C4E276E6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317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1. REPRODUCE</a:t>
            </a:r>
          </a:p>
        </p:txBody>
      </p:sp>
      <p:sp>
        <p:nvSpPr>
          <p:cNvPr id="3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ECE1942-1885-9577-DF5F-685A8B1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015150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990316"/>
            <a:ext cx="5537200" cy="28846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Capture exact steps, environment, account state, console output, network calls, and expected behavior. Trace execution until actual behavior first diverges from the expected flow.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1B260BF-9264-3C70-DF2D-2E6EA83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916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2. TRACE THE FLOW</a:t>
            </a:r>
          </a:p>
        </p:txBody>
      </p:sp>
      <p:sp>
        <p:nvSpPr>
          <p:cNvPr id="1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6CF1E9A-BF4C-E7B2-D556-8AB5FB2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624749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E696631-18B5-8115-E5AD-ACCFD622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765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3. PROVE ROOT CAUSE</a:t>
            </a:r>
          </a:p>
        </p:txBody>
      </p:sp>
      <p:sp>
        <p:nvSpPr>
          <p:cNvPr id="1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6ECBDA1E-6C7D-6B0F-A430-DF8A0965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239598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FC4B09F-4593-687E-52A3-7E683F7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4. APPLY THE SMALLEST FIX</a:t>
            </a:r>
          </a:p>
        </p:txBody>
      </p:sp>
      <p:sp>
        <p:nvSpPr>
          <p:cNvPr id="21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006032E6-DDFC-FA22-4D08-3BFFC75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8491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DAB1F81-E12B-29DC-E09F-27F129E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5. ADD REGRESSION PROOF</a:t>
            </a:r>
          </a:p>
        </p:txBody>
      </p:sp>
      <p:sp>
        <p:nvSpPr>
          <p:cNvPr id="2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052337A-4696-49F7-A089-E21DA71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54714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567BC5C-65A7-7445-018D-E76E0A9441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rgbClr val="A9C7E8"/>
                </a:solidFill>
              </a:rPr>
              <a:t>12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8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4D765FCF-56FA-8EE2-65DF-D8A5321F3C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Static checks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Type checking and linting catch structural defects early.</a:t>
            </a:r>
          </a:p>
        </p:txBody>
      </p:sp>
      <p:sp>
        <p:nvSpPr>
          <p:cNvPr id="559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BFA1AD57-2515-3263-71AA-F5510D72450E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Unit tests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Exercise utilities, validators, domain logic, and edge cases.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60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F4CF59D7-297B-30C8-431E-585575A55EC7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Integration tests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Verify API, database, authentication, storage, and boundaries.</a:t>
            </a:r>
          </a:p>
        </p:txBody>
      </p:sp>
      <p:sp>
        <p:nvSpPr>
          <p:cNvPr id="557" name="Google Shape;557;p61">
            <a:extLst xmlns:a="http://schemas.openxmlformats.org/drawingml/2006/main">
              <a:ext uri="{FF2B5EF4-FFF2-40B4-BE49-F238E27FC236}">
                <a16:creationId xmlns:a16="http://schemas.microsoft.com/office/drawing/2014/main" id="{252743B9-4592-4663-CAD2-40CC23D409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Verification is part of implementation</a:t>
            </a:r>
            <a:endParaRPr/>
          </a:p>
        </p:txBody>
      </p:sp>
      <p:sp>
        <p:nvSpPr>
          <p:cNvPr id="2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0018B0C7-DC20-D7FE-2D99-C8372B90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End-to-end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Prove critical user journeys across real application layers.</a:t>
            </a:r>
          </a:p>
        </p:txBody>
      </p:sp>
      <p:sp>
        <p:nvSpPr>
          <p:cNvPr id="3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142AC269-69D2-161D-AD16-2E5D7B8A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Runtime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Inspect browser, device, console, network, files, and packaging.</a:t>
            </a:r>
          </a:p>
        </p:txBody>
      </p:sp>
      <p:sp>
        <p:nvSpPr>
          <p:cNvPr id="4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7E988850-5A60-A9C4-B928-BDFEC4FE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73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Diff review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Find unrelated edits, generated noise, secrets, and unsafe scope.</a:t>
            </a:r>
          </a:p>
        </p:txBody>
      </p:sp>
      <p:sp>
        <p:nvSpPr>
          <p:cNvPr id="5" name="Google Shape;561;p61">
            <a:extLst xmlns:a="http://schemas.openxmlformats.org/drawingml/2006/main">
              <a:ext uri="{FF2B5EF4-FFF2-40B4-BE49-F238E27FC236}">
                <a16:creationId xmlns:a16="http://schemas.microsoft.com/office/drawing/2014/main" id="{43830694-5B70-1E3A-562E-A57DE1DE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4" y="2022554"/>
            <a:ext cx="315580" cy="353873"/>
          </a:xfrm>
          <a:custGeom xmlns:a="http://schemas.openxmlformats.org/drawingml/2006/main">
            <a:rect l="l" t="t" r="r" b="b"/>
            <a:pathLst>
              <a:path w="20236" h="20115">
                <a:moveTo>
                  <a:pt x="11303" y="2594"/>
                </a:moveTo>
                <a:lnTo>
                  <a:pt x="2175" y="11983"/>
                </a:lnTo>
                <a:lnTo>
                  <a:pt x="9033" y="11983"/>
                </a:lnTo>
                <a:cubicBezTo>
                  <a:pt x="9364" y="11983"/>
                  <a:pt x="9678" y="12118"/>
                  <a:pt x="9883" y="12348"/>
                </a:cubicBezTo>
                <a:cubicBezTo>
                  <a:pt x="10089" y="12579"/>
                  <a:pt x="10165" y="12880"/>
                  <a:pt x="10089" y="13166"/>
                </a:cubicBezTo>
                <a:lnTo>
                  <a:pt x="8933" y="17522"/>
                </a:lnTo>
                <a:lnTo>
                  <a:pt x="18061" y="8133"/>
                </a:lnTo>
                <a:lnTo>
                  <a:pt x="11203" y="8133"/>
                </a:lnTo>
                <a:cubicBezTo>
                  <a:pt x="10872" y="8133"/>
                  <a:pt x="10558" y="7999"/>
                  <a:pt x="10353" y="7768"/>
                </a:cubicBezTo>
                <a:cubicBezTo>
                  <a:pt x="10147" y="7537"/>
                  <a:pt x="10071" y="7236"/>
                  <a:pt x="10147" y="6950"/>
                </a:cubicBezTo>
                <a:lnTo>
                  <a:pt x="11303" y="2594"/>
                </a:lnTo>
                <a:close/>
                <a:moveTo>
                  <a:pt x="10382" y="593"/>
                </a:moveTo>
                <a:cubicBezTo>
                  <a:pt x="11679" y="-742"/>
                  <a:pt x="14125" y="363"/>
                  <a:pt x="13670" y="2078"/>
                </a:cubicBezTo>
                <a:lnTo>
                  <a:pt x="12574" y="6208"/>
                </a:lnTo>
                <a:lnTo>
                  <a:pt x="18061" y="6208"/>
                </a:lnTo>
                <a:cubicBezTo>
                  <a:pt x="19918" y="6208"/>
                  <a:pt x="20918" y="8142"/>
                  <a:pt x="19705" y="9390"/>
                </a:cubicBezTo>
                <a:lnTo>
                  <a:pt x="9854" y="19523"/>
                </a:lnTo>
                <a:cubicBezTo>
                  <a:pt x="8557" y="20858"/>
                  <a:pt x="6111" y="19753"/>
                  <a:pt x="6566" y="18038"/>
                </a:cubicBezTo>
                <a:lnTo>
                  <a:pt x="7662" y="13908"/>
                </a:lnTo>
                <a:lnTo>
                  <a:pt x="2175" y="13908"/>
                </a:lnTo>
                <a:cubicBezTo>
                  <a:pt x="318" y="13908"/>
                  <a:pt x="-682" y="11974"/>
                  <a:pt x="531" y="10726"/>
                </a:cubicBezTo>
                <a:lnTo>
                  <a:pt x="10382" y="593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Google Shape;562;p61">
            <a:extLst xmlns:a="http://schemas.openxmlformats.org/drawingml/2006/main">
              <a:ext uri="{FF2B5EF4-FFF2-40B4-BE49-F238E27FC236}">
                <a16:creationId xmlns:a16="http://schemas.microsoft.com/office/drawing/2014/main" id="{7C8ADA23-5610-C31E-B048-A0886EDC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8" y="2018463"/>
            <a:ext cx="327078" cy="362074"/>
          </a:xfrm>
          <a:custGeom xmlns:a="http://schemas.openxmlformats.org/drawingml/2006/main">
            <a:rect l="l" t="t" r="r" b="b"/>
            <a:pathLst>
              <a:path w="21600" h="21333">
                <a:moveTo>
                  <a:pt x="11359" y="2130"/>
                </a:moveTo>
                <a:cubicBezTo>
                  <a:pt x="11014" y="1951"/>
                  <a:pt x="10588" y="1951"/>
                  <a:pt x="10241" y="2130"/>
                </a:cubicBezTo>
                <a:lnTo>
                  <a:pt x="3250" y="5732"/>
                </a:lnTo>
                <a:lnTo>
                  <a:pt x="10817" y="9530"/>
                </a:lnTo>
                <a:lnTo>
                  <a:pt x="18593" y="5856"/>
                </a:lnTo>
                <a:lnTo>
                  <a:pt x="11359" y="2130"/>
                </a:lnTo>
                <a:close/>
                <a:moveTo>
                  <a:pt x="19364" y="7749"/>
                </a:moveTo>
                <a:lnTo>
                  <a:pt x="11918" y="11267"/>
                </a:lnTo>
                <a:lnTo>
                  <a:pt x="11918" y="18916"/>
                </a:lnTo>
                <a:lnTo>
                  <a:pt x="18805" y="15367"/>
                </a:lnTo>
                <a:cubicBezTo>
                  <a:pt x="19152" y="15189"/>
                  <a:pt x="19364" y="14860"/>
                  <a:pt x="19364" y="14503"/>
                </a:cubicBezTo>
                <a:lnTo>
                  <a:pt x="19364" y="7749"/>
                </a:lnTo>
                <a:close/>
                <a:moveTo>
                  <a:pt x="9682" y="18916"/>
                </a:moveTo>
                <a:lnTo>
                  <a:pt x="9682" y="11250"/>
                </a:lnTo>
                <a:lnTo>
                  <a:pt x="2236" y="7513"/>
                </a:lnTo>
                <a:lnTo>
                  <a:pt x="2236" y="14503"/>
                </a:lnTo>
                <a:cubicBezTo>
                  <a:pt x="2236" y="14860"/>
                  <a:pt x="2448" y="15189"/>
                  <a:pt x="2795" y="15367"/>
                </a:cubicBezTo>
                <a:lnTo>
                  <a:pt x="9682" y="18916"/>
                </a:lnTo>
                <a:close/>
                <a:moveTo>
                  <a:pt x="9123" y="401"/>
                </a:moveTo>
                <a:cubicBezTo>
                  <a:pt x="10160" y="-133"/>
                  <a:pt x="11440" y="-133"/>
                  <a:pt x="12477" y="401"/>
                </a:cubicBezTo>
                <a:lnTo>
                  <a:pt x="19923" y="4238"/>
                </a:lnTo>
                <a:cubicBezTo>
                  <a:pt x="20962" y="4773"/>
                  <a:pt x="21600" y="5761"/>
                  <a:pt x="21600" y="6830"/>
                </a:cubicBezTo>
                <a:lnTo>
                  <a:pt x="21600" y="14503"/>
                </a:lnTo>
                <a:cubicBezTo>
                  <a:pt x="21600" y="15572"/>
                  <a:pt x="20962" y="16561"/>
                  <a:pt x="19923" y="17096"/>
                </a:cubicBezTo>
                <a:lnTo>
                  <a:pt x="12477" y="20932"/>
                </a:lnTo>
                <a:cubicBezTo>
                  <a:pt x="11440" y="21467"/>
                  <a:pt x="10160" y="21467"/>
                  <a:pt x="9123" y="20932"/>
                </a:cubicBezTo>
                <a:lnTo>
                  <a:pt x="1677" y="17096"/>
                </a:lnTo>
                <a:cubicBezTo>
                  <a:pt x="640" y="16561"/>
                  <a:pt x="0" y="15572"/>
                  <a:pt x="0" y="14503"/>
                </a:cubicBezTo>
                <a:lnTo>
                  <a:pt x="0" y="6830"/>
                </a:lnTo>
                <a:cubicBezTo>
                  <a:pt x="0" y="5761"/>
                  <a:pt x="640" y="4773"/>
                  <a:pt x="1677" y="4238"/>
                </a:cubicBezTo>
                <a:lnTo>
                  <a:pt x="9123" y="401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Google Shape;1369;p101">
            <a:extLst xmlns:a="http://schemas.openxmlformats.org/drawingml/2006/main">
              <a:ext uri="{FF2B5EF4-FFF2-40B4-BE49-F238E27FC236}">
                <a16:creationId xmlns:a16="http://schemas.microsoft.com/office/drawing/2014/main" id="{41FBCA7C-C2E7-AFB5-3B6C-4D9C9E15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30146"/>
            <a:ext cx="338580" cy="338688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0784" y="2163"/>
                </a:moveTo>
                <a:cubicBezTo>
                  <a:pt x="10772" y="2167"/>
                  <a:pt x="10749" y="2175"/>
                  <a:pt x="10715" y="2196"/>
                </a:cubicBezTo>
                <a:cubicBezTo>
                  <a:pt x="10574" y="2281"/>
                  <a:pt x="10340" y="2510"/>
                  <a:pt x="10071" y="2999"/>
                </a:cubicBezTo>
                <a:cubicBezTo>
                  <a:pt x="9811" y="3472"/>
                  <a:pt x="9560" y="4109"/>
                  <a:pt x="9344" y="4895"/>
                </a:cubicBezTo>
                <a:cubicBezTo>
                  <a:pt x="8980" y="6213"/>
                  <a:pt x="8731" y="7875"/>
                  <a:pt x="8661" y="9720"/>
                </a:cubicBezTo>
                <a:lnTo>
                  <a:pt x="12939" y="9720"/>
                </a:lnTo>
                <a:cubicBezTo>
                  <a:pt x="12869" y="7875"/>
                  <a:pt x="12620" y="6213"/>
                  <a:pt x="12256" y="4895"/>
                </a:cubicBezTo>
                <a:cubicBezTo>
                  <a:pt x="12040" y="4109"/>
                  <a:pt x="11789" y="3472"/>
                  <a:pt x="11529" y="2999"/>
                </a:cubicBezTo>
                <a:cubicBezTo>
                  <a:pt x="11260" y="2510"/>
                  <a:pt x="11026" y="2281"/>
                  <a:pt x="10885" y="2196"/>
                </a:cubicBezTo>
                <a:cubicBezTo>
                  <a:pt x="10851" y="2175"/>
                  <a:pt x="10828" y="2167"/>
                  <a:pt x="10816" y="2163"/>
                </a:cubicBezTo>
                <a:cubicBezTo>
                  <a:pt x="10807" y="2161"/>
                  <a:pt x="10801" y="2160"/>
                  <a:pt x="10800" y="2160"/>
                </a:cubicBezTo>
                <a:cubicBezTo>
                  <a:pt x="10798" y="2160"/>
                  <a:pt x="10793" y="2161"/>
                  <a:pt x="10784" y="2163"/>
                </a:cubicBezTo>
                <a:close/>
                <a:moveTo>
                  <a:pt x="6499" y="9720"/>
                </a:moveTo>
                <a:cubicBezTo>
                  <a:pt x="6571" y="7704"/>
                  <a:pt x="6841" y="5845"/>
                  <a:pt x="7261" y="4321"/>
                </a:cubicBezTo>
                <a:cubicBezTo>
                  <a:pt x="7424" y="3732"/>
                  <a:pt x="7611" y="3182"/>
                  <a:pt x="7825" y="2686"/>
                </a:cubicBezTo>
                <a:cubicBezTo>
                  <a:pt x="4843" y="3779"/>
                  <a:pt x="2632" y="6469"/>
                  <a:pt x="2227" y="9720"/>
                </a:cubicBezTo>
                <a:lnTo>
                  <a:pt x="6499" y="9720"/>
                </a:lnTo>
                <a:close/>
                <a:moveTo>
                  <a:pt x="2227" y="11880"/>
                </a:moveTo>
                <a:lnTo>
                  <a:pt x="6499" y="11880"/>
                </a:lnTo>
                <a:cubicBezTo>
                  <a:pt x="6582" y="14228"/>
                  <a:pt x="6936" y="16368"/>
                  <a:pt x="7484" y="18014"/>
                </a:cubicBezTo>
                <a:cubicBezTo>
                  <a:pt x="7589" y="18327"/>
                  <a:pt x="7702" y="18628"/>
                  <a:pt x="7825" y="18914"/>
                </a:cubicBezTo>
                <a:cubicBezTo>
                  <a:pt x="4843" y="17821"/>
                  <a:pt x="2632" y="15131"/>
                  <a:pt x="2227" y="11880"/>
                </a:cubicBezTo>
                <a:close/>
                <a:moveTo>
                  <a:pt x="8661" y="11880"/>
                </a:moveTo>
                <a:cubicBezTo>
                  <a:pt x="8743" y="14037"/>
                  <a:pt x="9069" y="15938"/>
                  <a:pt x="9534" y="17332"/>
                </a:cubicBezTo>
                <a:cubicBezTo>
                  <a:pt x="9806" y="18148"/>
                  <a:pt x="10106" y="18732"/>
                  <a:pt x="10387" y="19088"/>
                </a:cubicBezTo>
                <a:cubicBezTo>
                  <a:pt x="10525" y="19263"/>
                  <a:pt x="10637" y="19356"/>
                  <a:pt x="10712" y="19402"/>
                </a:cubicBezTo>
                <a:cubicBezTo>
                  <a:pt x="10748" y="19424"/>
                  <a:pt x="10771" y="19434"/>
                  <a:pt x="10783" y="19437"/>
                </a:cubicBezTo>
                <a:cubicBezTo>
                  <a:pt x="10794" y="19440"/>
                  <a:pt x="10800" y="19440"/>
                  <a:pt x="10800" y="19440"/>
                </a:cubicBezTo>
                <a:cubicBezTo>
                  <a:pt x="10800" y="19440"/>
                  <a:pt x="10805" y="19440"/>
                  <a:pt x="10817" y="19437"/>
                </a:cubicBezTo>
                <a:cubicBezTo>
                  <a:pt x="10829" y="19434"/>
                  <a:pt x="10852" y="19424"/>
                  <a:pt x="10888" y="19402"/>
                </a:cubicBezTo>
                <a:cubicBezTo>
                  <a:pt x="10963" y="19356"/>
                  <a:pt x="11075" y="19263"/>
                  <a:pt x="11213" y="19088"/>
                </a:cubicBezTo>
                <a:cubicBezTo>
                  <a:pt x="11494" y="18732"/>
                  <a:pt x="11794" y="18148"/>
                  <a:pt x="12066" y="17332"/>
                </a:cubicBezTo>
                <a:cubicBezTo>
                  <a:pt x="12531" y="15938"/>
                  <a:pt x="12857" y="14037"/>
                  <a:pt x="12939" y="11880"/>
                </a:cubicBezTo>
                <a:lnTo>
                  <a:pt x="8661" y="11880"/>
                </a:lnTo>
                <a:close/>
                <a:moveTo>
                  <a:pt x="15101" y="11880"/>
                </a:moveTo>
                <a:cubicBezTo>
                  <a:pt x="15018" y="14228"/>
                  <a:pt x="14664" y="16368"/>
                  <a:pt x="14116" y="18014"/>
                </a:cubicBezTo>
                <a:cubicBezTo>
                  <a:pt x="14011" y="18327"/>
                  <a:pt x="13898" y="18628"/>
                  <a:pt x="13775" y="18914"/>
                </a:cubicBezTo>
                <a:cubicBezTo>
                  <a:pt x="16757" y="17821"/>
                  <a:pt x="18968" y="15131"/>
                  <a:pt x="19373" y="11880"/>
                </a:cubicBezTo>
                <a:lnTo>
                  <a:pt x="15101" y="11880"/>
                </a:lnTo>
                <a:close/>
                <a:moveTo>
                  <a:pt x="19373" y="9720"/>
                </a:moveTo>
                <a:cubicBezTo>
                  <a:pt x="18968" y="6469"/>
                  <a:pt x="16757" y="3779"/>
                  <a:pt x="13775" y="2686"/>
                </a:cubicBezTo>
                <a:cubicBezTo>
                  <a:pt x="13989" y="3182"/>
                  <a:pt x="14176" y="3732"/>
                  <a:pt x="14339" y="4321"/>
                </a:cubicBezTo>
                <a:cubicBezTo>
                  <a:pt x="14759" y="5845"/>
                  <a:pt x="15029" y="7704"/>
                  <a:pt x="15101" y="9720"/>
                </a:cubicBezTo>
                <a:lnTo>
                  <a:pt x="19373" y="9720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415;p101">
            <a:extLst xmlns:a="http://schemas.openxmlformats.org/drawingml/2006/main">
              <a:ext uri="{FF2B5EF4-FFF2-40B4-BE49-F238E27FC236}">
                <a16:creationId xmlns:a16="http://schemas.microsoft.com/office/drawing/2014/main" id="{8574D0ED-7640-B4E7-7B56-C1CA61B9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885" y="4050316"/>
            <a:ext cx="389340" cy="304776"/>
          </a:xfrm>
          <a:custGeom xmlns:a="http://schemas.openxmlformats.org/drawingml/2006/main">
            <a:rect l="l" t="t" r="r" b="b"/>
            <a:pathLst>
              <a:path w="21600" h="21600">
                <a:moveTo>
                  <a:pt x="6574" y="2400"/>
                </a:moveTo>
                <a:cubicBezTo>
                  <a:pt x="5277" y="2400"/>
                  <a:pt x="4226" y="3743"/>
                  <a:pt x="4226" y="5400"/>
                </a:cubicBezTo>
                <a:cubicBezTo>
                  <a:pt x="4226" y="7057"/>
                  <a:pt x="5277" y="8400"/>
                  <a:pt x="6574" y="8400"/>
                </a:cubicBezTo>
                <a:cubicBezTo>
                  <a:pt x="7871" y="8400"/>
                  <a:pt x="8922" y="7057"/>
                  <a:pt x="8922" y="5400"/>
                </a:cubicBezTo>
                <a:cubicBezTo>
                  <a:pt x="8922" y="3743"/>
                  <a:pt x="7871" y="2400"/>
                  <a:pt x="6574" y="2400"/>
                </a:cubicBezTo>
                <a:close/>
                <a:moveTo>
                  <a:pt x="2348" y="5400"/>
                </a:moveTo>
                <a:cubicBezTo>
                  <a:pt x="2348" y="2418"/>
                  <a:pt x="4240" y="0"/>
                  <a:pt x="6574" y="0"/>
                </a:cubicBezTo>
                <a:cubicBezTo>
                  <a:pt x="8908" y="0"/>
                  <a:pt x="10800" y="2418"/>
                  <a:pt x="10800" y="5400"/>
                </a:cubicBezTo>
                <a:cubicBezTo>
                  <a:pt x="10800" y="8382"/>
                  <a:pt x="8908" y="10800"/>
                  <a:pt x="6574" y="10800"/>
                </a:cubicBezTo>
                <a:cubicBezTo>
                  <a:pt x="4240" y="10800"/>
                  <a:pt x="2348" y="8382"/>
                  <a:pt x="2348" y="5400"/>
                </a:cubicBezTo>
                <a:close/>
                <a:moveTo>
                  <a:pt x="15496" y="3600"/>
                </a:moveTo>
                <a:cubicBezTo>
                  <a:pt x="14458" y="3600"/>
                  <a:pt x="13617" y="4674"/>
                  <a:pt x="13617" y="6000"/>
                </a:cubicBezTo>
                <a:cubicBezTo>
                  <a:pt x="13617" y="7326"/>
                  <a:pt x="14458" y="8400"/>
                  <a:pt x="15496" y="8400"/>
                </a:cubicBezTo>
                <a:cubicBezTo>
                  <a:pt x="16533" y="8400"/>
                  <a:pt x="17374" y="7326"/>
                  <a:pt x="17374" y="6000"/>
                </a:cubicBezTo>
                <a:cubicBezTo>
                  <a:pt x="17374" y="4674"/>
                  <a:pt x="16533" y="3600"/>
                  <a:pt x="15496" y="3600"/>
                </a:cubicBezTo>
                <a:close/>
                <a:moveTo>
                  <a:pt x="11739" y="6000"/>
                </a:moveTo>
                <a:cubicBezTo>
                  <a:pt x="11739" y="3349"/>
                  <a:pt x="13421" y="1200"/>
                  <a:pt x="15496" y="1200"/>
                </a:cubicBezTo>
                <a:cubicBezTo>
                  <a:pt x="17570" y="1200"/>
                  <a:pt x="19252" y="3349"/>
                  <a:pt x="19252" y="6000"/>
                </a:cubicBezTo>
                <a:cubicBezTo>
                  <a:pt x="19252" y="8651"/>
                  <a:pt x="17570" y="10800"/>
                  <a:pt x="15496" y="10800"/>
                </a:cubicBezTo>
                <a:cubicBezTo>
                  <a:pt x="13421" y="10800"/>
                  <a:pt x="11739" y="8651"/>
                  <a:pt x="11739" y="6000"/>
                </a:cubicBezTo>
                <a:close/>
                <a:moveTo>
                  <a:pt x="3324" y="15896"/>
                </a:moveTo>
                <a:cubicBezTo>
                  <a:pt x="2477" y="16858"/>
                  <a:pt x="1878" y="18325"/>
                  <a:pt x="1878" y="20400"/>
                </a:cubicBezTo>
                <a:cubicBezTo>
                  <a:pt x="1878" y="21062"/>
                  <a:pt x="1458" y="21600"/>
                  <a:pt x="939" y="21600"/>
                </a:cubicBezTo>
                <a:cubicBezTo>
                  <a:pt x="421" y="21600"/>
                  <a:pt x="0" y="21062"/>
                  <a:pt x="0" y="20400"/>
                </a:cubicBezTo>
                <a:cubicBezTo>
                  <a:pt x="0" y="17675"/>
                  <a:pt x="810" y="15542"/>
                  <a:pt x="2076" y="14102"/>
                </a:cubicBezTo>
                <a:cubicBezTo>
                  <a:pt x="3325" y="12684"/>
                  <a:pt x="4965" y="12000"/>
                  <a:pt x="6574" y="12000"/>
                </a:cubicBezTo>
                <a:cubicBezTo>
                  <a:pt x="8183" y="12000"/>
                  <a:pt x="9822" y="12684"/>
                  <a:pt x="11071" y="14102"/>
                </a:cubicBezTo>
                <a:cubicBezTo>
                  <a:pt x="12338" y="15542"/>
                  <a:pt x="13148" y="17675"/>
                  <a:pt x="13148" y="20400"/>
                </a:cubicBezTo>
                <a:cubicBezTo>
                  <a:pt x="13148" y="21062"/>
                  <a:pt x="12727" y="21600"/>
                  <a:pt x="12209" y="21600"/>
                </a:cubicBezTo>
                <a:cubicBezTo>
                  <a:pt x="11690" y="21600"/>
                  <a:pt x="11270" y="21062"/>
                  <a:pt x="11270" y="20400"/>
                </a:cubicBezTo>
                <a:cubicBezTo>
                  <a:pt x="11270" y="18325"/>
                  <a:pt x="10670" y="16858"/>
                  <a:pt x="9824" y="15896"/>
                </a:cubicBezTo>
                <a:cubicBezTo>
                  <a:pt x="8960" y="14916"/>
                  <a:pt x="7783" y="14400"/>
                  <a:pt x="6574" y="14400"/>
                </a:cubicBezTo>
                <a:cubicBezTo>
                  <a:pt x="5365" y="14400"/>
                  <a:pt x="4188" y="14916"/>
                  <a:pt x="3324" y="15896"/>
                </a:cubicBezTo>
                <a:close/>
                <a:moveTo>
                  <a:pt x="18122" y="15168"/>
                </a:moveTo>
                <a:cubicBezTo>
                  <a:pt x="17175" y="14402"/>
                  <a:pt x="15927" y="14200"/>
                  <a:pt x="14811" y="14602"/>
                </a:cubicBezTo>
                <a:cubicBezTo>
                  <a:pt x="14312" y="14782"/>
                  <a:pt x="13793" y="14411"/>
                  <a:pt x="13653" y="13772"/>
                </a:cubicBezTo>
                <a:cubicBezTo>
                  <a:pt x="13512" y="13134"/>
                  <a:pt x="13802" y="12472"/>
                  <a:pt x="14302" y="12292"/>
                </a:cubicBezTo>
                <a:cubicBezTo>
                  <a:pt x="15894" y="11718"/>
                  <a:pt x="17698" y="11986"/>
                  <a:pt x="19125" y="13139"/>
                </a:cubicBezTo>
                <a:cubicBezTo>
                  <a:pt x="20589" y="14320"/>
                  <a:pt x="21600" y="16387"/>
                  <a:pt x="21600" y="19200"/>
                </a:cubicBezTo>
                <a:cubicBezTo>
                  <a:pt x="21600" y="19862"/>
                  <a:pt x="21179" y="20400"/>
                  <a:pt x="20661" y="20400"/>
                </a:cubicBezTo>
                <a:cubicBezTo>
                  <a:pt x="20142" y="20400"/>
                  <a:pt x="19722" y="19862"/>
                  <a:pt x="19722" y="19200"/>
                </a:cubicBezTo>
                <a:cubicBezTo>
                  <a:pt x="19722" y="17202"/>
                  <a:pt x="19034" y="15905"/>
                  <a:pt x="18122" y="15168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12;p103">
            <a:extLst xmlns:a="http://schemas.openxmlformats.org/drawingml/2006/main">
              <a:ext uri="{FF2B5EF4-FFF2-40B4-BE49-F238E27FC236}">
                <a16:creationId xmlns:a16="http://schemas.microsoft.com/office/drawing/2014/main" id="{D015E4E0-1777-A560-A6C2-AEDA1FA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936" y="4025768"/>
            <a:ext cx="305570" cy="338652"/>
          </a:xfrm>
          <a:custGeom xmlns:a="http://schemas.openxmlformats.org/drawingml/2006/main">
            <a:rect l="l" t="t" r="r" b="b"/>
            <a:pathLst>
              <a:path w="21538" h="21553">
                <a:moveTo>
                  <a:pt x="10897" y="543"/>
                </a:moveTo>
                <a:cubicBezTo>
                  <a:pt x="11135" y="165"/>
                  <a:pt x="11603" y="-46"/>
                  <a:pt x="12081" y="8"/>
                </a:cubicBezTo>
                <a:lnTo>
                  <a:pt x="12622" y="69"/>
                </a:lnTo>
                <a:cubicBezTo>
                  <a:pt x="15566" y="401"/>
                  <a:pt x="17464" y="3053"/>
                  <a:pt x="16592" y="5614"/>
                </a:cubicBezTo>
                <a:lnTo>
                  <a:pt x="15932" y="7551"/>
                </a:lnTo>
                <a:cubicBezTo>
                  <a:pt x="16337" y="7557"/>
                  <a:pt x="16701" y="7570"/>
                  <a:pt x="17029" y="7593"/>
                </a:cubicBezTo>
                <a:cubicBezTo>
                  <a:pt x="17750" y="7644"/>
                  <a:pt x="18413" y="7753"/>
                  <a:pt x="19016" y="8039"/>
                </a:cubicBezTo>
                <a:cubicBezTo>
                  <a:pt x="20257" y="8629"/>
                  <a:pt x="21148" y="9683"/>
                  <a:pt x="21451" y="10920"/>
                </a:cubicBezTo>
                <a:cubicBezTo>
                  <a:pt x="21599" y="11520"/>
                  <a:pt x="21541" y="12127"/>
                  <a:pt x="21406" y="12769"/>
                </a:cubicBezTo>
                <a:cubicBezTo>
                  <a:pt x="21273" y="13395"/>
                  <a:pt x="21043" y="14161"/>
                  <a:pt x="20759" y="15099"/>
                </a:cubicBezTo>
                <a:lnTo>
                  <a:pt x="20202" y="16946"/>
                </a:lnTo>
                <a:cubicBezTo>
                  <a:pt x="20181" y="17013"/>
                  <a:pt x="20161" y="17078"/>
                  <a:pt x="20142" y="17143"/>
                </a:cubicBezTo>
                <a:cubicBezTo>
                  <a:pt x="19789" y="18315"/>
                  <a:pt x="19524" y="19196"/>
                  <a:pt x="18943" y="19876"/>
                </a:cubicBezTo>
                <a:cubicBezTo>
                  <a:pt x="18432" y="20473"/>
                  <a:pt x="17757" y="20939"/>
                  <a:pt x="16986" y="21226"/>
                </a:cubicBezTo>
                <a:cubicBezTo>
                  <a:pt x="16107" y="21554"/>
                  <a:pt x="15095" y="21553"/>
                  <a:pt x="13750" y="21552"/>
                </a:cubicBezTo>
                <a:cubicBezTo>
                  <a:pt x="11456" y="21551"/>
                  <a:pt x="9164" y="21552"/>
                  <a:pt x="6872" y="21552"/>
                </a:cubicBezTo>
                <a:cubicBezTo>
                  <a:pt x="5911" y="21552"/>
                  <a:pt x="5118" y="21552"/>
                  <a:pt x="4472" y="21505"/>
                </a:cubicBezTo>
                <a:cubicBezTo>
                  <a:pt x="3802" y="21455"/>
                  <a:pt x="3185" y="21349"/>
                  <a:pt x="2606" y="21082"/>
                </a:cubicBezTo>
                <a:cubicBezTo>
                  <a:pt x="1708" y="20669"/>
                  <a:pt x="979" y="20010"/>
                  <a:pt x="520" y="19199"/>
                </a:cubicBezTo>
                <a:cubicBezTo>
                  <a:pt x="226" y="18676"/>
                  <a:pt x="108" y="18119"/>
                  <a:pt x="53" y="17513"/>
                </a:cubicBezTo>
                <a:cubicBezTo>
                  <a:pt x="0" y="16930"/>
                  <a:pt x="0" y="16214"/>
                  <a:pt x="0" y="15346"/>
                </a:cubicBezTo>
                <a:lnTo>
                  <a:pt x="0" y="12931"/>
                </a:lnTo>
                <a:cubicBezTo>
                  <a:pt x="0" y="12881"/>
                  <a:pt x="0" y="12832"/>
                  <a:pt x="0" y="12783"/>
                </a:cubicBezTo>
                <a:cubicBezTo>
                  <a:pt x="0" y="11926"/>
                  <a:pt x="-1" y="11289"/>
                  <a:pt x="162" y="10738"/>
                </a:cubicBezTo>
                <a:cubicBezTo>
                  <a:pt x="604" y="9250"/>
                  <a:pt x="1890" y="8088"/>
                  <a:pt x="3538" y="7690"/>
                </a:cubicBezTo>
                <a:cubicBezTo>
                  <a:pt x="4148" y="7542"/>
                  <a:pt x="4853" y="7542"/>
                  <a:pt x="5803" y="7543"/>
                </a:cubicBezTo>
                <a:cubicBezTo>
                  <a:pt x="5857" y="7543"/>
                  <a:pt x="5911" y="7543"/>
                  <a:pt x="5966" y="7543"/>
                </a:cubicBezTo>
                <a:cubicBezTo>
                  <a:pt x="6277" y="7543"/>
                  <a:pt x="6562" y="7393"/>
                  <a:pt x="6716" y="7150"/>
                </a:cubicBezTo>
                <a:lnTo>
                  <a:pt x="10897" y="543"/>
                </a:lnTo>
                <a:close/>
                <a:moveTo>
                  <a:pt x="5407" y="19388"/>
                </a:moveTo>
                <a:cubicBezTo>
                  <a:pt x="5204" y="19068"/>
                  <a:pt x="5044" y="18723"/>
                  <a:pt x="4935" y="18357"/>
                </a:cubicBezTo>
                <a:cubicBezTo>
                  <a:pt x="4772" y="17806"/>
                  <a:pt x="4773" y="17169"/>
                  <a:pt x="4773" y="16312"/>
                </a:cubicBezTo>
                <a:cubicBezTo>
                  <a:pt x="4773" y="16264"/>
                  <a:pt x="4773" y="16214"/>
                  <a:pt x="4773" y="16164"/>
                </a:cubicBezTo>
                <a:lnTo>
                  <a:pt x="4773" y="9709"/>
                </a:lnTo>
                <a:cubicBezTo>
                  <a:pt x="4466" y="9719"/>
                  <a:pt x="4297" y="9737"/>
                  <a:pt x="4155" y="9772"/>
                </a:cubicBezTo>
                <a:cubicBezTo>
                  <a:pt x="3332" y="9971"/>
                  <a:pt x="2689" y="10552"/>
                  <a:pt x="2468" y="11296"/>
                </a:cubicBezTo>
                <a:cubicBezTo>
                  <a:pt x="2397" y="11535"/>
                  <a:pt x="2387" y="11860"/>
                  <a:pt x="2387" y="12931"/>
                </a:cubicBezTo>
                <a:lnTo>
                  <a:pt x="2387" y="15302"/>
                </a:lnTo>
                <a:cubicBezTo>
                  <a:pt x="2387" y="16225"/>
                  <a:pt x="2388" y="16853"/>
                  <a:pt x="2432" y="17338"/>
                </a:cubicBezTo>
                <a:cubicBezTo>
                  <a:pt x="2474" y="17810"/>
                  <a:pt x="2551" y="18052"/>
                  <a:pt x="2647" y="18220"/>
                </a:cubicBezTo>
                <a:cubicBezTo>
                  <a:pt x="2876" y="18626"/>
                  <a:pt x="3241" y="18955"/>
                  <a:pt x="3690" y="19162"/>
                </a:cubicBezTo>
                <a:cubicBezTo>
                  <a:pt x="3877" y="19248"/>
                  <a:pt x="4144" y="19318"/>
                  <a:pt x="4667" y="19356"/>
                </a:cubicBezTo>
                <a:cubicBezTo>
                  <a:pt x="4884" y="19372"/>
                  <a:pt x="5128" y="19382"/>
                  <a:pt x="5407" y="19388"/>
                </a:cubicBezTo>
                <a:close/>
                <a:moveTo>
                  <a:pt x="7160" y="9493"/>
                </a:moveTo>
                <a:lnTo>
                  <a:pt x="7160" y="16164"/>
                </a:lnTo>
                <a:cubicBezTo>
                  <a:pt x="7160" y="17236"/>
                  <a:pt x="7170" y="17560"/>
                  <a:pt x="7241" y="17799"/>
                </a:cubicBezTo>
                <a:cubicBezTo>
                  <a:pt x="7462" y="18543"/>
                  <a:pt x="8105" y="19124"/>
                  <a:pt x="8928" y="19324"/>
                </a:cubicBezTo>
                <a:cubicBezTo>
                  <a:pt x="9194" y="19388"/>
                  <a:pt x="9553" y="19397"/>
                  <a:pt x="10739" y="19397"/>
                </a:cubicBezTo>
                <a:lnTo>
                  <a:pt x="13524" y="19397"/>
                </a:lnTo>
                <a:cubicBezTo>
                  <a:pt x="15200" y="19397"/>
                  <a:pt x="15691" y="19377"/>
                  <a:pt x="16076" y="19234"/>
                </a:cubicBezTo>
                <a:cubicBezTo>
                  <a:pt x="16461" y="19090"/>
                  <a:pt x="16799" y="18857"/>
                  <a:pt x="17054" y="18559"/>
                </a:cubicBezTo>
                <a:cubicBezTo>
                  <a:pt x="17307" y="18262"/>
                  <a:pt x="17458" y="17839"/>
                  <a:pt x="17899" y="16379"/>
                </a:cubicBezTo>
                <a:lnTo>
                  <a:pt x="18444" y="14575"/>
                </a:lnTo>
                <a:cubicBezTo>
                  <a:pt x="18744" y="13583"/>
                  <a:pt x="18949" y="12899"/>
                  <a:pt x="19061" y="12366"/>
                </a:cubicBezTo>
                <a:cubicBezTo>
                  <a:pt x="19172" y="11837"/>
                  <a:pt x="19166" y="11567"/>
                  <a:pt x="19122" y="11387"/>
                </a:cubicBezTo>
                <a:cubicBezTo>
                  <a:pt x="18970" y="10768"/>
                  <a:pt x="18524" y="10241"/>
                  <a:pt x="17904" y="9946"/>
                </a:cubicBezTo>
                <a:cubicBezTo>
                  <a:pt x="17722" y="9860"/>
                  <a:pt x="17436" y="9783"/>
                  <a:pt x="16842" y="9741"/>
                </a:cubicBezTo>
                <a:cubicBezTo>
                  <a:pt x="16243" y="9699"/>
                  <a:pt x="15457" y="9698"/>
                  <a:pt x="14319" y="9698"/>
                </a:cubicBezTo>
                <a:cubicBezTo>
                  <a:pt x="13941" y="9698"/>
                  <a:pt x="13584" y="9536"/>
                  <a:pt x="13360" y="9261"/>
                </a:cubicBezTo>
                <a:cubicBezTo>
                  <a:pt x="13134" y="8986"/>
                  <a:pt x="13067" y="8631"/>
                  <a:pt x="13178" y="8304"/>
                </a:cubicBezTo>
                <a:lnTo>
                  <a:pt x="14311" y="4980"/>
                </a:lnTo>
                <a:cubicBezTo>
                  <a:pt x="14722" y="3771"/>
                  <a:pt x="13900" y="2522"/>
                  <a:pt x="12567" y="2246"/>
                </a:cubicBezTo>
                <a:lnTo>
                  <a:pt x="8787" y="8220"/>
                </a:lnTo>
                <a:cubicBezTo>
                  <a:pt x="8415" y="8808"/>
                  <a:pt x="7836" y="9252"/>
                  <a:pt x="7160" y="949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266;p99">
            <a:extLst xmlns:a="http://schemas.openxmlformats.org/drawingml/2006/main">
              <a:ext uri="{FF2B5EF4-FFF2-40B4-BE49-F238E27FC236}">
                <a16:creationId xmlns:a16="http://schemas.microsoft.com/office/drawing/2014/main" id="{A7463D0C-45D0-FAD2-0C32-03216576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485" y="4029083"/>
            <a:ext cx="321663" cy="321771"/>
          </a:xfrm>
          <a:custGeom xmlns:a="http://schemas.openxmlformats.org/drawingml/2006/main">
            <a:rect l="l" t="t" r="r" b="b"/>
            <a:pathLst>
              <a:path w="21599" h="21599">
                <a:moveTo>
                  <a:pt x="6252" y="0"/>
                </a:moveTo>
                <a:cubicBezTo>
                  <a:pt x="6880" y="0"/>
                  <a:pt x="7389" y="509"/>
                  <a:pt x="7389" y="1137"/>
                </a:cubicBezTo>
                <a:lnTo>
                  <a:pt x="14210" y="1137"/>
                </a:lnTo>
                <a:cubicBezTo>
                  <a:pt x="14210" y="509"/>
                  <a:pt x="14719" y="0"/>
                  <a:pt x="15347" y="0"/>
                </a:cubicBezTo>
                <a:cubicBezTo>
                  <a:pt x="15974" y="0"/>
                  <a:pt x="16483" y="509"/>
                  <a:pt x="16483" y="1137"/>
                </a:cubicBezTo>
                <a:lnTo>
                  <a:pt x="16483" y="1146"/>
                </a:lnTo>
                <a:cubicBezTo>
                  <a:pt x="16839" y="1155"/>
                  <a:pt x="17162" y="1170"/>
                  <a:pt x="17456" y="1197"/>
                </a:cubicBezTo>
                <a:cubicBezTo>
                  <a:pt x="18049" y="1254"/>
                  <a:pt x="18598" y="1369"/>
                  <a:pt x="19116" y="1632"/>
                </a:cubicBezTo>
                <a:cubicBezTo>
                  <a:pt x="19972" y="2068"/>
                  <a:pt x="20668" y="2764"/>
                  <a:pt x="21103" y="3620"/>
                </a:cubicBezTo>
                <a:cubicBezTo>
                  <a:pt x="21384" y="4171"/>
                  <a:pt x="21497" y="4759"/>
                  <a:pt x="21549" y="5397"/>
                </a:cubicBezTo>
                <a:cubicBezTo>
                  <a:pt x="21599" y="6012"/>
                  <a:pt x="21599" y="6768"/>
                  <a:pt x="21599" y="7684"/>
                </a:cubicBezTo>
                <a:lnTo>
                  <a:pt x="21599" y="13655"/>
                </a:lnTo>
                <a:cubicBezTo>
                  <a:pt x="21599" y="13694"/>
                  <a:pt x="21599" y="13732"/>
                  <a:pt x="21599" y="13771"/>
                </a:cubicBezTo>
                <a:cubicBezTo>
                  <a:pt x="21599" y="14493"/>
                  <a:pt x="21600" y="15037"/>
                  <a:pt x="21473" y="15564"/>
                </a:cubicBezTo>
                <a:cubicBezTo>
                  <a:pt x="21361" y="16027"/>
                  <a:pt x="21178" y="16471"/>
                  <a:pt x="20929" y="16878"/>
                </a:cubicBezTo>
                <a:cubicBezTo>
                  <a:pt x="20646" y="17339"/>
                  <a:pt x="20261" y="17725"/>
                  <a:pt x="19749" y="18235"/>
                </a:cubicBezTo>
                <a:cubicBezTo>
                  <a:pt x="19723" y="18262"/>
                  <a:pt x="19696" y="18290"/>
                  <a:pt x="19667" y="18317"/>
                </a:cubicBezTo>
                <a:lnTo>
                  <a:pt x="18317" y="19667"/>
                </a:lnTo>
                <a:cubicBezTo>
                  <a:pt x="18290" y="19696"/>
                  <a:pt x="18262" y="19723"/>
                  <a:pt x="18235" y="19749"/>
                </a:cubicBezTo>
                <a:cubicBezTo>
                  <a:pt x="17725" y="20260"/>
                  <a:pt x="17339" y="20646"/>
                  <a:pt x="16878" y="20929"/>
                </a:cubicBezTo>
                <a:cubicBezTo>
                  <a:pt x="16471" y="21178"/>
                  <a:pt x="16027" y="21361"/>
                  <a:pt x="15564" y="21473"/>
                </a:cubicBezTo>
                <a:cubicBezTo>
                  <a:pt x="15037" y="21600"/>
                  <a:pt x="14493" y="21599"/>
                  <a:pt x="13771" y="21599"/>
                </a:cubicBezTo>
                <a:cubicBezTo>
                  <a:pt x="13732" y="21599"/>
                  <a:pt x="13694" y="21599"/>
                  <a:pt x="13655" y="21599"/>
                </a:cubicBezTo>
                <a:lnTo>
                  <a:pt x="6547" y="21599"/>
                </a:lnTo>
                <a:cubicBezTo>
                  <a:pt x="5632" y="21599"/>
                  <a:pt x="4876" y="21599"/>
                  <a:pt x="4261" y="21549"/>
                </a:cubicBezTo>
                <a:cubicBezTo>
                  <a:pt x="3622" y="21497"/>
                  <a:pt x="3034" y="21384"/>
                  <a:pt x="2483" y="21103"/>
                </a:cubicBezTo>
                <a:cubicBezTo>
                  <a:pt x="1627" y="20668"/>
                  <a:pt x="931" y="19972"/>
                  <a:pt x="496" y="19116"/>
                </a:cubicBezTo>
                <a:cubicBezTo>
                  <a:pt x="215" y="18565"/>
                  <a:pt x="102" y="17977"/>
                  <a:pt x="50" y="17338"/>
                </a:cubicBezTo>
                <a:cubicBezTo>
                  <a:pt x="0" y="16723"/>
                  <a:pt x="0" y="15967"/>
                  <a:pt x="0" y="15052"/>
                </a:cubicBezTo>
                <a:lnTo>
                  <a:pt x="0" y="7684"/>
                </a:lnTo>
                <a:cubicBezTo>
                  <a:pt x="0" y="6768"/>
                  <a:pt x="0" y="6012"/>
                  <a:pt x="50" y="5397"/>
                </a:cubicBezTo>
                <a:cubicBezTo>
                  <a:pt x="102" y="4759"/>
                  <a:pt x="215" y="4171"/>
                  <a:pt x="496" y="3620"/>
                </a:cubicBezTo>
                <a:cubicBezTo>
                  <a:pt x="931" y="2764"/>
                  <a:pt x="1627" y="2068"/>
                  <a:pt x="2483" y="1632"/>
                </a:cubicBezTo>
                <a:cubicBezTo>
                  <a:pt x="3001" y="1369"/>
                  <a:pt x="3550" y="1254"/>
                  <a:pt x="4142" y="1197"/>
                </a:cubicBezTo>
                <a:cubicBezTo>
                  <a:pt x="4437" y="1170"/>
                  <a:pt x="4760" y="1155"/>
                  <a:pt x="5116" y="1146"/>
                </a:cubicBezTo>
                <a:lnTo>
                  <a:pt x="5116" y="1137"/>
                </a:lnTo>
                <a:cubicBezTo>
                  <a:pt x="5116" y="509"/>
                  <a:pt x="5625" y="0"/>
                  <a:pt x="6252" y="0"/>
                </a:cubicBezTo>
                <a:close/>
                <a:moveTo>
                  <a:pt x="5116" y="3421"/>
                </a:moveTo>
                <a:cubicBezTo>
                  <a:pt x="4822" y="3427"/>
                  <a:pt x="4576" y="3440"/>
                  <a:pt x="4358" y="3460"/>
                </a:cubicBezTo>
                <a:cubicBezTo>
                  <a:pt x="3916" y="3502"/>
                  <a:pt x="3681" y="3573"/>
                  <a:pt x="3515" y="3658"/>
                </a:cubicBezTo>
                <a:cubicBezTo>
                  <a:pt x="3088" y="3876"/>
                  <a:pt x="2740" y="4224"/>
                  <a:pt x="2521" y="4652"/>
                </a:cubicBezTo>
                <a:cubicBezTo>
                  <a:pt x="2430" y="4829"/>
                  <a:pt x="2357" y="5085"/>
                  <a:pt x="2317" y="5583"/>
                </a:cubicBezTo>
                <a:cubicBezTo>
                  <a:pt x="2275" y="6094"/>
                  <a:pt x="2274" y="6756"/>
                  <a:pt x="2274" y="7730"/>
                </a:cubicBezTo>
                <a:lnTo>
                  <a:pt x="2274" y="15006"/>
                </a:lnTo>
                <a:cubicBezTo>
                  <a:pt x="2274" y="15980"/>
                  <a:pt x="2275" y="16641"/>
                  <a:pt x="2317" y="17153"/>
                </a:cubicBezTo>
                <a:cubicBezTo>
                  <a:pt x="2357" y="17651"/>
                  <a:pt x="2430" y="17907"/>
                  <a:pt x="2521" y="18084"/>
                </a:cubicBezTo>
                <a:cubicBezTo>
                  <a:pt x="2740" y="18511"/>
                  <a:pt x="3088" y="18859"/>
                  <a:pt x="3515" y="19077"/>
                </a:cubicBezTo>
                <a:cubicBezTo>
                  <a:pt x="3692" y="19168"/>
                  <a:pt x="3948" y="19242"/>
                  <a:pt x="4446" y="19282"/>
                </a:cubicBezTo>
                <a:cubicBezTo>
                  <a:pt x="4958" y="19324"/>
                  <a:pt x="5619" y="19325"/>
                  <a:pt x="6593" y="19325"/>
                </a:cubicBezTo>
                <a:lnTo>
                  <a:pt x="13073" y="19325"/>
                </a:lnTo>
                <a:lnTo>
                  <a:pt x="13073" y="18189"/>
                </a:lnTo>
                <a:cubicBezTo>
                  <a:pt x="13073" y="15677"/>
                  <a:pt x="15109" y="13641"/>
                  <a:pt x="17620" y="13641"/>
                </a:cubicBezTo>
                <a:lnTo>
                  <a:pt x="18757" y="13641"/>
                </a:lnTo>
                <a:cubicBezTo>
                  <a:pt x="18964" y="13641"/>
                  <a:pt x="19158" y="13697"/>
                  <a:pt x="19325" y="13794"/>
                </a:cubicBezTo>
                <a:cubicBezTo>
                  <a:pt x="19325" y="13749"/>
                  <a:pt x="19325" y="13703"/>
                  <a:pt x="19325" y="13655"/>
                </a:cubicBezTo>
                <a:lnTo>
                  <a:pt x="19325" y="7730"/>
                </a:lnTo>
                <a:cubicBezTo>
                  <a:pt x="19325" y="6756"/>
                  <a:pt x="19324" y="6094"/>
                  <a:pt x="19282" y="5583"/>
                </a:cubicBezTo>
                <a:cubicBezTo>
                  <a:pt x="19242" y="5085"/>
                  <a:pt x="19168" y="4829"/>
                  <a:pt x="19077" y="4652"/>
                </a:cubicBezTo>
                <a:cubicBezTo>
                  <a:pt x="18859" y="4224"/>
                  <a:pt x="18511" y="3876"/>
                  <a:pt x="18084" y="3658"/>
                </a:cubicBezTo>
                <a:cubicBezTo>
                  <a:pt x="17918" y="3573"/>
                  <a:pt x="17683" y="3502"/>
                  <a:pt x="17240" y="3460"/>
                </a:cubicBezTo>
                <a:cubicBezTo>
                  <a:pt x="17023" y="3440"/>
                  <a:pt x="16777" y="3427"/>
                  <a:pt x="16483" y="3421"/>
                </a:cubicBezTo>
                <a:lnTo>
                  <a:pt x="16483" y="4547"/>
                </a:lnTo>
                <a:cubicBezTo>
                  <a:pt x="16483" y="5175"/>
                  <a:pt x="15974" y="5684"/>
                  <a:pt x="15347" y="5684"/>
                </a:cubicBezTo>
                <a:cubicBezTo>
                  <a:pt x="14719" y="5684"/>
                  <a:pt x="14210" y="5175"/>
                  <a:pt x="14210" y="4547"/>
                </a:cubicBezTo>
                <a:lnTo>
                  <a:pt x="14210" y="3410"/>
                </a:lnTo>
                <a:lnTo>
                  <a:pt x="7389" y="3410"/>
                </a:lnTo>
                <a:lnTo>
                  <a:pt x="7389" y="4547"/>
                </a:lnTo>
                <a:cubicBezTo>
                  <a:pt x="7389" y="5175"/>
                  <a:pt x="6880" y="5684"/>
                  <a:pt x="6252" y="5684"/>
                </a:cubicBezTo>
                <a:cubicBezTo>
                  <a:pt x="5625" y="5684"/>
                  <a:pt x="5116" y="5175"/>
                  <a:pt x="5116" y="4547"/>
                </a:cubicBezTo>
                <a:lnTo>
                  <a:pt x="5116" y="3421"/>
                </a:lnTo>
                <a:close/>
                <a:moveTo>
                  <a:pt x="18827" y="15913"/>
                </a:moveTo>
                <a:cubicBezTo>
                  <a:pt x="18804" y="15914"/>
                  <a:pt x="18781" y="15915"/>
                  <a:pt x="18757" y="15915"/>
                </a:cubicBezTo>
                <a:lnTo>
                  <a:pt x="17620" y="15915"/>
                </a:lnTo>
                <a:cubicBezTo>
                  <a:pt x="16364" y="15915"/>
                  <a:pt x="15347" y="16932"/>
                  <a:pt x="15347" y="18189"/>
                </a:cubicBezTo>
                <a:lnTo>
                  <a:pt x="15347" y="19163"/>
                </a:lnTo>
                <a:cubicBezTo>
                  <a:pt x="15466" y="19115"/>
                  <a:pt x="15581" y="19057"/>
                  <a:pt x="15690" y="18990"/>
                </a:cubicBezTo>
                <a:cubicBezTo>
                  <a:pt x="15893" y="18866"/>
                  <a:pt x="16081" y="18689"/>
                  <a:pt x="16710" y="18060"/>
                </a:cubicBezTo>
                <a:lnTo>
                  <a:pt x="18060" y="16710"/>
                </a:lnTo>
                <a:cubicBezTo>
                  <a:pt x="18472" y="16297"/>
                  <a:pt x="18690" y="16074"/>
                  <a:pt x="18827" y="1591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Footer Placeholder 18">
            <a:extLst xmlns:a="http://schemas.openxmlformats.org/drawingml/2006/main">
              <a:ext uri="{FF2B5EF4-FFF2-40B4-BE49-F238E27FC236}">
                <a16:creationId xmlns:a16="http://schemas.microsoft.com/office/drawing/2014/main" id="{A7C685AE-794E-F9C0-C7B3-7E956842DD9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892F439-FAFA-E9E4-AA65-F7A04500A77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rPr>
                <a:solidFill>
                  <a:srgbClr val="A9C7E8"/>
                </a:solidFill>
              </a:rPr>
              <a:t>13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342105169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8B77B614-E3C4-8964-0877-92800631D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99" y="344009"/>
            <a:ext cx="11404599" cy="5957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Codex is strongest when it can act, test, and refine</a:t>
            </a: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4774D92-572F-796B-CFA0-75F5BDE3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0439ECA-9193-112F-E7E6-326447C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Scoped delivery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Give one outcome, relevant code context, constraints, acceptance criteria, and verification commands.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ED27E76-B721-E464-2478-718E91A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40DA34A0-E630-37E8-0332-0E57245D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Repository work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Let Codex inspect patterns and reuse existing modules before it edits.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F421FB3D-82DC-94B6-ADD3-99BB3C8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22C651-AF0B-D7E1-E9EF-3F4BC1C5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Tool execution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Authorize safe local edits and checks; reserve approval for destructive or external actions.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DA590ED-3B5F-06BC-B0E9-C6DC4E8B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B1BBBB3-DA5C-C3DF-7DD6-33AB7A8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Runtime iteration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 the app, observe behavior, fix confirmed defects, and rerun evidence.</a:t>
            </a:r>
          </a:p>
        </p:txBody>
      </p:sp>
      <p:sp>
        <p:nvSpPr>
          <p:cNvPr id="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4E6B723-686B-D8DD-4DA5-3E62BDE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A useful Codex task ends with working code, command results, a reviewed diff, and clearly stated residual risk.</a:t>
            </a: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C4B207BF-6BAB-0D91-F12C-1E6FFBCC420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12" name="Slide Number Placeholder 11">
            <a:extLst xmlns:a="http://schemas.openxmlformats.org/drawingml/2006/main">
              <a:ext uri="{FF2B5EF4-FFF2-40B4-BE49-F238E27FC236}">
                <a16:creationId xmlns:a16="http://schemas.microsoft.com/office/drawing/2014/main" id="{24C9B83B-D496-749A-8CAB-E5D5829B60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rPr>
                <a:solidFill>
                  <a:srgbClr val="A9C7E8"/>
                </a:solidFill>
              </a:rPr>
              <a:t>14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66000242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8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4D765FCF-56FA-8EE2-65DF-D8A5321F3C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Focused context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Point Claude to relevant files and expand only when evidence requires it.</a:t>
            </a:r>
          </a:p>
        </p:txBody>
      </p:sp>
      <p:sp>
        <p:nvSpPr>
          <p:cNvPr id="559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BFA1AD57-2515-3263-71AA-F5510D72450E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Subagents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specialist roles for security, testing, database, performance, and accessibility review.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60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F4CF59D7-297B-30C8-431E-585575A55EC7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Hooks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Enforce deterministic rules such as protected files, formatting, tests, and destructive-command blocks.</a:t>
            </a:r>
          </a:p>
        </p:txBody>
      </p:sp>
      <p:sp>
        <p:nvSpPr>
          <p:cNvPr id="557" name="Google Shape;557;p61">
            <a:extLst xmlns:a="http://schemas.openxmlformats.org/drawingml/2006/main">
              <a:ext uri="{FF2B5EF4-FFF2-40B4-BE49-F238E27FC236}">
                <a16:creationId xmlns:a16="http://schemas.microsoft.com/office/drawing/2014/main" id="{252743B9-4592-4663-CAD2-40CC23D409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Code is strongest with focused context and review roles</a:t>
            </a:r>
            <a:endParaRPr/>
          </a:p>
        </p:txBody>
      </p:sp>
      <p:sp>
        <p:nvSpPr>
          <p:cNvPr id="2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0018B0C7-DC20-D7FE-2D99-C8372B90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Skills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Package repeatable workflows and supporting references.</a:t>
            </a:r>
          </a:p>
        </p:txBody>
      </p:sp>
      <p:sp>
        <p:nvSpPr>
          <p:cNvPr id="3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142AC269-69D2-161D-AD16-2E5D7B8A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MCP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Connect external tools and documentation with least-privilege access.</a:t>
            </a:r>
          </a:p>
        </p:txBody>
      </p:sp>
      <p:sp>
        <p:nvSpPr>
          <p:cNvPr id="4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7E988850-5A60-A9C4-B928-BDFEC4FE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73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Independent review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Challenge assumptions and distinguish confirmed, unverified, and not-tested findings.</a:t>
            </a:r>
          </a:p>
        </p:txBody>
      </p:sp>
      <p:sp>
        <p:nvSpPr>
          <p:cNvPr id="5" name="Google Shape;561;p61">
            <a:extLst xmlns:a="http://schemas.openxmlformats.org/drawingml/2006/main">
              <a:ext uri="{FF2B5EF4-FFF2-40B4-BE49-F238E27FC236}">
                <a16:creationId xmlns:a16="http://schemas.microsoft.com/office/drawing/2014/main" id="{43830694-5B70-1E3A-562E-A57DE1DE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4" y="2022554"/>
            <a:ext cx="315580" cy="353873"/>
          </a:xfrm>
          <a:custGeom xmlns:a="http://schemas.openxmlformats.org/drawingml/2006/main">
            <a:rect l="l" t="t" r="r" b="b"/>
            <a:pathLst>
              <a:path w="20236" h="20115">
                <a:moveTo>
                  <a:pt x="11303" y="2594"/>
                </a:moveTo>
                <a:lnTo>
                  <a:pt x="2175" y="11983"/>
                </a:lnTo>
                <a:lnTo>
                  <a:pt x="9033" y="11983"/>
                </a:lnTo>
                <a:cubicBezTo>
                  <a:pt x="9364" y="11983"/>
                  <a:pt x="9678" y="12118"/>
                  <a:pt x="9883" y="12348"/>
                </a:cubicBezTo>
                <a:cubicBezTo>
                  <a:pt x="10089" y="12579"/>
                  <a:pt x="10165" y="12880"/>
                  <a:pt x="10089" y="13166"/>
                </a:cubicBezTo>
                <a:lnTo>
                  <a:pt x="8933" y="17522"/>
                </a:lnTo>
                <a:lnTo>
                  <a:pt x="18061" y="8133"/>
                </a:lnTo>
                <a:lnTo>
                  <a:pt x="11203" y="8133"/>
                </a:lnTo>
                <a:cubicBezTo>
                  <a:pt x="10872" y="8133"/>
                  <a:pt x="10558" y="7999"/>
                  <a:pt x="10353" y="7768"/>
                </a:cubicBezTo>
                <a:cubicBezTo>
                  <a:pt x="10147" y="7537"/>
                  <a:pt x="10071" y="7236"/>
                  <a:pt x="10147" y="6950"/>
                </a:cubicBezTo>
                <a:lnTo>
                  <a:pt x="11303" y="2594"/>
                </a:lnTo>
                <a:close/>
                <a:moveTo>
                  <a:pt x="10382" y="593"/>
                </a:moveTo>
                <a:cubicBezTo>
                  <a:pt x="11679" y="-742"/>
                  <a:pt x="14125" y="363"/>
                  <a:pt x="13670" y="2078"/>
                </a:cubicBezTo>
                <a:lnTo>
                  <a:pt x="12574" y="6208"/>
                </a:lnTo>
                <a:lnTo>
                  <a:pt x="18061" y="6208"/>
                </a:lnTo>
                <a:cubicBezTo>
                  <a:pt x="19918" y="6208"/>
                  <a:pt x="20918" y="8142"/>
                  <a:pt x="19705" y="9390"/>
                </a:cubicBezTo>
                <a:lnTo>
                  <a:pt x="9854" y="19523"/>
                </a:lnTo>
                <a:cubicBezTo>
                  <a:pt x="8557" y="20858"/>
                  <a:pt x="6111" y="19753"/>
                  <a:pt x="6566" y="18038"/>
                </a:cubicBezTo>
                <a:lnTo>
                  <a:pt x="7662" y="13908"/>
                </a:lnTo>
                <a:lnTo>
                  <a:pt x="2175" y="13908"/>
                </a:lnTo>
                <a:cubicBezTo>
                  <a:pt x="318" y="13908"/>
                  <a:pt x="-682" y="11974"/>
                  <a:pt x="531" y="10726"/>
                </a:cubicBezTo>
                <a:lnTo>
                  <a:pt x="10382" y="593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Google Shape;562;p61">
            <a:extLst xmlns:a="http://schemas.openxmlformats.org/drawingml/2006/main">
              <a:ext uri="{FF2B5EF4-FFF2-40B4-BE49-F238E27FC236}">
                <a16:creationId xmlns:a16="http://schemas.microsoft.com/office/drawing/2014/main" id="{7C8ADA23-5610-C31E-B048-A0886EDC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8" y="2018463"/>
            <a:ext cx="327078" cy="362074"/>
          </a:xfrm>
          <a:custGeom xmlns:a="http://schemas.openxmlformats.org/drawingml/2006/main">
            <a:rect l="l" t="t" r="r" b="b"/>
            <a:pathLst>
              <a:path w="21600" h="21333">
                <a:moveTo>
                  <a:pt x="11359" y="2130"/>
                </a:moveTo>
                <a:cubicBezTo>
                  <a:pt x="11014" y="1951"/>
                  <a:pt x="10588" y="1951"/>
                  <a:pt x="10241" y="2130"/>
                </a:cubicBezTo>
                <a:lnTo>
                  <a:pt x="3250" y="5732"/>
                </a:lnTo>
                <a:lnTo>
                  <a:pt x="10817" y="9530"/>
                </a:lnTo>
                <a:lnTo>
                  <a:pt x="18593" y="5856"/>
                </a:lnTo>
                <a:lnTo>
                  <a:pt x="11359" y="2130"/>
                </a:lnTo>
                <a:close/>
                <a:moveTo>
                  <a:pt x="19364" y="7749"/>
                </a:moveTo>
                <a:lnTo>
                  <a:pt x="11918" y="11267"/>
                </a:lnTo>
                <a:lnTo>
                  <a:pt x="11918" y="18916"/>
                </a:lnTo>
                <a:lnTo>
                  <a:pt x="18805" y="15367"/>
                </a:lnTo>
                <a:cubicBezTo>
                  <a:pt x="19152" y="15189"/>
                  <a:pt x="19364" y="14860"/>
                  <a:pt x="19364" y="14503"/>
                </a:cubicBezTo>
                <a:lnTo>
                  <a:pt x="19364" y="7749"/>
                </a:lnTo>
                <a:close/>
                <a:moveTo>
                  <a:pt x="9682" y="18916"/>
                </a:moveTo>
                <a:lnTo>
                  <a:pt x="9682" y="11250"/>
                </a:lnTo>
                <a:lnTo>
                  <a:pt x="2236" y="7513"/>
                </a:lnTo>
                <a:lnTo>
                  <a:pt x="2236" y="14503"/>
                </a:lnTo>
                <a:cubicBezTo>
                  <a:pt x="2236" y="14860"/>
                  <a:pt x="2448" y="15189"/>
                  <a:pt x="2795" y="15367"/>
                </a:cubicBezTo>
                <a:lnTo>
                  <a:pt x="9682" y="18916"/>
                </a:lnTo>
                <a:close/>
                <a:moveTo>
                  <a:pt x="9123" y="401"/>
                </a:moveTo>
                <a:cubicBezTo>
                  <a:pt x="10160" y="-133"/>
                  <a:pt x="11440" y="-133"/>
                  <a:pt x="12477" y="401"/>
                </a:cubicBezTo>
                <a:lnTo>
                  <a:pt x="19923" y="4238"/>
                </a:lnTo>
                <a:cubicBezTo>
                  <a:pt x="20962" y="4773"/>
                  <a:pt x="21600" y="5761"/>
                  <a:pt x="21600" y="6830"/>
                </a:cubicBezTo>
                <a:lnTo>
                  <a:pt x="21600" y="14503"/>
                </a:lnTo>
                <a:cubicBezTo>
                  <a:pt x="21600" y="15572"/>
                  <a:pt x="20962" y="16561"/>
                  <a:pt x="19923" y="17096"/>
                </a:cubicBezTo>
                <a:lnTo>
                  <a:pt x="12477" y="20932"/>
                </a:lnTo>
                <a:cubicBezTo>
                  <a:pt x="11440" y="21467"/>
                  <a:pt x="10160" y="21467"/>
                  <a:pt x="9123" y="20932"/>
                </a:cubicBezTo>
                <a:lnTo>
                  <a:pt x="1677" y="17096"/>
                </a:lnTo>
                <a:cubicBezTo>
                  <a:pt x="640" y="16561"/>
                  <a:pt x="0" y="15572"/>
                  <a:pt x="0" y="14503"/>
                </a:cubicBezTo>
                <a:lnTo>
                  <a:pt x="0" y="6830"/>
                </a:lnTo>
                <a:cubicBezTo>
                  <a:pt x="0" y="5761"/>
                  <a:pt x="640" y="4773"/>
                  <a:pt x="1677" y="4238"/>
                </a:cubicBezTo>
                <a:lnTo>
                  <a:pt x="9123" y="401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Google Shape;1369;p101">
            <a:extLst xmlns:a="http://schemas.openxmlformats.org/drawingml/2006/main">
              <a:ext uri="{FF2B5EF4-FFF2-40B4-BE49-F238E27FC236}">
                <a16:creationId xmlns:a16="http://schemas.microsoft.com/office/drawing/2014/main" id="{41FBCA7C-C2E7-AFB5-3B6C-4D9C9E15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30146"/>
            <a:ext cx="338580" cy="338688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0784" y="2163"/>
                </a:moveTo>
                <a:cubicBezTo>
                  <a:pt x="10772" y="2167"/>
                  <a:pt x="10749" y="2175"/>
                  <a:pt x="10715" y="2196"/>
                </a:cubicBezTo>
                <a:cubicBezTo>
                  <a:pt x="10574" y="2281"/>
                  <a:pt x="10340" y="2510"/>
                  <a:pt x="10071" y="2999"/>
                </a:cubicBezTo>
                <a:cubicBezTo>
                  <a:pt x="9811" y="3472"/>
                  <a:pt x="9560" y="4109"/>
                  <a:pt x="9344" y="4895"/>
                </a:cubicBezTo>
                <a:cubicBezTo>
                  <a:pt x="8980" y="6213"/>
                  <a:pt x="8731" y="7875"/>
                  <a:pt x="8661" y="9720"/>
                </a:cubicBezTo>
                <a:lnTo>
                  <a:pt x="12939" y="9720"/>
                </a:lnTo>
                <a:cubicBezTo>
                  <a:pt x="12869" y="7875"/>
                  <a:pt x="12620" y="6213"/>
                  <a:pt x="12256" y="4895"/>
                </a:cubicBezTo>
                <a:cubicBezTo>
                  <a:pt x="12040" y="4109"/>
                  <a:pt x="11789" y="3472"/>
                  <a:pt x="11529" y="2999"/>
                </a:cubicBezTo>
                <a:cubicBezTo>
                  <a:pt x="11260" y="2510"/>
                  <a:pt x="11026" y="2281"/>
                  <a:pt x="10885" y="2196"/>
                </a:cubicBezTo>
                <a:cubicBezTo>
                  <a:pt x="10851" y="2175"/>
                  <a:pt x="10828" y="2167"/>
                  <a:pt x="10816" y="2163"/>
                </a:cubicBezTo>
                <a:cubicBezTo>
                  <a:pt x="10807" y="2161"/>
                  <a:pt x="10801" y="2160"/>
                  <a:pt x="10800" y="2160"/>
                </a:cubicBezTo>
                <a:cubicBezTo>
                  <a:pt x="10798" y="2160"/>
                  <a:pt x="10793" y="2161"/>
                  <a:pt x="10784" y="2163"/>
                </a:cubicBezTo>
                <a:close/>
                <a:moveTo>
                  <a:pt x="6499" y="9720"/>
                </a:moveTo>
                <a:cubicBezTo>
                  <a:pt x="6571" y="7704"/>
                  <a:pt x="6841" y="5845"/>
                  <a:pt x="7261" y="4321"/>
                </a:cubicBezTo>
                <a:cubicBezTo>
                  <a:pt x="7424" y="3732"/>
                  <a:pt x="7611" y="3182"/>
                  <a:pt x="7825" y="2686"/>
                </a:cubicBezTo>
                <a:cubicBezTo>
                  <a:pt x="4843" y="3779"/>
                  <a:pt x="2632" y="6469"/>
                  <a:pt x="2227" y="9720"/>
                </a:cubicBezTo>
                <a:lnTo>
                  <a:pt x="6499" y="9720"/>
                </a:lnTo>
                <a:close/>
                <a:moveTo>
                  <a:pt x="2227" y="11880"/>
                </a:moveTo>
                <a:lnTo>
                  <a:pt x="6499" y="11880"/>
                </a:lnTo>
                <a:cubicBezTo>
                  <a:pt x="6582" y="14228"/>
                  <a:pt x="6936" y="16368"/>
                  <a:pt x="7484" y="18014"/>
                </a:cubicBezTo>
                <a:cubicBezTo>
                  <a:pt x="7589" y="18327"/>
                  <a:pt x="7702" y="18628"/>
                  <a:pt x="7825" y="18914"/>
                </a:cubicBezTo>
                <a:cubicBezTo>
                  <a:pt x="4843" y="17821"/>
                  <a:pt x="2632" y="15131"/>
                  <a:pt x="2227" y="11880"/>
                </a:cubicBezTo>
                <a:close/>
                <a:moveTo>
                  <a:pt x="8661" y="11880"/>
                </a:moveTo>
                <a:cubicBezTo>
                  <a:pt x="8743" y="14037"/>
                  <a:pt x="9069" y="15938"/>
                  <a:pt x="9534" y="17332"/>
                </a:cubicBezTo>
                <a:cubicBezTo>
                  <a:pt x="9806" y="18148"/>
                  <a:pt x="10106" y="18732"/>
                  <a:pt x="10387" y="19088"/>
                </a:cubicBezTo>
                <a:cubicBezTo>
                  <a:pt x="10525" y="19263"/>
                  <a:pt x="10637" y="19356"/>
                  <a:pt x="10712" y="19402"/>
                </a:cubicBezTo>
                <a:cubicBezTo>
                  <a:pt x="10748" y="19424"/>
                  <a:pt x="10771" y="19434"/>
                  <a:pt x="10783" y="19437"/>
                </a:cubicBezTo>
                <a:cubicBezTo>
                  <a:pt x="10794" y="19440"/>
                  <a:pt x="10800" y="19440"/>
                  <a:pt x="10800" y="19440"/>
                </a:cubicBezTo>
                <a:cubicBezTo>
                  <a:pt x="10800" y="19440"/>
                  <a:pt x="10805" y="19440"/>
                  <a:pt x="10817" y="19437"/>
                </a:cubicBezTo>
                <a:cubicBezTo>
                  <a:pt x="10829" y="19434"/>
                  <a:pt x="10852" y="19424"/>
                  <a:pt x="10888" y="19402"/>
                </a:cubicBezTo>
                <a:cubicBezTo>
                  <a:pt x="10963" y="19356"/>
                  <a:pt x="11075" y="19263"/>
                  <a:pt x="11213" y="19088"/>
                </a:cubicBezTo>
                <a:cubicBezTo>
                  <a:pt x="11494" y="18732"/>
                  <a:pt x="11794" y="18148"/>
                  <a:pt x="12066" y="17332"/>
                </a:cubicBezTo>
                <a:cubicBezTo>
                  <a:pt x="12531" y="15938"/>
                  <a:pt x="12857" y="14037"/>
                  <a:pt x="12939" y="11880"/>
                </a:cubicBezTo>
                <a:lnTo>
                  <a:pt x="8661" y="11880"/>
                </a:lnTo>
                <a:close/>
                <a:moveTo>
                  <a:pt x="15101" y="11880"/>
                </a:moveTo>
                <a:cubicBezTo>
                  <a:pt x="15018" y="14228"/>
                  <a:pt x="14664" y="16368"/>
                  <a:pt x="14116" y="18014"/>
                </a:cubicBezTo>
                <a:cubicBezTo>
                  <a:pt x="14011" y="18327"/>
                  <a:pt x="13898" y="18628"/>
                  <a:pt x="13775" y="18914"/>
                </a:cubicBezTo>
                <a:cubicBezTo>
                  <a:pt x="16757" y="17821"/>
                  <a:pt x="18968" y="15131"/>
                  <a:pt x="19373" y="11880"/>
                </a:cubicBezTo>
                <a:lnTo>
                  <a:pt x="15101" y="11880"/>
                </a:lnTo>
                <a:close/>
                <a:moveTo>
                  <a:pt x="19373" y="9720"/>
                </a:moveTo>
                <a:cubicBezTo>
                  <a:pt x="18968" y="6469"/>
                  <a:pt x="16757" y="3779"/>
                  <a:pt x="13775" y="2686"/>
                </a:cubicBezTo>
                <a:cubicBezTo>
                  <a:pt x="13989" y="3182"/>
                  <a:pt x="14176" y="3732"/>
                  <a:pt x="14339" y="4321"/>
                </a:cubicBezTo>
                <a:cubicBezTo>
                  <a:pt x="14759" y="5845"/>
                  <a:pt x="15029" y="7704"/>
                  <a:pt x="15101" y="9720"/>
                </a:cubicBezTo>
                <a:lnTo>
                  <a:pt x="19373" y="9720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415;p101">
            <a:extLst xmlns:a="http://schemas.openxmlformats.org/drawingml/2006/main">
              <a:ext uri="{FF2B5EF4-FFF2-40B4-BE49-F238E27FC236}">
                <a16:creationId xmlns:a16="http://schemas.microsoft.com/office/drawing/2014/main" id="{8574D0ED-7640-B4E7-7B56-C1CA61B9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885" y="4050316"/>
            <a:ext cx="389340" cy="304776"/>
          </a:xfrm>
          <a:custGeom xmlns:a="http://schemas.openxmlformats.org/drawingml/2006/main">
            <a:rect l="l" t="t" r="r" b="b"/>
            <a:pathLst>
              <a:path w="21600" h="21600">
                <a:moveTo>
                  <a:pt x="6574" y="2400"/>
                </a:moveTo>
                <a:cubicBezTo>
                  <a:pt x="5277" y="2400"/>
                  <a:pt x="4226" y="3743"/>
                  <a:pt x="4226" y="5400"/>
                </a:cubicBezTo>
                <a:cubicBezTo>
                  <a:pt x="4226" y="7057"/>
                  <a:pt x="5277" y="8400"/>
                  <a:pt x="6574" y="8400"/>
                </a:cubicBezTo>
                <a:cubicBezTo>
                  <a:pt x="7871" y="8400"/>
                  <a:pt x="8922" y="7057"/>
                  <a:pt x="8922" y="5400"/>
                </a:cubicBezTo>
                <a:cubicBezTo>
                  <a:pt x="8922" y="3743"/>
                  <a:pt x="7871" y="2400"/>
                  <a:pt x="6574" y="2400"/>
                </a:cubicBezTo>
                <a:close/>
                <a:moveTo>
                  <a:pt x="2348" y="5400"/>
                </a:moveTo>
                <a:cubicBezTo>
                  <a:pt x="2348" y="2418"/>
                  <a:pt x="4240" y="0"/>
                  <a:pt x="6574" y="0"/>
                </a:cubicBezTo>
                <a:cubicBezTo>
                  <a:pt x="8908" y="0"/>
                  <a:pt x="10800" y="2418"/>
                  <a:pt x="10800" y="5400"/>
                </a:cubicBezTo>
                <a:cubicBezTo>
                  <a:pt x="10800" y="8382"/>
                  <a:pt x="8908" y="10800"/>
                  <a:pt x="6574" y="10800"/>
                </a:cubicBezTo>
                <a:cubicBezTo>
                  <a:pt x="4240" y="10800"/>
                  <a:pt x="2348" y="8382"/>
                  <a:pt x="2348" y="5400"/>
                </a:cubicBezTo>
                <a:close/>
                <a:moveTo>
                  <a:pt x="15496" y="3600"/>
                </a:moveTo>
                <a:cubicBezTo>
                  <a:pt x="14458" y="3600"/>
                  <a:pt x="13617" y="4674"/>
                  <a:pt x="13617" y="6000"/>
                </a:cubicBezTo>
                <a:cubicBezTo>
                  <a:pt x="13617" y="7326"/>
                  <a:pt x="14458" y="8400"/>
                  <a:pt x="15496" y="8400"/>
                </a:cubicBezTo>
                <a:cubicBezTo>
                  <a:pt x="16533" y="8400"/>
                  <a:pt x="17374" y="7326"/>
                  <a:pt x="17374" y="6000"/>
                </a:cubicBezTo>
                <a:cubicBezTo>
                  <a:pt x="17374" y="4674"/>
                  <a:pt x="16533" y="3600"/>
                  <a:pt x="15496" y="3600"/>
                </a:cubicBezTo>
                <a:close/>
                <a:moveTo>
                  <a:pt x="11739" y="6000"/>
                </a:moveTo>
                <a:cubicBezTo>
                  <a:pt x="11739" y="3349"/>
                  <a:pt x="13421" y="1200"/>
                  <a:pt x="15496" y="1200"/>
                </a:cubicBezTo>
                <a:cubicBezTo>
                  <a:pt x="17570" y="1200"/>
                  <a:pt x="19252" y="3349"/>
                  <a:pt x="19252" y="6000"/>
                </a:cubicBezTo>
                <a:cubicBezTo>
                  <a:pt x="19252" y="8651"/>
                  <a:pt x="17570" y="10800"/>
                  <a:pt x="15496" y="10800"/>
                </a:cubicBezTo>
                <a:cubicBezTo>
                  <a:pt x="13421" y="10800"/>
                  <a:pt x="11739" y="8651"/>
                  <a:pt x="11739" y="6000"/>
                </a:cubicBezTo>
                <a:close/>
                <a:moveTo>
                  <a:pt x="3324" y="15896"/>
                </a:moveTo>
                <a:cubicBezTo>
                  <a:pt x="2477" y="16858"/>
                  <a:pt x="1878" y="18325"/>
                  <a:pt x="1878" y="20400"/>
                </a:cubicBezTo>
                <a:cubicBezTo>
                  <a:pt x="1878" y="21062"/>
                  <a:pt x="1458" y="21600"/>
                  <a:pt x="939" y="21600"/>
                </a:cubicBezTo>
                <a:cubicBezTo>
                  <a:pt x="421" y="21600"/>
                  <a:pt x="0" y="21062"/>
                  <a:pt x="0" y="20400"/>
                </a:cubicBezTo>
                <a:cubicBezTo>
                  <a:pt x="0" y="17675"/>
                  <a:pt x="810" y="15542"/>
                  <a:pt x="2076" y="14102"/>
                </a:cubicBezTo>
                <a:cubicBezTo>
                  <a:pt x="3325" y="12684"/>
                  <a:pt x="4965" y="12000"/>
                  <a:pt x="6574" y="12000"/>
                </a:cubicBezTo>
                <a:cubicBezTo>
                  <a:pt x="8183" y="12000"/>
                  <a:pt x="9822" y="12684"/>
                  <a:pt x="11071" y="14102"/>
                </a:cubicBezTo>
                <a:cubicBezTo>
                  <a:pt x="12338" y="15542"/>
                  <a:pt x="13148" y="17675"/>
                  <a:pt x="13148" y="20400"/>
                </a:cubicBezTo>
                <a:cubicBezTo>
                  <a:pt x="13148" y="21062"/>
                  <a:pt x="12727" y="21600"/>
                  <a:pt x="12209" y="21600"/>
                </a:cubicBezTo>
                <a:cubicBezTo>
                  <a:pt x="11690" y="21600"/>
                  <a:pt x="11270" y="21062"/>
                  <a:pt x="11270" y="20400"/>
                </a:cubicBezTo>
                <a:cubicBezTo>
                  <a:pt x="11270" y="18325"/>
                  <a:pt x="10670" y="16858"/>
                  <a:pt x="9824" y="15896"/>
                </a:cubicBezTo>
                <a:cubicBezTo>
                  <a:pt x="8960" y="14916"/>
                  <a:pt x="7783" y="14400"/>
                  <a:pt x="6574" y="14400"/>
                </a:cubicBezTo>
                <a:cubicBezTo>
                  <a:pt x="5365" y="14400"/>
                  <a:pt x="4188" y="14916"/>
                  <a:pt x="3324" y="15896"/>
                </a:cubicBezTo>
                <a:close/>
                <a:moveTo>
                  <a:pt x="18122" y="15168"/>
                </a:moveTo>
                <a:cubicBezTo>
                  <a:pt x="17175" y="14402"/>
                  <a:pt x="15927" y="14200"/>
                  <a:pt x="14811" y="14602"/>
                </a:cubicBezTo>
                <a:cubicBezTo>
                  <a:pt x="14312" y="14782"/>
                  <a:pt x="13793" y="14411"/>
                  <a:pt x="13653" y="13772"/>
                </a:cubicBezTo>
                <a:cubicBezTo>
                  <a:pt x="13512" y="13134"/>
                  <a:pt x="13802" y="12472"/>
                  <a:pt x="14302" y="12292"/>
                </a:cubicBezTo>
                <a:cubicBezTo>
                  <a:pt x="15894" y="11718"/>
                  <a:pt x="17698" y="11986"/>
                  <a:pt x="19125" y="13139"/>
                </a:cubicBezTo>
                <a:cubicBezTo>
                  <a:pt x="20589" y="14320"/>
                  <a:pt x="21600" y="16387"/>
                  <a:pt x="21600" y="19200"/>
                </a:cubicBezTo>
                <a:cubicBezTo>
                  <a:pt x="21600" y="19862"/>
                  <a:pt x="21179" y="20400"/>
                  <a:pt x="20661" y="20400"/>
                </a:cubicBezTo>
                <a:cubicBezTo>
                  <a:pt x="20142" y="20400"/>
                  <a:pt x="19722" y="19862"/>
                  <a:pt x="19722" y="19200"/>
                </a:cubicBezTo>
                <a:cubicBezTo>
                  <a:pt x="19722" y="17202"/>
                  <a:pt x="19034" y="15905"/>
                  <a:pt x="18122" y="15168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12;p103">
            <a:extLst xmlns:a="http://schemas.openxmlformats.org/drawingml/2006/main">
              <a:ext uri="{FF2B5EF4-FFF2-40B4-BE49-F238E27FC236}">
                <a16:creationId xmlns:a16="http://schemas.microsoft.com/office/drawing/2014/main" id="{D015E4E0-1777-A560-A6C2-AEDA1FA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936" y="4025768"/>
            <a:ext cx="305570" cy="338652"/>
          </a:xfrm>
          <a:custGeom xmlns:a="http://schemas.openxmlformats.org/drawingml/2006/main">
            <a:rect l="l" t="t" r="r" b="b"/>
            <a:pathLst>
              <a:path w="21538" h="21553">
                <a:moveTo>
                  <a:pt x="10897" y="543"/>
                </a:moveTo>
                <a:cubicBezTo>
                  <a:pt x="11135" y="165"/>
                  <a:pt x="11603" y="-46"/>
                  <a:pt x="12081" y="8"/>
                </a:cubicBezTo>
                <a:lnTo>
                  <a:pt x="12622" y="69"/>
                </a:lnTo>
                <a:cubicBezTo>
                  <a:pt x="15566" y="401"/>
                  <a:pt x="17464" y="3053"/>
                  <a:pt x="16592" y="5614"/>
                </a:cubicBezTo>
                <a:lnTo>
                  <a:pt x="15932" y="7551"/>
                </a:lnTo>
                <a:cubicBezTo>
                  <a:pt x="16337" y="7557"/>
                  <a:pt x="16701" y="7570"/>
                  <a:pt x="17029" y="7593"/>
                </a:cubicBezTo>
                <a:cubicBezTo>
                  <a:pt x="17750" y="7644"/>
                  <a:pt x="18413" y="7753"/>
                  <a:pt x="19016" y="8039"/>
                </a:cubicBezTo>
                <a:cubicBezTo>
                  <a:pt x="20257" y="8629"/>
                  <a:pt x="21148" y="9683"/>
                  <a:pt x="21451" y="10920"/>
                </a:cubicBezTo>
                <a:cubicBezTo>
                  <a:pt x="21599" y="11520"/>
                  <a:pt x="21541" y="12127"/>
                  <a:pt x="21406" y="12769"/>
                </a:cubicBezTo>
                <a:cubicBezTo>
                  <a:pt x="21273" y="13395"/>
                  <a:pt x="21043" y="14161"/>
                  <a:pt x="20759" y="15099"/>
                </a:cubicBezTo>
                <a:lnTo>
                  <a:pt x="20202" y="16946"/>
                </a:lnTo>
                <a:cubicBezTo>
                  <a:pt x="20181" y="17013"/>
                  <a:pt x="20161" y="17078"/>
                  <a:pt x="20142" y="17143"/>
                </a:cubicBezTo>
                <a:cubicBezTo>
                  <a:pt x="19789" y="18315"/>
                  <a:pt x="19524" y="19196"/>
                  <a:pt x="18943" y="19876"/>
                </a:cubicBezTo>
                <a:cubicBezTo>
                  <a:pt x="18432" y="20473"/>
                  <a:pt x="17757" y="20939"/>
                  <a:pt x="16986" y="21226"/>
                </a:cubicBezTo>
                <a:cubicBezTo>
                  <a:pt x="16107" y="21554"/>
                  <a:pt x="15095" y="21553"/>
                  <a:pt x="13750" y="21552"/>
                </a:cubicBezTo>
                <a:cubicBezTo>
                  <a:pt x="11456" y="21551"/>
                  <a:pt x="9164" y="21552"/>
                  <a:pt x="6872" y="21552"/>
                </a:cubicBezTo>
                <a:cubicBezTo>
                  <a:pt x="5911" y="21552"/>
                  <a:pt x="5118" y="21552"/>
                  <a:pt x="4472" y="21505"/>
                </a:cubicBezTo>
                <a:cubicBezTo>
                  <a:pt x="3802" y="21455"/>
                  <a:pt x="3185" y="21349"/>
                  <a:pt x="2606" y="21082"/>
                </a:cubicBezTo>
                <a:cubicBezTo>
                  <a:pt x="1708" y="20669"/>
                  <a:pt x="979" y="20010"/>
                  <a:pt x="520" y="19199"/>
                </a:cubicBezTo>
                <a:cubicBezTo>
                  <a:pt x="226" y="18676"/>
                  <a:pt x="108" y="18119"/>
                  <a:pt x="53" y="17513"/>
                </a:cubicBezTo>
                <a:cubicBezTo>
                  <a:pt x="0" y="16930"/>
                  <a:pt x="0" y="16214"/>
                  <a:pt x="0" y="15346"/>
                </a:cubicBezTo>
                <a:lnTo>
                  <a:pt x="0" y="12931"/>
                </a:lnTo>
                <a:cubicBezTo>
                  <a:pt x="0" y="12881"/>
                  <a:pt x="0" y="12832"/>
                  <a:pt x="0" y="12783"/>
                </a:cubicBezTo>
                <a:cubicBezTo>
                  <a:pt x="0" y="11926"/>
                  <a:pt x="-1" y="11289"/>
                  <a:pt x="162" y="10738"/>
                </a:cubicBezTo>
                <a:cubicBezTo>
                  <a:pt x="604" y="9250"/>
                  <a:pt x="1890" y="8088"/>
                  <a:pt x="3538" y="7690"/>
                </a:cubicBezTo>
                <a:cubicBezTo>
                  <a:pt x="4148" y="7542"/>
                  <a:pt x="4853" y="7542"/>
                  <a:pt x="5803" y="7543"/>
                </a:cubicBezTo>
                <a:cubicBezTo>
                  <a:pt x="5857" y="7543"/>
                  <a:pt x="5911" y="7543"/>
                  <a:pt x="5966" y="7543"/>
                </a:cubicBezTo>
                <a:cubicBezTo>
                  <a:pt x="6277" y="7543"/>
                  <a:pt x="6562" y="7393"/>
                  <a:pt x="6716" y="7150"/>
                </a:cubicBezTo>
                <a:lnTo>
                  <a:pt x="10897" y="543"/>
                </a:lnTo>
                <a:close/>
                <a:moveTo>
                  <a:pt x="5407" y="19388"/>
                </a:moveTo>
                <a:cubicBezTo>
                  <a:pt x="5204" y="19068"/>
                  <a:pt x="5044" y="18723"/>
                  <a:pt x="4935" y="18357"/>
                </a:cubicBezTo>
                <a:cubicBezTo>
                  <a:pt x="4772" y="17806"/>
                  <a:pt x="4773" y="17169"/>
                  <a:pt x="4773" y="16312"/>
                </a:cubicBezTo>
                <a:cubicBezTo>
                  <a:pt x="4773" y="16264"/>
                  <a:pt x="4773" y="16214"/>
                  <a:pt x="4773" y="16164"/>
                </a:cubicBezTo>
                <a:lnTo>
                  <a:pt x="4773" y="9709"/>
                </a:lnTo>
                <a:cubicBezTo>
                  <a:pt x="4466" y="9719"/>
                  <a:pt x="4297" y="9737"/>
                  <a:pt x="4155" y="9772"/>
                </a:cubicBezTo>
                <a:cubicBezTo>
                  <a:pt x="3332" y="9971"/>
                  <a:pt x="2689" y="10552"/>
                  <a:pt x="2468" y="11296"/>
                </a:cubicBezTo>
                <a:cubicBezTo>
                  <a:pt x="2397" y="11535"/>
                  <a:pt x="2387" y="11860"/>
                  <a:pt x="2387" y="12931"/>
                </a:cubicBezTo>
                <a:lnTo>
                  <a:pt x="2387" y="15302"/>
                </a:lnTo>
                <a:cubicBezTo>
                  <a:pt x="2387" y="16225"/>
                  <a:pt x="2388" y="16853"/>
                  <a:pt x="2432" y="17338"/>
                </a:cubicBezTo>
                <a:cubicBezTo>
                  <a:pt x="2474" y="17810"/>
                  <a:pt x="2551" y="18052"/>
                  <a:pt x="2647" y="18220"/>
                </a:cubicBezTo>
                <a:cubicBezTo>
                  <a:pt x="2876" y="18626"/>
                  <a:pt x="3241" y="18955"/>
                  <a:pt x="3690" y="19162"/>
                </a:cubicBezTo>
                <a:cubicBezTo>
                  <a:pt x="3877" y="19248"/>
                  <a:pt x="4144" y="19318"/>
                  <a:pt x="4667" y="19356"/>
                </a:cubicBezTo>
                <a:cubicBezTo>
                  <a:pt x="4884" y="19372"/>
                  <a:pt x="5128" y="19382"/>
                  <a:pt x="5407" y="19388"/>
                </a:cubicBezTo>
                <a:close/>
                <a:moveTo>
                  <a:pt x="7160" y="9493"/>
                </a:moveTo>
                <a:lnTo>
                  <a:pt x="7160" y="16164"/>
                </a:lnTo>
                <a:cubicBezTo>
                  <a:pt x="7160" y="17236"/>
                  <a:pt x="7170" y="17560"/>
                  <a:pt x="7241" y="17799"/>
                </a:cubicBezTo>
                <a:cubicBezTo>
                  <a:pt x="7462" y="18543"/>
                  <a:pt x="8105" y="19124"/>
                  <a:pt x="8928" y="19324"/>
                </a:cubicBezTo>
                <a:cubicBezTo>
                  <a:pt x="9194" y="19388"/>
                  <a:pt x="9553" y="19397"/>
                  <a:pt x="10739" y="19397"/>
                </a:cubicBezTo>
                <a:lnTo>
                  <a:pt x="13524" y="19397"/>
                </a:lnTo>
                <a:cubicBezTo>
                  <a:pt x="15200" y="19397"/>
                  <a:pt x="15691" y="19377"/>
                  <a:pt x="16076" y="19234"/>
                </a:cubicBezTo>
                <a:cubicBezTo>
                  <a:pt x="16461" y="19090"/>
                  <a:pt x="16799" y="18857"/>
                  <a:pt x="17054" y="18559"/>
                </a:cubicBezTo>
                <a:cubicBezTo>
                  <a:pt x="17307" y="18262"/>
                  <a:pt x="17458" y="17839"/>
                  <a:pt x="17899" y="16379"/>
                </a:cubicBezTo>
                <a:lnTo>
                  <a:pt x="18444" y="14575"/>
                </a:lnTo>
                <a:cubicBezTo>
                  <a:pt x="18744" y="13583"/>
                  <a:pt x="18949" y="12899"/>
                  <a:pt x="19061" y="12366"/>
                </a:cubicBezTo>
                <a:cubicBezTo>
                  <a:pt x="19172" y="11837"/>
                  <a:pt x="19166" y="11567"/>
                  <a:pt x="19122" y="11387"/>
                </a:cubicBezTo>
                <a:cubicBezTo>
                  <a:pt x="18970" y="10768"/>
                  <a:pt x="18524" y="10241"/>
                  <a:pt x="17904" y="9946"/>
                </a:cubicBezTo>
                <a:cubicBezTo>
                  <a:pt x="17722" y="9860"/>
                  <a:pt x="17436" y="9783"/>
                  <a:pt x="16842" y="9741"/>
                </a:cubicBezTo>
                <a:cubicBezTo>
                  <a:pt x="16243" y="9699"/>
                  <a:pt x="15457" y="9698"/>
                  <a:pt x="14319" y="9698"/>
                </a:cubicBezTo>
                <a:cubicBezTo>
                  <a:pt x="13941" y="9698"/>
                  <a:pt x="13584" y="9536"/>
                  <a:pt x="13360" y="9261"/>
                </a:cubicBezTo>
                <a:cubicBezTo>
                  <a:pt x="13134" y="8986"/>
                  <a:pt x="13067" y="8631"/>
                  <a:pt x="13178" y="8304"/>
                </a:cubicBezTo>
                <a:lnTo>
                  <a:pt x="14311" y="4980"/>
                </a:lnTo>
                <a:cubicBezTo>
                  <a:pt x="14722" y="3771"/>
                  <a:pt x="13900" y="2522"/>
                  <a:pt x="12567" y="2246"/>
                </a:cubicBezTo>
                <a:lnTo>
                  <a:pt x="8787" y="8220"/>
                </a:lnTo>
                <a:cubicBezTo>
                  <a:pt x="8415" y="8808"/>
                  <a:pt x="7836" y="9252"/>
                  <a:pt x="7160" y="949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266;p99">
            <a:extLst xmlns:a="http://schemas.openxmlformats.org/drawingml/2006/main">
              <a:ext uri="{FF2B5EF4-FFF2-40B4-BE49-F238E27FC236}">
                <a16:creationId xmlns:a16="http://schemas.microsoft.com/office/drawing/2014/main" id="{A7463D0C-45D0-FAD2-0C32-03216576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485" y="4029083"/>
            <a:ext cx="321663" cy="321771"/>
          </a:xfrm>
          <a:custGeom xmlns:a="http://schemas.openxmlformats.org/drawingml/2006/main">
            <a:rect l="l" t="t" r="r" b="b"/>
            <a:pathLst>
              <a:path w="21599" h="21599">
                <a:moveTo>
                  <a:pt x="6252" y="0"/>
                </a:moveTo>
                <a:cubicBezTo>
                  <a:pt x="6880" y="0"/>
                  <a:pt x="7389" y="509"/>
                  <a:pt x="7389" y="1137"/>
                </a:cubicBezTo>
                <a:lnTo>
                  <a:pt x="14210" y="1137"/>
                </a:lnTo>
                <a:cubicBezTo>
                  <a:pt x="14210" y="509"/>
                  <a:pt x="14719" y="0"/>
                  <a:pt x="15347" y="0"/>
                </a:cubicBezTo>
                <a:cubicBezTo>
                  <a:pt x="15974" y="0"/>
                  <a:pt x="16483" y="509"/>
                  <a:pt x="16483" y="1137"/>
                </a:cubicBezTo>
                <a:lnTo>
                  <a:pt x="16483" y="1146"/>
                </a:lnTo>
                <a:cubicBezTo>
                  <a:pt x="16839" y="1155"/>
                  <a:pt x="17162" y="1170"/>
                  <a:pt x="17456" y="1197"/>
                </a:cubicBezTo>
                <a:cubicBezTo>
                  <a:pt x="18049" y="1254"/>
                  <a:pt x="18598" y="1369"/>
                  <a:pt x="19116" y="1632"/>
                </a:cubicBezTo>
                <a:cubicBezTo>
                  <a:pt x="19972" y="2068"/>
                  <a:pt x="20668" y="2764"/>
                  <a:pt x="21103" y="3620"/>
                </a:cubicBezTo>
                <a:cubicBezTo>
                  <a:pt x="21384" y="4171"/>
                  <a:pt x="21497" y="4759"/>
                  <a:pt x="21549" y="5397"/>
                </a:cubicBezTo>
                <a:cubicBezTo>
                  <a:pt x="21599" y="6012"/>
                  <a:pt x="21599" y="6768"/>
                  <a:pt x="21599" y="7684"/>
                </a:cubicBezTo>
                <a:lnTo>
                  <a:pt x="21599" y="13655"/>
                </a:lnTo>
                <a:cubicBezTo>
                  <a:pt x="21599" y="13694"/>
                  <a:pt x="21599" y="13732"/>
                  <a:pt x="21599" y="13771"/>
                </a:cubicBezTo>
                <a:cubicBezTo>
                  <a:pt x="21599" y="14493"/>
                  <a:pt x="21600" y="15037"/>
                  <a:pt x="21473" y="15564"/>
                </a:cubicBezTo>
                <a:cubicBezTo>
                  <a:pt x="21361" y="16027"/>
                  <a:pt x="21178" y="16471"/>
                  <a:pt x="20929" y="16878"/>
                </a:cubicBezTo>
                <a:cubicBezTo>
                  <a:pt x="20646" y="17339"/>
                  <a:pt x="20261" y="17725"/>
                  <a:pt x="19749" y="18235"/>
                </a:cubicBezTo>
                <a:cubicBezTo>
                  <a:pt x="19723" y="18262"/>
                  <a:pt x="19696" y="18290"/>
                  <a:pt x="19667" y="18317"/>
                </a:cubicBezTo>
                <a:lnTo>
                  <a:pt x="18317" y="19667"/>
                </a:lnTo>
                <a:cubicBezTo>
                  <a:pt x="18290" y="19696"/>
                  <a:pt x="18262" y="19723"/>
                  <a:pt x="18235" y="19749"/>
                </a:cubicBezTo>
                <a:cubicBezTo>
                  <a:pt x="17725" y="20260"/>
                  <a:pt x="17339" y="20646"/>
                  <a:pt x="16878" y="20929"/>
                </a:cubicBezTo>
                <a:cubicBezTo>
                  <a:pt x="16471" y="21178"/>
                  <a:pt x="16027" y="21361"/>
                  <a:pt x="15564" y="21473"/>
                </a:cubicBezTo>
                <a:cubicBezTo>
                  <a:pt x="15037" y="21600"/>
                  <a:pt x="14493" y="21599"/>
                  <a:pt x="13771" y="21599"/>
                </a:cubicBezTo>
                <a:cubicBezTo>
                  <a:pt x="13732" y="21599"/>
                  <a:pt x="13694" y="21599"/>
                  <a:pt x="13655" y="21599"/>
                </a:cubicBezTo>
                <a:lnTo>
                  <a:pt x="6547" y="21599"/>
                </a:lnTo>
                <a:cubicBezTo>
                  <a:pt x="5632" y="21599"/>
                  <a:pt x="4876" y="21599"/>
                  <a:pt x="4261" y="21549"/>
                </a:cubicBezTo>
                <a:cubicBezTo>
                  <a:pt x="3622" y="21497"/>
                  <a:pt x="3034" y="21384"/>
                  <a:pt x="2483" y="21103"/>
                </a:cubicBezTo>
                <a:cubicBezTo>
                  <a:pt x="1627" y="20668"/>
                  <a:pt x="931" y="19972"/>
                  <a:pt x="496" y="19116"/>
                </a:cubicBezTo>
                <a:cubicBezTo>
                  <a:pt x="215" y="18565"/>
                  <a:pt x="102" y="17977"/>
                  <a:pt x="50" y="17338"/>
                </a:cubicBezTo>
                <a:cubicBezTo>
                  <a:pt x="0" y="16723"/>
                  <a:pt x="0" y="15967"/>
                  <a:pt x="0" y="15052"/>
                </a:cubicBezTo>
                <a:lnTo>
                  <a:pt x="0" y="7684"/>
                </a:lnTo>
                <a:cubicBezTo>
                  <a:pt x="0" y="6768"/>
                  <a:pt x="0" y="6012"/>
                  <a:pt x="50" y="5397"/>
                </a:cubicBezTo>
                <a:cubicBezTo>
                  <a:pt x="102" y="4759"/>
                  <a:pt x="215" y="4171"/>
                  <a:pt x="496" y="3620"/>
                </a:cubicBezTo>
                <a:cubicBezTo>
                  <a:pt x="931" y="2764"/>
                  <a:pt x="1627" y="2068"/>
                  <a:pt x="2483" y="1632"/>
                </a:cubicBezTo>
                <a:cubicBezTo>
                  <a:pt x="3001" y="1369"/>
                  <a:pt x="3550" y="1254"/>
                  <a:pt x="4142" y="1197"/>
                </a:cubicBezTo>
                <a:cubicBezTo>
                  <a:pt x="4437" y="1170"/>
                  <a:pt x="4760" y="1155"/>
                  <a:pt x="5116" y="1146"/>
                </a:cubicBezTo>
                <a:lnTo>
                  <a:pt x="5116" y="1137"/>
                </a:lnTo>
                <a:cubicBezTo>
                  <a:pt x="5116" y="509"/>
                  <a:pt x="5625" y="0"/>
                  <a:pt x="6252" y="0"/>
                </a:cubicBezTo>
                <a:close/>
                <a:moveTo>
                  <a:pt x="5116" y="3421"/>
                </a:moveTo>
                <a:cubicBezTo>
                  <a:pt x="4822" y="3427"/>
                  <a:pt x="4576" y="3440"/>
                  <a:pt x="4358" y="3460"/>
                </a:cubicBezTo>
                <a:cubicBezTo>
                  <a:pt x="3916" y="3502"/>
                  <a:pt x="3681" y="3573"/>
                  <a:pt x="3515" y="3658"/>
                </a:cubicBezTo>
                <a:cubicBezTo>
                  <a:pt x="3088" y="3876"/>
                  <a:pt x="2740" y="4224"/>
                  <a:pt x="2521" y="4652"/>
                </a:cubicBezTo>
                <a:cubicBezTo>
                  <a:pt x="2430" y="4829"/>
                  <a:pt x="2357" y="5085"/>
                  <a:pt x="2317" y="5583"/>
                </a:cubicBezTo>
                <a:cubicBezTo>
                  <a:pt x="2275" y="6094"/>
                  <a:pt x="2274" y="6756"/>
                  <a:pt x="2274" y="7730"/>
                </a:cubicBezTo>
                <a:lnTo>
                  <a:pt x="2274" y="15006"/>
                </a:lnTo>
                <a:cubicBezTo>
                  <a:pt x="2274" y="15980"/>
                  <a:pt x="2275" y="16641"/>
                  <a:pt x="2317" y="17153"/>
                </a:cubicBezTo>
                <a:cubicBezTo>
                  <a:pt x="2357" y="17651"/>
                  <a:pt x="2430" y="17907"/>
                  <a:pt x="2521" y="18084"/>
                </a:cubicBezTo>
                <a:cubicBezTo>
                  <a:pt x="2740" y="18511"/>
                  <a:pt x="3088" y="18859"/>
                  <a:pt x="3515" y="19077"/>
                </a:cubicBezTo>
                <a:cubicBezTo>
                  <a:pt x="3692" y="19168"/>
                  <a:pt x="3948" y="19242"/>
                  <a:pt x="4446" y="19282"/>
                </a:cubicBezTo>
                <a:cubicBezTo>
                  <a:pt x="4958" y="19324"/>
                  <a:pt x="5619" y="19325"/>
                  <a:pt x="6593" y="19325"/>
                </a:cubicBezTo>
                <a:lnTo>
                  <a:pt x="13073" y="19325"/>
                </a:lnTo>
                <a:lnTo>
                  <a:pt x="13073" y="18189"/>
                </a:lnTo>
                <a:cubicBezTo>
                  <a:pt x="13073" y="15677"/>
                  <a:pt x="15109" y="13641"/>
                  <a:pt x="17620" y="13641"/>
                </a:cubicBezTo>
                <a:lnTo>
                  <a:pt x="18757" y="13641"/>
                </a:lnTo>
                <a:cubicBezTo>
                  <a:pt x="18964" y="13641"/>
                  <a:pt x="19158" y="13697"/>
                  <a:pt x="19325" y="13794"/>
                </a:cubicBezTo>
                <a:cubicBezTo>
                  <a:pt x="19325" y="13749"/>
                  <a:pt x="19325" y="13703"/>
                  <a:pt x="19325" y="13655"/>
                </a:cubicBezTo>
                <a:lnTo>
                  <a:pt x="19325" y="7730"/>
                </a:lnTo>
                <a:cubicBezTo>
                  <a:pt x="19325" y="6756"/>
                  <a:pt x="19324" y="6094"/>
                  <a:pt x="19282" y="5583"/>
                </a:cubicBezTo>
                <a:cubicBezTo>
                  <a:pt x="19242" y="5085"/>
                  <a:pt x="19168" y="4829"/>
                  <a:pt x="19077" y="4652"/>
                </a:cubicBezTo>
                <a:cubicBezTo>
                  <a:pt x="18859" y="4224"/>
                  <a:pt x="18511" y="3876"/>
                  <a:pt x="18084" y="3658"/>
                </a:cubicBezTo>
                <a:cubicBezTo>
                  <a:pt x="17918" y="3573"/>
                  <a:pt x="17683" y="3502"/>
                  <a:pt x="17240" y="3460"/>
                </a:cubicBezTo>
                <a:cubicBezTo>
                  <a:pt x="17023" y="3440"/>
                  <a:pt x="16777" y="3427"/>
                  <a:pt x="16483" y="3421"/>
                </a:cubicBezTo>
                <a:lnTo>
                  <a:pt x="16483" y="4547"/>
                </a:lnTo>
                <a:cubicBezTo>
                  <a:pt x="16483" y="5175"/>
                  <a:pt x="15974" y="5684"/>
                  <a:pt x="15347" y="5684"/>
                </a:cubicBezTo>
                <a:cubicBezTo>
                  <a:pt x="14719" y="5684"/>
                  <a:pt x="14210" y="5175"/>
                  <a:pt x="14210" y="4547"/>
                </a:cubicBezTo>
                <a:lnTo>
                  <a:pt x="14210" y="3410"/>
                </a:lnTo>
                <a:lnTo>
                  <a:pt x="7389" y="3410"/>
                </a:lnTo>
                <a:lnTo>
                  <a:pt x="7389" y="4547"/>
                </a:lnTo>
                <a:cubicBezTo>
                  <a:pt x="7389" y="5175"/>
                  <a:pt x="6880" y="5684"/>
                  <a:pt x="6252" y="5684"/>
                </a:cubicBezTo>
                <a:cubicBezTo>
                  <a:pt x="5625" y="5684"/>
                  <a:pt x="5116" y="5175"/>
                  <a:pt x="5116" y="4547"/>
                </a:cubicBezTo>
                <a:lnTo>
                  <a:pt x="5116" y="3421"/>
                </a:lnTo>
                <a:close/>
                <a:moveTo>
                  <a:pt x="18827" y="15913"/>
                </a:moveTo>
                <a:cubicBezTo>
                  <a:pt x="18804" y="15914"/>
                  <a:pt x="18781" y="15915"/>
                  <a:pt x="18757" y="15915"/>
                </a:cubicBezTo>
                <a:lnTo>
                  <a:pt x="17620" y="15915"/>
                </a:lnTo>
                <a:cubicBezTo>
                  <a:pt x="16364" y="15915"/>
                  <a:pt x="15347" y="16932"/>
                  <a:pt x="15347" y="18189"/>
                </a:cubicBezTo>
                <a:lnTo>
                  <a:pt x="15347" y="19163"/>
                </a:lnTo>
                <a:cubicBezTo>
                  <a:pt x="15466" y="19115"/>
                  <a:pt x="15581" y="19057"/>
                  <a:pt x="15690" y="18990"/>
                </a:cubicBezTo>
                <a:cubicBezTo>
                  <a:pt x="15893" y="18866"/>
                  <a:pt x="16081" y="18689"/>
                  <a:pt x="16710" y="18060"/>
                </a:cubicBezTo>
                <a:lnTo>
                  <a:pt x="18060" y="16710"/>
                </a:lnTo>
                <a:cubicBezTo>
                  <a:pt x="18472" y="16297"/>
                  <a:pt x="18690" y="16074"/>
                  <a:pt x="18827" y="1591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Footer Placeholder 18">
            <a:extLst xmlns:a="http://schemas.openxmlformats.org/drawingml/2006/main">
              <a:ext uri="{FF2B5EF4-FFF2-40B4-BE49-F238E27FC236}">
                <a16:creationId xmlns:a16="http://schemas.microsoft.com/office/drawing/2014/main" id="{A7C685AE-794E-F9C0-C7B3-7E956842DD9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892F439-FAFA-E9E4-AA65-F7A04500A77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rPr>
                <a:solidFill>
                  <a:srgbClr val="A9C7E8"/>
                </a:solidFill>
              </a:rPr>
              <a:t>15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342105169"/>
      </p:ext>
    </p:extLst>
  </p:cSld>
</p:sld>
</file>

<file path=ppt/slides/slide1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Parallel work needs contracts and file ownership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Good decomposition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Architecture map, security audit, test-gap analysis, performance review, accessibility review, or independent modules after contracts are final.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Independent reads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Isolated writes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Named ownership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Unsafe decomposition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Two agents editing one migration, redesigning one component, or implementing against an unresolved API or authorization model.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Overlapping files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Sequential dependencies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Unresolved contracts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Parallelism improves throughput only when each task can succeed independently.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separate worktrees or branches for writers; keep the first review pass read-only.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rPr>
                <a:solidFill>
                  <a:srgbClr val="A9C7E8"/>
                </a:solidFill>
              </a:rPr>
              <a:t>16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9299C6E-3FDF-5AB3-E054-F3F59B33981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>
                <a:solidFill>
                  <a:srgbClr val="A9C7E8"/>
                </a:solidFill>
              </a:rPr>
              <a:t>CODEX + CLAUDE CODE</a:t>
            </a:r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3DF656-61B4-2882-D797-9122308526B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90F7333B-44AC-F7E9-D49D-FE92F45E0477}" type="slidenum">
              <a:rPr sz="1100" b="0" i="0" u="none" cap="none" spc="0">
                <a:ln>
                  <a:noFill/>
                </a:ln>
                <a:solidFill>
                  <a:srgbClr val="A9C7E8"/>
                </a:solidFill>
                <a:latin typeface="Helvetica Neue"/>
                <a:ea typeface="Helvetica Neue"/>
                <a:cs typeface="Helvetica Neue"/>
              </a:rPr>
              <a:t>17</a:t>
            </a:fld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414154B-F746-1A74-21F7-6E5F045F17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Runtime verification must match the application surface</a:t>
            </a:r>
            <a:endParaRPr/>
          </a:p>
        </p:txBody>
      </p:sp>
      <p:sp>
        <p:nvSpPr>
          <p:cNvPr id="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D9F23F1-48AA-5A67-CC7C-B65A7A75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796192"/>
            <a:ext cx="11404599" cy="12264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Source inspection and passing tests do not prove that users can complete the journey.</a:t>
            </a:r>
          </a:p>
        </p:txBody>
      </p:sp>
      <p:sp>
        <p:nvSpPr>
          <p:cNvPr id="7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B02F86-AD0D-BE24-B025-8A7BB49E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384301"/>
            <a:ext cx="11404599" cy="23127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RUNTIME EVIDENCE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39129E7-9749-F0E3-59EF-1B786983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365498"/>
            <a:ext cx="3568700" cy="2628901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8728FDE-6DD0-74E3-B860-01CB47A2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3365498"/>
            <a:ext cx="3568700" cy="2628901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228B342-3C4A-AE4E-4223-223CEE77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97" y="3365498"/>
            <a:ext cx="3568700" cy="2628901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A83E7952-0C3E-8CA0-CBD2-20DE64FB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381" y="3709346"/>
            <a:ext cx="2949339" cy="19812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Web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Test breakpoints, keyboard navigation, console and network errors, loading states, overflow, and visual references.</a:t>
            </a:r>
            <a:endParaRPr sz="16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1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ED1D1552-9316-E417-6E62-1A809C63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81" y="3709346"/>
            <a:ext cx="2949339" cy="19812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Mobile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Test device and simulator behavior, permissions, deep links, slow/offline states, keyboard overlap, and screen sizes.</a:t>
            </a:r>
            <a:endParaRPr sz="16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E266E2C-270B-3F65-3279-162369AD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954" y="3709346"/>
            <a:ext cx="2949339" cy="19812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Desktop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Test clean install, startup, window resizing, local files, permission denial, packaging, updates, and native boundaries.</a:t>
            </a:r>
            <a:endParaRPr sz="16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0122253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722684"/>
            <a:ext cx="5537200" cy="8654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Status → branch → implement → diff → checks → commit → draft PR</a:t>
            </a:r>
            <a:endParaRPr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0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Git makes agent work reviewable and reversible</a:t>
            </a:r>
            <a:endParaRPr/>
          </a:p>
        </p:txBody>
      </p:sp>
      <p:sp>
        <p:nvSpPr>
          <p:cNvPr id="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1357382-F889-8A40-7C64-C4E276E6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317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1. CHECK STATUS</a:t>
            </a:r>
          </a:p>
        </p:txBody>
      </p:sp>
      <p:sp>
        <p:nvSpPr>
          <p:cNvPr id="3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ECE1942-1885-9577-DF5F-685A8B1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015150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990316"/>
            <a:ext cx="5537200" cy="28846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a scoped branch. Inspect changed files before staging. Never commit secrets or unrelated generated output. Run the required checks and read the complete diff before creating the pull request.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1B260BF-9264-3C70-DF2D-2E6EA83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916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2. CREATE A BRANCH</a:t>
            </a:r>
          </a:p>
        </p:txBody>
      </p:sp>
      <p:sp>
        <p:nvSpPr>
          <p:cNvPr id="1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6CF1E9A-BF4C-E7B2-D556-8AB5FB2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624749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E696631-18B5-8115-E5AD-ACCFD622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765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3. REVIEW THE DIFF</a:t>
            </a:r>
          </a:p>
        </p:txBody>
      </p:sp>
      <p:sp>
        <p:nvSpPr>
          <p:cNvPr id="1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6ECBDA1E-6C7D-6B0F-A430-DF8A0965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239598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FC4B09F-4593-687E-52A3-7E683F7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4. COMMIT INTENTIONALLY</a:t>
            </a:r>
          </a:p>
        </p:txBody>
      </p:sp>
      <p:sp>
        <p:nvSpPr>
          <p:cNvPr id="21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006032E6-DDFC-FA22-4D08-3BFFC75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8491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DAB1F81-E12B-29DC-E09F-27F129E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5. OPEN A DRAFT PR</a:t>
            </a:r>
          </a:p>
        </p:txBody>
      </p:sp>
      <p:sp>
        <p:nvSpPr>
          <p:cNvPr id="2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052337A-4696-49F7-A089-E21DA71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54714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567BC5C-65A7-7445-018D-E76E0A9441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rPr>
                <a:solidFill>
                  <a:srgbClr val="A9C7E8"/>
                </a:solidFill>
              </a:rPr>
              <a:t>18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One agent reviews the other before the human gate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implements → Claude reviews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Compare the branch to the specification and base branch. Review architecture, authorization, data integrity, accessibility, performance, and tests.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Report findings first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Cite exact evidence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Do not edit on pass one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implements → Codex reviews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the same independent checklist. Ask the implementer to remediate only confirmed findings, then rerun affected checks.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Verified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Failed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Not tested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Independent review reduces blind spots created by the implementing agent's own assumptions.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Human triage decides which findings block release, which are deferred, and which need reproduction.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rPr>
                <a:solidFill>
                  <a:srgbClr val="A9C7E8"/>
                </a:solidFill>
              </a:rPr>
              <a:t>19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Recommended ownership across the delivery lifecycle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21193"/>
            <a:ext cx="11404599" cy="10485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Primary ownership is a workflow recommendation. Both agents remain capable of investigation, implementation, testing, and review.</a:t>
            </a:r>
          </a:p>
        </p:txBody>
      </p:sp>
      <p:graphicFrame>
        <p:nvGraphicFramePr>
          <p:cNvPr id="537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3702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Stage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Claude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Codex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Human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Gate + evidence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Requirements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Lead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Approve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Scope • PRD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Architecture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Lead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Feasibility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Approve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Design • ADRs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Repository map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Lead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Validate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—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Current state • files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Feature slice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Design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Build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Approve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Contract • criteria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Implementation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Review-ready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Lead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Resolve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Complete • diff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Verification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Coverage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Lead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Inspect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Quality • test/runtime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Remediation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Fix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Triage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Risk • rerun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PR / release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Final 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Prepare PR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Merge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Release • rollback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F440A81-02FE-A94E-7F97-15248A945F3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rPr>
                <a:solidFill>
                  <a:srgbClr val="A9C7E8"/>
                </a:solidFill>
              </a:rPr>
              <a:t>20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62377079-BCC4-2661-2A12-E4395F1ED5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39689"/>
            <a:ext cx="5537200" cy="141136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Keep repository instructions short; move detailed procedures into referenced docs or skills.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C167C81-957E-4EDD-97F6-7EF86B8F4A0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239689"/>
            <a:ext cx="5537200" cy="141136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Separate investigation, implementation, review, and release gates.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BC1ACDB-02B5-99AA-385B-D8D9B44C2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Ten rules that improve engineering outcomes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710401-0DB3-D5DB-AAFF-832641C025B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>
                <a:solidFill>
                  <a:srgbClr val="A9C7E8"/>
                </a:solidFill>
              </a:rPr>
              <a:t>CODEX + CLAUDE CODE</a:t>
            </a:r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71B5B5-6269-DE95-4939-B738B6B6AC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F6DF2BE2-2DFA-1C03-677D-BDC2260D6D92}" type="slidenum">
              <a:rPr sz="1100" b="0" i="0" u="none" cap="none" spc="0">
                <a:ln>
                  <a:noFill/>
                </a:ln>
                <a:solidFill>
                  <a:srgbClr val="A9C7E8"/>
                </a:solidFill>
                <a:latin typeface="Helvetica Neue"/>
                <a:ea typeface="Helvetica Neue"/>
                <a:cs typeface="Helvetica Neue"/>
              </a:rPr>
              <a:t>21</a:t>
            </a:fld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2CF1976-C150-A891-2CEC-BE355693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80518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CODEX + CLAUDE CODE</a:t>
            </a:r>
          </a:p>
        </p:txBody>
      </p:sp>
      <p:sp>
        <p:nvSpPr>
          <p:cNvPr id="8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A0FCF870-B47E-94BD-EEDF-DD8F2A59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529" y="180518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WORK IN SMALL SLICES</a:t>
            </a:r>
          </a:p>
        </p:txBody>
      </p:sp>
      <p:sp>
        <p:nvSpPr>
          <p:cNvPr id="13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F4D1C9BF-63F4-2888-893B-5F7ECE5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468539"/>
            <a:ext cx="5537200" cy="1411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Give one focused objective and explicit non-goals per task.</a:t>
            </a:r>
          </a:p>
        </p:txBody>
      </p:sp>
      <p:sp>
        <p:nvSpPr>
          <p:cNvPr id="14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708BAE86-327C-6895-AEA3-FE9F89F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468539"/>
            <a:ext cx="5537200" cy="1411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Require test, build, runtime, and final-diff evidence.</a:t>
            </a:r>
          </a:p>
        </p:txBody>
      </p:sp>
      <p:sp>
        <p:nvSpPr>
          <p:cNvPr id="1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B8880891-2DF5-4AB7-C919-6164AD9A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403403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VERIFY WITH EVIDENCE</a:t>
            </a:r>
          </a:p>
        </p:txBody>
      </p:sp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144A4BC-3976-C678-219A-2173C82E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529" y="403403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REVIEW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474942081"/>
      </p:ext>
    </p:extLst>
  </p:cSld>
</p:sld>
</file>

<file path=ppt/slides/slide2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16E6E18-DCB5-27BF-4701-D93C82ECBFD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84537" y="1681498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6800">
                <a:solidFill>
                  <a:srgbClr val="F6FAFF"/>
                </a:solidFill>
              </a:rPr>
              <a:t>Prompting playbooks</a:t>
            </a:r>
          </a:p>
          <a:p xmlns:a="http://schemas.openxmlformats.org/drawingml/2006/main">
            <a:r>
              <a:rPr sz="6800">
                <a:solidFill>
                  <a:srgbClr val="F6FAFF"/>
                </a:solidFill>
              </a:rPr>
              <a:t>Claude Code + Codex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9DF85E7E-4696-758B-00CF-3C8AE6DE93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5346700"/>
            <a:ext cx="3568700" cy="7068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E2EEFC"/>
                </a:solidFill>
              </a:rPr>
              <a:t>Matched patterns for planning, implementation, debugging, review, and verification.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9C23E257-E836-DD5D-F7F1-70302542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55372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CODEX + CLAUDE CODE</a:t>
            </a:r>
          </a:p>
        </p:txBody>
      </p:sp>
    </p:spTree>
    <p:extLst>
      <p:ext uri="{BB962C8B-B14F-4D97-AF65-F5344CB8AC3E}">
        <p14:creationId xmlns:p14="http://schemas.microsoft.com/office/powerpoint/2010/main" val="3206328494"/>
      </p:ext>
    </p:extLst>
  </p:cSld>
</p:sld>
</file>

<file path=ppt/slides/slide2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62377079-BCC4-2661-2A12-E4395F1ED5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39689"/>
            <a:ext cx="5537200" cy="141136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State the task clearly and provide only the context that changes the answer.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C167C81-957E-4EDD-97F6-7EF86B8F4A0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239689"/>
            <a:ext cx="5537200" cy="141136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Show an example when tone, structure, or formatting must be consistent.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BC1ACDB-02B5-99AA-385B-D8D9B44C2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prompting: specificity, context, examples, iteration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710401-0DB3-D5DB-AAFF-832641C025B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>
                <a:solidFill>
                  <a:srgbClr val="A9C7E8"/>
                </a:solidFill>
              </a:rPr>
              <a:t>CODEX + CLAUDE CODE</a:t>
            </a:r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71B5B5-6269-DE95-4939-B738B6B6AC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A4E99CEF-AF55-BA3C-ADF8-4E52E186DD8F}" type="slidenum">
              <a:rPr sz="1100" b="0" i="0" u="none" cap="none" spc="0">
                <a:ln>
                  <a:noFill/>
                </a:ln>
                <a:solidFill>
                  <a:srgbClr val="A9C7E8"/>
                </a:solidFill>
                <a:latin typeface="Helvetica Neue"/>
                <a:ea typeface="Helvetica Neue"/>
                <a:cs typeface="Helvetica Neue"/>
              </a:rPr>
              <a:t>23</a:t>
            </a:fld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2CF1976-C150-A891-2CEC-BE355693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80518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CLEAR + SPECIFIC</a:t>
            </a:r>
          </a:p>
        </p:txBody>
      </p:sp>
      <p:sp>
        <p:nvSpPr>
          <p:cNvPr id="8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A0FCF870-B47E-94BD-EEDF-DD8F2A59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529" y="180518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USE EXAMPLES</a:t>
            </a:r>
          </a:p>
        </p:txBody>
      </p:sp>
      <p:sp>
        <p:nvSpPr>
          <p:cNvPr id="13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F4D1C9BF-63F4-2888-893B-5F7ECE5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468539"/>
            <a:ext cx="5537200" cy="1411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Break complex work into manageable stages and request a structured result.</a:t>
            </a:r>
          </a:p>
        </p:txBody>
      </p:sp>
      <p:sp>
        <p:nvSpPr>
          <p:cNvPr id="14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708BAE86-327C-6895-AEA3-FE9F89F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468539"/>
            <a:ext cx="5537200" cy="1411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Refine with targeted feedback: name exactly what to change and what to preserve.</a:t>
            </a:r>
          </a:p>
        </p:txBody>
      </p:sp>
      <p:sp>
        <p:nvSpPr>
          <p:cNvPr id="1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B8880891-2DF5-4AB7-C919-6164AD9A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403403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DECOMPOSE COMPLEXITY</a:t>
            </a:r>
          </a:p>
        </p:txBody>
      </p:sp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144A4BC-3976-C678-219A-2173C82E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529" y="403403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ITERATE PRECISELY</a:t>
            </a:r>
          </a:p>
        </p:txBody>
      </p:sp>
    </p:spTree>
    <p:extLst>
      <p:ext uri="{BB962C8B-B14F-4D97-AF65-F5344CB8AC3E}">
        <p14:creationId xmlns:p14="http://schemas.microsoft.com/office/powerpoint/2010/main" val="2474942081"/>
      </p:ext>
    </p:extLst>
  </p:cSld>
</p:sld>
</file>

<file path=ppt/slides/slide2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prompts improve when feedback names the exact change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Weak feedback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“Make it better.” The desired tone, scope, and improvement are undefined.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 target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 preserved elements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 success test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Actionable feedback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“Make the opening friendlier, add one customer example, and shorten paragraph two while keeping the evidence.”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Exact edits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Clear preservation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Reviewable result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Good iteration is a change request, not a vague judgment.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Ask Claude to keep what already works while revising the named gap.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rPr>
                <a:solidFill>
                  <a:srgbClr val="A9C7E8"/>
                </a:solidFill>
              </a:rPr>
              <a:t>24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2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4D83715-924E-FD86-6E33-16B595E7DE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3365500"/>
            <a:ext cx="3568700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Documents</a:t>
            </a:r>
            <a:endParaRPr sz="1800"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Name the source, focus, output length, questions to answer, and citation expectation.</a:t>
            </a:r>
            <a:endParaRPr sz="18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49D4B6C8-289F-F081-BCAE-309463E70BA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3365500"/>
            <a:ext cx="3568700" cy="26289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Data analysis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Define metrics, comparison periods, output structure, recommendations, and useful visualizations.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A749CC-0D72-2ABA-CEDC-7DFC7D138B4B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3365500"/>
            <a:ext cx="3568700" cy="26289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Brainstorming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Set the number of ideas, audience, categories, evaluation criteria, and tradeoffs.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509200BE-15E5-FE37-6AFE-A51B10E1A9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6973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prompting patterns for common knowledge work</a:t>
            </a:r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DE525C3-6A65-3281-3715-AE2CF21E370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158289AD-1712-2CAF-28F8-E7467196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796192"/>
            <a:ext cx="11404599" cy="12264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Choose a structure that makes the result usable immediately: a brief, table, checklist, outline, or recommendation.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DA247B-DA8D-C673-F4EB-29EA73D172F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rPr>
                <a:solidFill>
                  <a:srgbClr val="A9C7E8"/>
                </a:solidFill>
              </a:rPr>
              <a:t>25</a:t>
            </a:fld>
            <a:endParaRPr sz="1100"/>
          </a:p>
        </p:txBody>
      </p:sp>
      <p:sp>
        <p:nvSpPr>
          <p:cNvPr id="7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FB0F357B-0D8A-9B45-94C6-994BA1F9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384301"/>
            <a:ext cx="11404599" cy="23127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spc="1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TASK-SPECIFIC PROMPTS</a:t>
            </a:r>
          </a:p>
        </p:txBody>
      </p:sp>
    </p:spTree>
    <p:extLst>
      <p:ext uri="{BB962C8B-B14F-4D97-AF65-F5344CB8AC3E}">
        <p14:creationId xmlns:p14="http://schemas.microsoft.com/office/powerpoint/2010/main" val="1393456992"/>
      </p:ext>
    </p:extLst>
  </p:cSld>
</p:sld>
</file>

<file path=ppt/slides/slide2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722684"/>
            <a:ext cx="5537200" cy="8654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Admit uncertainty → split the task → restore context</a:t>
            </a:r>
            <a:endParaRPr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0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troubleshooting keeps uncertainty visible</a:t>
            </a:r>
            <a:endParaRPr/>
          </a:p>
        </p:txBody>
      </p:sp>
      <p:sp>
        <p:nvSpPr>
          <p:cNvPr id="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1357382-F889-8A40-7C64-C4E276E6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317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ALLOW UNCERTAINTY</a:t>
            </a:r>
          </a:p>
        </p:txBody>
      </p:sp>
      <p:sp>
        <p:nvSpPr>
          <p:cNvPr id="3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ECE1942-1885-9577-DF5F-685A8B1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015150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990316"/>
            <a:ext cx="5537200" cy="28846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Tell Claude to flag missing or uncertain information instead of inventing an answer. For a stalled complex task, split the work into smaller turns and include all needed context when starting a fresh conversation.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1B260BF-9264-3C70-DF2D-2E6EA83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916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BREAK DOWN LARGE TASKS</a:t>
            </a:r>
          </a:p>
        </p:txBody>
      </p:sp>
      <p:sp>
        <p:nvSpPr>
          <p:cNvPr id="1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6CF1E9A-BF4C-E7B2-D556-8AB5FB2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624749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E696631-18B5-8115-E5AD-ACCFD622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765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INCLUDE FRESH CONTEXT</a:t>
            </a:r>
          </a:p>
        </p:txBody>
      </p:sp>
      <p:sp>
        <p:nvSpPr>
          <p:cNvPr id="1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6ECBDA1E-6C7D-6B0F-A430-DF8A0965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239598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FC4B09F-4593-687E-52A3-7E683F7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ASK FOR SOURCES</a:t>
            </a:r>
          </a:p>
        </p:txBody>
      </p:sp>
      <p:sp>
        <p:nvSpPr>
          <p:cNvPr id="21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006032E6-DDFC-FA22-4D08-3BFFC75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8491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DAB1F81-E12B-29DC-E09F-27F129E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REFINE ONE GAP AT A TIME</a:t>
            </a:r>
          </a:p>
        </p:txBody>
      </p:sp>
      <p:sp>
        <p:nvSpPr>
          <p:cNvPr id="2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052337A-4696-49F7-A089-E21DA71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54714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567BC5C-65A7-7445-018D-E76E0A9441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rPr>
                <a:solidFill>
                  <a:srgbClr val="A9C7E8"/>
                </a:solidFill>
              </a:rPr>
              <a:t>26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2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62377079-BCC4-2661-2A12-E4395F1ED5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39689"/>
            <a:ext cx="5537200" cy="141136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Name the exact behavior, relevant code or reproduction steps, and acceptance criteria.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C167C81-957E-4EDD-97F6-7EF86B8F4A0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239689"/>
            <a:ext cx="5537200" cy="141136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Preserve the few constraints that prevent unsafe scope or architectural drift.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BC1ACDB-02B5-99AA-385B-D8D9B44C2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Codex prompting: outcome, code context, constraints, verification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710401-0DB3-D5DB-AAFF-832641C025B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>
                <a:solidFill>
                  <a:srgbClr val="A9C7E8"/>
                </a:solidFill>
              </a:rPr>
              <a:t>CODEX + CLAUDE CODE</a:t>
            </a:r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71B5B5-6269-DE95-4939-B738B6B6AC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fld id="{02F15020-66A7-620A-7B7A-C05C4312DEAE}" type="slidenum">
              <a:rPr sz="1100" b="0" i="0" u="none" cap="none" spc="0">
                <a:ln>
                  <a:noFill/>
                </a:ln>
                <a:solidFill>
                  <a:srgbClr val="A9C7E8"/>
                </a:solidFill>
                <a:latin typeface="Helvetica Neue"/>
                <a:ea typeface="Helvetica Neue"/>
                <a:cs typeface="Helvetica Neue"/>
              </a:rPr>
              <a:t>27</a:t>
            </a:fld>
            <a:endParaRPr sz="1100" b="0" i="0" u="none" kern="1200" cap="none" spc="0" baseline="0">
              <a:ln>
                <a:noFill/>
              </a:ln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2CF1976-C150-A891-2CEC-BE355693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80518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OUTCOME FIRST</a:t>
            </a:r>
          </a:p>
        </p:txBody>
      </p:sp>
      <p:sp>
        <p:nvSpPr>
          <p:cNvPr id="8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A0FCF870-B47E-94BD-EEDF-DD8F2A59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529" y="180518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POINT TO THE CODE</a:t>
            </a:r>
          </a:p>
        </p:txBody>
      </p:sp>
      <p:sp>
        <p:nvSpPr>
          <p:cNvPr id="13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F4D1C9BF-63F4-2888-893B-5F7ECE5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468539"/>
            <a:ext cx="5537200" cy="1411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State how to verify: commands, runtime journey, expected result, and final diff review.</a:t>
            </a:r>
          </a:p>
        </p:txBody>
      </p:sp>
      <p:sp>
        <p:nvSpPr>
          <p:cNvPr id="14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708BAE86-327C-6895-AEA3-FE9F89F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468539"/>
            <a:ext cx="5537200" cy="14113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Let Codex choose the efficient path unless a process step is itself a requirement.</a:t>
            </a:r>
          </a:p>
        </p:txBody>
      </p:sp>
      <p:sp>
        <p:nvSpPr>
          <p:cNvPr id="1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B8880891-2DF5-4AB7-C919-6164AD9A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403403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DEFINE DONE</a:t>
            </a:r>
          </a:p>
        </p:txBody>
      </p:sp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144A4BC-3976-C678-219A-2173C82E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529" y="4034030"/>
            <a:ext cx="5529961" cy="22131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</a:pPr>
            <a:r>
              <a:rPr sz="1200" b="1" i="0" u="none" cap="none" spc="10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ALLOW AUTONOMY</a:t>
            </a:r>
          </a:p>
        </p:txBody>
      </p:sp>
    </p:spTree>
    <p:extLst>
      <p:ext uri="{BB962C8B-B14F-4D97-AF65-F5344CB8AC3E}">
        <p14:creationId xmlns:p14="http://schemas.microsoft.com/office/powerpoint/2010/main" val="2474942081"/>
      </p:ext>
    </p:extLst>
  </p:cSld>
</p:sld>
</file>

<file path=ppt/slides/slide2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ADAACD4F-B550-386A-338E-96511960AC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A production Codex prompt is an engineering contract</a:t>
            </a: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5025A11-4CFC-3DAD-DA4D-167D090F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1054100"/>
            <a:ext cx="5533887" cy="977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199A2D71-41FF-1674-15C6-8AF76E98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1317497"/>
            <a:ext cx="4986886" cy="5113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Objective + acceptance criteria</a:t>
            </a:r>
            <a:endParaRPr sz="14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One reviewable outcome and the observable behavior that proves it.</a:t>
            </a:r>
            <a:endParaRPr sz="14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4B4B76E-7D44-10FB-7578-2D01A397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2195285"/>
            <a:ext cx="5236652" cy="14735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Context + scope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Relevant files, stack, current behavior, dependencies, and adjacent work that is excluded.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7F86C9D-8471-77AD-E279-155712DF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797299"/>
            <a:ext cx="5533887" cy="977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F38D10E-43F8-FA5D-F1B1-10ADB587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060696"/>
            <a:ext cx="4986886" cy="5113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79154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Constraints + approvals</a:t>
            </a:r>
            <a:endParaRPr sz="14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Protected architecture, external actions, destructive operations, and dependency rules.</a:t>
            </a:r>
            <a:endParaRPr sz="14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01AFD65-CE2B-0AE8-8D43-B2EC3F63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938484"/>
            <a:ext cx="5236652" cy="14735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Verification + handoff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Commands, runtime checks, diff review, evidence, changed files, and remaining risks.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14B2D712-3C15-6BFD-7D59-4BB690DD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8970" y="1054100"/>
            <a:ext cx="5533887" cy="977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4763959-3346-CF48-2A6A-6F12BE71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05" y="1317497"/>
            <a:ext cx="4986886" cy="5113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Bad prompt: “Build the dashboard.”</a:t>
            </a:r>
            <a:endParaRPr sz="14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1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21A4634-A669-4972-C24C-516C5F0F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05" y="2195285"/>
            <a:ext cx="5236652" cy="14735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Good prompt: specify the user journey, data ownership, states, accessibility, responsive behavior, non-goals, and required checks.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5895B4A3-EE6A-858D-AEC7-4EE0313E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8970" y="3797299"/>
            <a:ext cx="5533887" cy="977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F5F9C50-3A40-C713-DB6E-42BF96FF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05" y="4060696"/>
            <a:ext cx="4986886" cy="5113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State every hard rule once.</a:t>
            </a:r>
            <a:endParaRPr sz="14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19F2123-F7EB-E995-0D2D-C04283EB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05" y="4938484"/>
            <a:ext cx="5236652" cy="14735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Ask for working code—not a plan-only ending.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70E8F0F0-523F-39E7-A1B9-1A75D1F801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34375833-EB2B-2A86-E6AA-2B70E50646D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rPr>
                <a:solidFill>
                  <a:srgbClr val="A9C7E8"/>
                </a:solidFill>
              </a:rPr>
              <a:t>28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91519579"/>
      </p:ext>
    </p:extLst>
  </p:cSld>
</p:sld>
</file>

<file path=ppt/slides/slide2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E0BC934-0157-542C-D5BB-4CBBF257CC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7418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A bug-fix prompt starts with reproduction and ends with rerun evidence</a:t>
            </a: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19C0BA-A84A-2A07-E313-F86616F2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09028"/>
            <a:ext cx="4583034" cy="131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Observed: save succeeds, but the setting resets after refresh.</a:t>
            </a:r>
            <a:endParaRPr sz="1600" b="0" i="0" u="none" kern="1200" cap="none" spc="0" baseline="0">
              <a:ln>
                <a:noFill/>
              </a:ln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1600" b="0" i="0" u="none" kern="1200" cap="none" spc="0" baseline="0">
              <a:ln>
                <a:noFill/>
              </a:ln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Expected: the selected value persists.</a:t>
            </a:r>
            <a:endParaRPr sz="1600" b="0" i="0" u="none" kern="1200" cap="none" spc="0" baseline="0">
              <a:ln>
                <a:noFill/>
              </a:ln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581A225-34F9-0D3B-555E-87AD9B04250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4C369A1-27DC-4417-B82E-882C775F89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rPr>
                <a:solidFill>
                  <a:srgbClr val="A9C7E8"/>
                </a:solidFill>
              </a:rPr>
              <a:t>29</a:t>
            </a:fld>
            <a:endParaRPr sz="1100"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F440E49-120F-1A2F-57EB-B0293456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620" y="1881916"/>
            <a:ext cx="6329680" cy="1656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Reproduce with exact steps, account state, environment, logs, and screenshots.</a:t>
            </a:r>
          </a:p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Ask Codex to run the flow before editing.</a:t>
            </a:r>
          </a:p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Locate the first divergence between expected and actual behavior.</a:t>
            </a: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61FF1B71-7343-3428-E1A5-01301745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40" y="1881916"/>
            <a:ext cx="4583034" cy="2287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spc="1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REPRODUCTION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E5C8191-FF5D-721C-939A-810BF6FF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622601"/>
            <a:ext cx="4583034" cy="1097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Rerun the journey and focused tests. Report changed files, command results, runtime behavior, and remaining risk.</a:t>
            </a:r>
            <a:endParaRPr sz="1600" b="0" i="0" u="none" kern="1200" cap="none" spc="0" baseline="0">
              <a:ln>
                <a:noFill/>
              </a:ln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32FB920-4338-60DE-B515-40C9397A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620" y="4195489"/>
            <a:ext cx="6329680" cy="1656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Trace calls and state transitions before changing code.</a:t>
            </a:r>
          </a:p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 the smallest safe fix in the responsible layer.</a:t>
            </a:r>
          </a:p>
          <a:p xmlns:a="http://schemas.openxmlformats.org/drawingml/2006/main">
            <a:pPr marL="285750" marR="0" lvl="0" indent="-28575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Char char="•"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Add a regression test when feasible, then rerun the original steps.</a:t>
            </a:r>
          </a:p>
        </p:txBody>
      </p:sp>
      <p:sp>
        <p:nvSpPr>
          <p:cNvPr id="1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88B171C2-7536-1E2D-C49E-6F245F44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40" y="4195489"/>
            <a:ext cx="4583034" cy="2287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spc="1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RERUN EVIDENCE</a:t>
            </a:r>
          </a:p>
        </p:txBody>
      </p:sp>
    </p:spTree>
    <p:extLst>
      <p:ext uri="{BB962C8B-B14F-4D97-AF65-F5344CB8AC3E}">
        <p14:creationId xmlns:p14="http://schemas.microsoft.com/office/powerpoint/2010/main" val="4204513895"/>
      </p:ext>
    </p:extLst>
  </p:cSld>
</p:sld>
</file>

<file path=ppt/slides/slide3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BCC789E-87DC-C416-5298-C7F6E26A95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Plan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Investigate the repository, identify affected files and risks, and propose the smallest safe approach.</a:t>
            </a:r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46838" cy="103489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Use separate modes so each stage has a clear output</a:t>
            </a:r>
          </a:p>
        </p:txBody>
      </p:sp>
      <p:sp>
        <p:nvSpPr>
          <p:cNvPr id="1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986AEEE5-7F7B-65AD-1D88-9157CF0514D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4317119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Apply only the approved scope, reuse existing patterns, and keep the change reviewable.</a:t>
            </a:r>
          </a:p>
        </p:txBody>
      </p:sp>
      <p:sp>
        <p:nvSpPr>
          <p:cNvPr id="18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B32A8A18-E9FA-02B4-6667-53C019EC43C0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8240538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Inspect the complete diff, verify requirements, classify findings, remediate confirmed issues, and rerun checks.</a:t>
            </a:r>
          </a:p>
        </p:txBody>
      </p:sp>
      <p:cxnSp>
        <p:nvCxnSpPr>
          <p:cNvPr id="38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3373753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7DD3F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MODE 1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87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MODE 2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49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MODE 3</a:t>
            </a: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8" name="Slide Number Placeholder 7">
            <a:extLst xmlns:a="http://schemas.openxmlformats.org/drawingml/2006/main">
              <a:ext uri="{FF2B5EF4-FFF2-40B4-BE49-F238E27FC236}">
                <a16:creationId xmlns:a16="http://schemas.microsoft.com/office/drawing/2014/main" id="{B8054922-82AE-F5B4-3254-FF8E3B11A7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rPr>
                <a:solidFill>
                  <a:srgbClr val="A9C7E8"/>
                </a:solidFill>
              </a:rPr>
              <a:t>30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3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and Codex share fundamentals but need different emphasis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emphasis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Rich domain context, structured analysis, examples for style, explicit uncertainty, and critical independent review.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Explore broadly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Explain decisions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Surface uncertainty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emphasis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Concrete code context, outcome and acceptance criteria, action boundaries, working implementation, tool evidence, and final diff.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Act persistently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 checks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Close the loop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Shared foundation: clear goal, relevant context, usable output, important boundaries, and iterative refinement.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Do not overload either agent with repeated rules or irrelevant context.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72A7C5-A0CC-7B36-F236-345181E6AD72}" type="slidenum">
              <a:rPr>
                <a:solidFill>
                  <a:srgbClr val="A9C7E8"/>
                </a:solidFill>
              </a:rPr>
              <a:t>31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3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Four reusable prompt templates cover most engineering work</a:t>
            </a:r>
            <a:endParaRPr/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88542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Define requirements, architecture, constraints, risks, assumptions, acceptance criteria, and unresolved decisions. Do not implement yet.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ARCHITECTURE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88542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 one approved vertical slice. Reuse existing patterns, preserve non-goals, run checks, inspect runtime behavior, and report evidence.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IMPLEMENTATION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Review the branch against the specification. Findings first; exact file evidence; no edits during the first pass.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REVIEW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9583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Reproduce the failure, trace the first divergence, apply the smallest safe fix, add regression proof, and rerun the journey.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DEBUGGING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Replace placeholders with repository-specific evidence and commands. Keep one outcome, clear boundaries, and a final proof step.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8F6686A-B9AA-33C7-DC98-7A7FF4AC876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6C3428B-053E-6B4E-39FF-75B44F3F33F6}" type="slidenum">
              <a:rPr>
                <a:solidFill>
                  <a:srgbClr val="A9C7E8"/>
                </a:solidFill>
              </a:rPr>
              <a:t>32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slides/slide3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16E6E18-DCB5-27BF-4701-D93C82ECBFD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84537" y="1681498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6800">
                <a:solidFill>
                  <a:srgbClr val="F6FAFF"/>
                </a:solidFill>
              </a:rPr>
              <a:t>Model landscape</a:t>
            </a:r>
          </a:p>
          <a:p xmlns:a="http://schemas.openxmlformats.org/drawingml/2006/main">
            <a:r>
              <a:rPr sz="6800">
                <a:solidFill>
                  <a:srgbClr val="F6FAFF"/>
                </a:solidFill>
              </a:rPr>
              <a:t>ChatGPT, Codex + Claude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9DF85E7E-4696-758B-00CF-3C8AE6DE93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5346700"/>
            <a:ext cx="3568700" cy="7068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E2EEFC"/>
                </a:solidFill>
              </a:rPr>
              <a:t>Current developer choices, migrations, and a practical selection framework — October 2026.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9C23E257-E836-DD5D-F7F1-70302542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55372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CURRENT MODEL GUIDE</a:t>
            </a:r>
          </a:p>
        </p:txBody>
      </p:sp>
    </p:spTree>
    <p:extLst>
      <p:ext uri="{BB962C8B-B14F-4D97-AF65-F5344CB8AC3E}">
        <p14:creationId xmlns:p14="http://schemas.microsoft.com/office/powerpoint/2010/main" val="3206328494"/>
      </p:ext>
    </p:extLst>
  </p:cSld>
</p:sld>
</file>

<file path=ppt/slides/slide3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Product names and model names are not interchangeable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ChatGPT / Work / Codex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The product surface controls available models, tools, permissions, and reasoning levels.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Regular Chat differs from Work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 CLI/IDE is agentic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Availability varies by plan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API / Claude.ai / Claude Code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APIs expose model IDs; coding products add terminal, repository, and tool workflows.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Check product + account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Pin explicit model IDs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Re-test after upgrades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Choose the surface first, then the model. A model listed in an API catalog may not be selectable in every chat or coding product.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Developer rule — record the surface, exact model, reasoning or effort level, tools, permissions, and date in every benchmark.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C2EC43-E3B9-C9B0-67FF-5447EB7F3925}" type="slidenum">
              <a:rPr>
                <a:solidFill>
                  <a:srgbClr val="A9C7E8"/>
                </a:solidFill>
              </a:rPr>
              <a:t>34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3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8B77B614-E3C4-8964-0877-92800631D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99" y="344009"/>
            <a:ext cx="11404599" cy="5957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OpenAI’s current developer family: Astra, Sol, and Luna</a:t>
            </a: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4774D92-572F-796B-CFA0-75F5BDE3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0439ECA-9193-112F-E7E6-326447C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GPT-6 Astra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Highest capability for ambiguous, demanding reasoning, coding, and professional work.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ED27E76-B721-E464-2478-718E91A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40DA34A0-E630-37E8-0332-0E57245D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GPT-6.1 Sol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Best default balance: near-Astra capability at lower cost for serious repository work.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F421FB3D-82DC-94B6-ADD3-99BB3C8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22C651-AF0B-D7E1-E9EF-3F4BC1C5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GPT-6 Luna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Fast, cost-efficient choice for focused tasks, high-volume automation, and repeatable edits.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DA590ED-3B5F-06BC-B0E9-C6DC4E8B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B1BBBB3-DA5C-C3DF-7DD6-33AB7A8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Shared platform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About 1.05M context, up to 128K output, tool use, structured outputs, and multimodal input support.</a:t>
            </a:r>
          </a:p>
        </p:txBody>
      </p:sp>
      <p:sp>
        <p:nvSpPr>
          <p:cNvPr id="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4E6B723-686B-D8DD-4DA5-3E62BDE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Start with GPT-6.1 Sol; escalate to Astra for the hardest work; route bounded volume to Luna.</a:t>
            </a: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C4B207BF-6BAB-0D91-F12C-1E6FFBCC420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12" name="Slide Number Placeholder 11">
            <a:extLst xmlns:a="http://schemas.openxmlformats.org/drawingml/2006/main">
              <a:ext uri="{FF2B5EF4-FFF2-40B4-BE49-F238E27FC236}">
                <a16:creationId xmlns:a16="http://schemas.microsoft.com/office/drawing/2014/main" id="{24C9B83B-D496-749A-8CAB-E5D5829B60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4FA566-8B12-6DD2-DDB5-FA6393938FB6}" type="slidenum">
              <a:rPr>
                <a:solidFill>
                  <a:srgbClr val="A9C7E8"/>
                </a:solidFill>
              </a:rPr>
              <a:t>35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66000242"/>
      </p:ext>
    </p:extLst>
  </p:cSld>
</p:sld>
</file>

<file path=ppt/slides/slide3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Choose the lightest OpenAI model that clears your quality bar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21193"/>
            <a:ext cx="11404599" cy="10485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Current OpenAI guidance favors task-fit and evaluation over one universal default.</a:t>
            </a:r>
          </a:p>
        </p:txBody>
      </p:sp>
      <p:graphicFrame>
        <p:nvGraphicFramePr>
          <p:cNvPr id="537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3702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Workload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Astra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GPT-6.1 Sol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Luna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My pick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Unfamiliar architecture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Strong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Limited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Astra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Repository implementation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 default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Good if scoped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Difficult debugging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Strong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Fast triage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Astra / Sol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Repetitive edits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Overkill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Strong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Luna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Agentic tool loops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 default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Good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Latency-sensitive UX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Slower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Balanced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Fastest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Luna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High-volume extraction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Strong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Balanced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 economics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Luna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Final high-risk 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Strong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Not first choice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Astra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F440A81-02FE-A94E-7F97-15248A945F3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39A338D-B192-3127-EB9A-53A2665A0BB7}" type="slidenum">
              <a:rPr>
                <a:solidFill>
                  <a:srgbClr val="A9C7E8"/>
                </a:solidFill>
              </a:rPr>
              <a:t>36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3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8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4D765FCF-56FA-8EE2-65DF-D8A5321F3C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Responses API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it for new agentic integrations and tool loops.</a:t>
            </a:r>
          </a:p>
        </p:txBody>
      </p:sp>
      <p:sp>
        <p:nvSpPr>
          <p:cNvPr id="559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BFA1AD57-2515-3263-71AA-F5510D72450E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Async tool calls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Let long tools run without blocking the whole turn.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60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F4CF59D7-297B-30C8-431E-585575A55EC7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Mid-turn steering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Correct priorities while a run is in progress.</a:t>
            </a:r>
          </a:p>
        </p:txBody>
      </p:sp>
      <p:sp>
        <p:nvSpPr>
          <p:cNvPr id="557" name="Google Shape;557;p61">
            <a:extLst xmlns:a="http://schemas.openxmlformats.org/drawingml/2006/main">
              <a:ext uri="{FF2B5EF4-FFF2-40B4-BE49-F238E27FC236}">
                <a16:creationId xmlns:a16="http://schemas.microsoft.com/office/drawing/2014/main" id="{252743B9-4592-4663-CAD2-40CC23D409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GPT-6 capabilities developers should actually use</a:t>
            </a:r>
            <a:endParaRPr/>
          </a:p>
        </p:txBody>
      </p:sp>
      <p:sp>
        <p:nvSpPr>
          <p:cNvPr id="2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0018B0C7-DC20-D7FE-2D99-C8372B90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Persisted reasoning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Preserve useful reasoning across calls and compaction.</a:t>
            </a:r>
          </a:p>
        </p:txBody>
      </p:sp>
      <p:sp>
        <p:nvSpPr>
          <p:cNvPr id="3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142AC269-69D2-161D-AD16-2E5D7B8A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Computer + file tools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Combine structured outputs with real tool evidence.</a:t>
            </a:r>
          </a:p>
        </p:txBody>
      </p:sp>
      <p:sp>
        <p:nvSpPr>
          <p:cNvPr id="4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7E988850-5A60-A9C4-B928-BDFEC4FE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73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Reasoning control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Match effort to the task; remove unsupported sampling controls.</a:t>
            </a:r>
          </a:p>
        </p:txBody>
      </p:sp>
      <p:sp>
        <p:nvSpPr>
          <p:cNvPr id="5" name="Google Shape;561;p61">
            <a:extLst xmlns:a="http://schemas.openxmlformats.org/drawingml/2006/main">
              <a:ext uri="{FF2B5EF4-FFF2-40B4-BE49-F238E27FC236}">
                <a16:creationId xmlns:a16="http://schemas.microsoft.com/office/drawing/2014/main" id="{43830694-5B70-1E3A-562E-A57DE1DE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4" y="2022554"/>
            <a:ext cx="315580" cy="353873"/>
          </a:xfrm>
          <a:custGeom xmlns:a="http://schemas.openxmlformats.org/drawingml/2006/main">
            <a:rect l="l" t="t" r="r" b="b"/>
            <a:pathLst>
              <a:path w="20236" h="20115">
                <a:moveTo>
                  <a:pt x="11303" y="2594"/>
                </a:moveTo>
                <a:lnTo>
                  <a:pt x="2175" y="11983"/>
                </a:lnTo>
                <a:lnTo>
                  <a:pt x="9033" y="11983"/>
                </a:lnTo>
                <a:cubicBezTo>
                  <a:pt x="9364" y="11983"/>
                  <a:pt x="9678" y="12118"/>
                  <a:pt x="9883" y="12348"/>
                </a:cubicBezTo>
                <a:cubicBezTo>
                  <a:pt x="10089" y="12579"/>
                  <a:pt x="10165" y="12880"/>
                  <a:pt x="10089" y="13166"/>
                </a:cubicBezTo>
                <a:lnTo>
                  <a:pt x="8933" y="17522"/>
                </a:lnTo>
                <a:lnTo>
                  <a:pt x="18061" y="8133"/>
                </a:lnTo>
                <a:lnTo>
                  <a:pt x="11203" y="8133"/>
                </a:lnTo>
                <a:cubicBezTo>
                  <a:pt x="10872" y="8133"/>
                  <a:pt x="10558" y="7999"/>
                  <a:pt x="10353" y="7768"/>
                </a:cubicBezTo>
                <a:cubicBezTo>
                  <a:pt x="10147" y="7537"/>
                  <a:pt x="10071" y="7236"/>
                  <a:pt x="10147" y="6950"/>
                </a:cubicBezTo>
                <a:lnTo>
                  <a:pt x="11303" y="2594"/>
                </a:lnTo>
                <a:close/>
                <a:moveTo>
                  <a:pt x="10382" y="593"/>
                </a:moveTo>
                <a:cubicBezTo>
                  <a:pt x="11679" y="-742"/>
                  <a:pt x="14125" y="363"/>
                  <a:pt x="13670" y="2078"/>
                </a:cubicBezTo>
                <a:lnTo>
                  <a:pt x="12574" y="6208"/>
                </a:lnTo>
                <a:lnTo>
                  <a:pt x="18061" y="6208"/>
                </a:lnTo>
                <a:cubicBezTo>
                  <a:pt x="19918" y="6208"/>
                  <a:pt x="20918" y="8142"/>
                  <a:pt x="19705" y="9390"/>
                </a:cubicBezTo>
                <a:lnTo>
                  <a:pt x="9854" y="19523"/>
                </a:lnTo>
                <a:cubicBezTo>
                  <a:pt x="8557" y="20858"/>
                  <a:pt x="6111" y="19753"/>
                  <a:pt x="6566" y="18038"/>
                </a:cubicBezTo>
                <a:lnTo>
                  <a:pt x="7662" y="13908"/>
                </a:lnTo>
                <a:lnTo>
                  <a:pt x="2175" y="13908"/>
                </a:lnTo>
                <a:cubicBezTo>
                  <a:pt x="318" y="13908"/>
                  <a:pt x="-682" y="11974"/>
                  <a:pt x="531" y="10726"/>
                </a:cubicBezTo>
                <a:lnTo>
                  <a:pt x="10382" y="593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Google Shape;562;p61">
            <a:extLst xmlns:a="http://schemas.openxmlformats.org/drawingml/2006/main">
              <a:ext uri="{FF2B5EF4-FFF2-40B4-BE49-F238E27FC236}">
                <a16:creationId xmlns:a16="http://schemas.microsoft.com/office/drawing/2014/main" id="{7C8ADA23-5610-C31E-B048-A0886EDC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8" y="2018463"/>
            <a:ext cx="327078" cy="362074"/>
          </a:xfrm>
          <a:custGeom xmlns:a="http://schemas.openxmlformats.org/drawingml/2006/main">
            <a:rect l="l" t="t" r="r" b="b"/>
            <a:pathLst>
              <a:path w="21600" h="21333">
                <a:moveTo>
                  <a:pt x="11359" y="2130"/>
                </a:moveTo>
                <a:cubicBezTo>
                  <a:pt x="11014" y="1951"/>
                  <a:pt x="10588" y="1951"/>
                  <a:pt x="10241" y="2130"/>
                </a:cubicBezTo>
                <a:lnTo>
                  <a:pt x="3250" y="5732"/>
                </a:lnTo>
                <a:lnTo>
                  <a:pt x="10817" y="9530"/>
                </a:lnTo>
                <a:lnTo>
                  <a:pt x="18593" y="5856"/>
                </a:lnTo>
                <a:lnTo>
                  <a:pt x="11359" y="2130"/>
                </a:lnTo>
                <a:close/>
                <a:moveTo>
                  <a:pt x="19364" y="7749"/>
                </a:moveTo>
                <a:lnTo>
                  <a:pt x="11918" y="11267"/>
                </a:lnTo>
                <a:lnTo>
                  <a:pt x="11918" y="18916"/>
                </a:lnTo>
                <a:lnTo>
                  <a:pt x="18805" y="15367"/>
                </a:lnTo>
                <a:cubicBezTo>
                  <a:pt x="19152" y="15189"/>
                  <a:pt x="19364" y="14860"/>
                  <a:pt x="19364" y="14503"/>
                </a:cubicBezTo>
                <a:lnTo>
                  <a:pt x="19364" y="7749"/>
                </a:lnTo>
                <a:close/>
                <a:moveTo>
                  <a:pt x="9682" y="18916"/>
                </a:moveTo>
                <a:lnTo>
                  <a:pt x="9682" y="11250"/>
                </a:lnTo>
                <a:lnTo>
                  <a:pt x="2236" y="7513"/>
                </a:lnTo>
                <a:lnTo>
                  <a:pt x="2236" y="14503"/>
                </a:lnTo>
                <a:cubicBezTo>
                  <a:pt x="2236" y="14860"/>
                  <a:pt x="2448" y="15189"/>
                  <a:pt x="2795" y="15367"/>
                </a:cubicBezTo>
                <a:lnTo>
                  <a:pt x="9682" y="18916"/>
                </a:lnTo>
                <a:close/>
                <a:moveTo>
                  <a:pt x="9123" y="401"/>
                </a:moveTo>
                <a:cubicBezTo>
                  <a:pt x="10160" y="-133"/>
                  <a:pt x="11440" y="-133"/>
                  <a:pt x="12477" y="401"/>
                </a:cubicBezTo>
                <a:lnTo>
                  <a:pt x="19923" y="4238"/>
                </a:lnTo>
                <a:cubicBezTo>
                  <a:pt x="20962" y="4773"/>
                  <a:pt x="21600" y="5761"/>
                  <a:pt x="21600" y="6830"/>
                </a:cubicBezTo>
                <a:lnTo>
                  <a:pt x="21600" y="14503"/>
                </a:lnTo>
                <a:cubicBezTo>
                  <a:pt x="21600" y="15572"/>
                  <a:pt x="20962" y="16561"/>
                  <a:pt x="19923" y="17096"/>
                </a:cubicBezTo>
                <a:lnTo>
                  <a:pt x="12477" y="20932"/>
                </a:lnTo>
                <a:cubicBezTo>
                  <a:pt x="11440" y="21467"/>
                  <a:pt x="10160" y="21467"/>
                  <a:pt x="9123" y="20932"/>
                </a:cubicBezTo>
                <a:lnTo>
                  <a:pt x="1677" y="17096"/>
                </a:lnTo>
                <a:cubicBezTo>
                  <a:pt x="640" y="16561"/>
                  <a:pt x="0" y="15572"/>
                  <a:pt x="0" y="14503"/>
                </a:cubicBezTo>
                <a:lnTo>
                  <a:pt x="0" y="6830"/>
                </a:lnTo>
                <a:cubicBezTo>
                  <a:pt x="0" y="5761"/>
                  <a:pt x="640" y="4773"/>
                  <a:pt x="1677" y="4238"/>
                </a:cubicBezTo>
                <a:lnTo>
                  <a:pt x="9123" y="401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Google Shape;1369;p101">
            <a:extLst xmlns:a="http://schemas.openxmlformats.org/drawingml/2006/main">
              <a:ext uri="{FF2B5EF4-FFF2-40B4-BE49-F238E27FC236}">
                <a16:creationId xmlns:a16="http://schemas.microsoft.com/office/drawing/2014/main" id="{41FBCA7C-C2E7-AFB5-3B6C-4D9C9E15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30146"/>
            <a:ext cx="338580" cy="338688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0784" y="2163"/>
                </a:moveTo>
                <a:cubicBezTo>
                  <a:pt x="10772" y="2167"/>
                  <a:pt x="10749" y="2175"/>
                  <a:pt x="10715" y="2196"/>
                </a:cubicBezTo>
                <a:cubicBezTo>
                  <a:pt x="10574" y="2281"/>
                  <a:pt x="10340" y="2510"/>
                  <a:pt x="10071" y="2999"/>
                </a:cubicBezTo>
                <a:cubicBezTo>
                  <a:pt x="9811" y="3472"/>
                  <a:pt x="9560" y="4109"/>
                  <a:pt x="9344" y="4895"/>
                </a:cubicBezTo>
                <a:cubicBezTo>
                  <a:pt x="8980" y="6213"/>
                  <a:pt x="8731" y="7875"/>
                  <a:pt x="8661" y="9720"/>
                </a:cubicBezTo>
                <a:lnTo>
                  <a:pt x="12939" y="9720"/>
                </a:lnTo>
                <a:cubicBezTo>
                  <a:pt x="12869" y="7875"/>
                  <a:pt x="12620" y="6213"/>
                  <a:pt x="12256" y="4895"/>
                </a:cubicBezTo>
                <a:cubicBezTo>
                  <a:pt x="12040" y="4109"/>
                  <a:pt x="11789" y="3472"/>
                  <a:pt x="11529" y="2999"/>
                </a:cubicBezTo>
                <a:cubicBezTo>
                  <a:pt x="11260" y="2510"/>
                  <a:pt x="11026" y="2281"/>
                  <a:pt x="10885" y="2196"/>
                </a:cubicBezTo>
                <a:cubicBezTo>
                  <a:pt x="10851" y="2175"/>
                  <a:pt x="10828" y="2167"/>
                  <a:pt x="10816" y="2163"/>
                </a:cubicBezTo>
                <a:cubicBezTo>
                  <a:pt x="10807" y="2161"/>
                  <a:pt x="10801" y="2160"/>
                  <a:pt x="10800" y="2160"/>
                </a:cubicBezTo>
                <a:cubicBezTo>
                  <a:pt x="10798" y="2160"/>
                  <a:pt x="10793" y="2161"/>
                  <a:pt x="10784" y="2163"/>
                </a:cubicBezTo>
                <a:close/>
                <a:moveTo>
                  <a:pt x="6499" y="9720"/>
                </a:moveTo>
                <a:cubicBezTo>
                  <a:pt x="6571" y="7704"/>
                  <a:pt x="6841" y="5845"/>
                  <a:pt x="7261" y="4321"/>
                </a:cubicBezTo>
                <a:cubicBezTo>
                  <a:pt x="7424" y="3732"/>
                  <a:pt x="7611" y="3182"/>
                  <a:pt x="7825" y="2686"/>
                </a:cubicBezTo>
                <a:cubicBezTo>
                  <a:pt x="4843" y="3779"/>
                  <a:pt x="2632" y="6469"/>
                  <a:pt x="2227" y="9720"/>
                </a:cubicBezTo>
                <a:lnTo>
                  <a:pt x="6499" y="9720"/>
                </a:lnTo>
                <a:close/>
                <a:moveTo>
                  <a:pt x="2227" y="11880"/>
                </a:moveTo>
                <a:lnTo>
                  <a:pt x="6499" y="11880"/>
                </a:lnTo>
                <a:cubicBezTo>
                  <a:pt x="6582" y="14228"/>
                  <a:pt x="6936" y="16368"/>
                  <a:pt x="7484" y="18014"/>
                </a:cubicBezTo>
                <a:cubicBezTo>
                  <a:pt x="7589" y="18327"/>
                  <a:pt x="7702" y="18628"/>
                  <a:pt x="7825" y="18914"/>
                </a:cubicBezTo>
                <a:cubicBezTo>
                  <a:pt x="4843" y="17821"/>
                  <a:pt x="2632" y="15131"/>
                  <a:pt x="2227" y="11880"/>
                </a:cubicBezTo>
                <a:close/>
                <a:moveTo>
                  <a:pt x="8661" y="11880"/>
                </a:moveTo>
                <a:cubicBezTo>
                  <a:pt x="8743" y="14037"/>
                  <a:pt x="9069" y="15938"/>
                  <a:pt x="9534" y="17332"/>
                </a:cubicBezTo>
                <a:cubicBezTo>
                  <a:pt x="9806" y="18148"/>
                  <a:pt x="10106" y="18732"/>
                  <a:pt x="10387" y="19088"/>
                </a:cubicBezTo>
                <a:cubicBezTo>
                  <a:pt x="10525" y="19263"/>
                  <a:pt x="10637" y="19356"/>
                  <a:pt x="10712" y="19402"/>
                </a:cubicBezTo>
                <a:cubicBezTo>
                  <a:pt x="10748" y="19424"/>
                  <a:pt x="10771" y="19434"/>
                  <a:pt x="10783" y="19437"/>
                </a:cubicBezTo>
                <a:cubicBezTo>
                  <a:pt x="10794" y="19440"/>
                  <a:pt x="10800" y="19440"/>
                  <a:pt x="10800" y="19440"/>
                </a:cubicBezTo>
                <a:cubicBezTo>
                  <a:pt x="10800" y="19440"/>
                  <a:pt x="10805" y="19440"/>
                  <a:pt x="10817" y="19437"/>
                </a:cubicBezTo>
                <a:cubicBezTo>
                  <a:pt x="10829" y="19434"/>
                  <a:pt x="10852" y="19424"/>
                  <a:pt x="10888" y="19402"/>
                </a:cubicBezTo>
                <a:cubicBezTo>
                  <a:pt x="10963" y="19356"/>
                  <a:pt x="11075" y="19263"/>
                  <a:pt x="11213" y="19088"/>
                </a:cubicBezTo>
                <a:cubicBezTo>
                  <a:pt x="11494" y="18732"/>
                  <a:pt x="11794" y="18148"/>
                  <a:pt x="12066" y="17332"/>
                </a:cubicBezTo>
                <a:cubicBezTo>
                  <a:pt x="12531" y="15938"/>
                  <a:pt x="12857" y="14037"/>
                  <a:pt x="12939" y="11880"/>
                </a:cubicBezTo>
                <a:lnTo>
                  <a:pt x="8661" y="11880"/>
                </a:lnTo>
                <a:close/>
                <a:moveTo>
                  <a:pt x="15101" y="11880"/>
                </a:moveTo>
                <a:cubicBezTo>
                  <a:pt x="15018" y="14228"/>
                  <a:pt x="14664" y="16368"/>
                  <a:pt x="14116" y="18014"/>
                </a:cubicBezTo>
                <a:cubicBezTo>
                  <a:pt x="14011" y="18327"/>
                  <a:pt x="13898" y="18628"/>
                  <a:pt x="13775" y="18914"/>
                </a:cubicBezTo>
                <a:cubicBezTo>
                  <a:pt x="16757" y="17821"/>
                  <a:pt x="18968" y="15131"/>
                  <a:pt x="19373" y="11880"/>
                </a:cubicBezTo>
                <a:lnTo>
                  <a:pt x="15101" y="11880"/>
                </a:lnTo>
                <a:close/>
                <a:moveTo>
                  <a:pt x="19373" y="9720"/>
                </a:moveTo>
                <a:cubicBezTo>
                  <a:pt x="18968" y="6469"/>
                  <a:pt x="16757" y="3779"/>
                  <a:pt x="13775" y="2686"/>
                </a:cubicBezTo>
                <a:cubicBezTo>
                  <a:pt x="13989" y="3182"/>
                  <a:pt x="14176" y="3732"/>
                  <a:pt x="14339" y="4321"/>
                </a:cubicBezTo>
                <a:cubicBezTo>
                  <a:pt x="14759" y="5845"/>
                  <a:pt x="15029" y="7704"/>
                  <a:pt x="15101" y="9720"/>
                </a:cubicBezTo>
                <a:lnTo>
                  <a:pt x="19373" y="9720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415;p101">
            <a:extLst xmlns:a="http://schemas.openxmlformats.org/drawingml/2006/main">
              <a:ext uri="{FF2B5EF4-FFF2-40B4-BE49-F238E27FC236}">
                <a16:creationId xmlns:a16="http://schemas.microsoft.com/office/drawing/2014/main" id="{8574D0ED-7640-B4E7-7B56-C1CA61B9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885" y="4050316"/>
            <a:ext cx="389340" cy="304776"/>
          </a:xfrm>
          <a:custGeom xmlns:a="http://schemas.openxmlformats.org/drawingml/2006/main">
            <a:rect l="l" t="t" r="r" b="b"/>
            <a:pathLst>
              <a:path w="21600" h="21600">
                <a:moveTo>
                  <a:pt x="6574" y="2400"/>
                </a:moveTo>
                <a:cubicBezTo>
                  <a:pt x="5277" y="2400"/>
                  <a:pt x="4226" y="3743"/>
                  <a:pt x="4226" y="5400"/>
                </a:cubicBezTo>
                <a:cubicBezTo>
                  <a:pt x="4226" y="7057"/>
                  <a:pt x="5277" y="8400"/>
                  <a:pt x="6574" y="8400"/>
                </a:cubicBezTo>
                <a:cubicBezTo>
                  <a:pt x="7871" y="8400"/>
                  <a:pt x="8922" y="7057"/>
                  <a:pt x="8922" y="5400"/>
                </a:cubicBezTo>
                <a:cubicBezTo>
                  <a:pt x="8922" y="3743"/>
                  <a:pt x="7871" y="2400"/>
                  <a:pt x="6574" y="2400"/>
                </a:cubicBezTo>
                <a:close/>
                <a:moveTo>
                  <a:pt x="2348" y="5400"/>
                </a:moveTo>
                <a:cubicBezTo>
                  <a:pt x="2348" y="2418"/>
                  <a:pt x="4240" y="0"/>
                  <a:pt x="6574" y="0"/>
                </a:cubicBezTo>
                <a:cubicBezTo>
                  <a:pt x="8908" y="0"/>
                  <a:pt x="10800" y="2418"/>
                  <a:pt x="10800" y="5400"/>
                </a:cubicBezTo>
                <a:cubicBezTo>
                  <a:pt x="10800" y="8382"/>
                  <a:pt x="8908" y="10800"/>
                  <a:pt x="6574" y="10800"/>
                </a:cubicBezTo>
                <a:cubicBezTo>
                  <a:pt x="4240" y="10800"/>
                  <a:pt x="2348" y="8382"/>
                  <a:pt x="2348" y="5400"/>
                </a:cubicBezTo>
                <a:close/>
                <a:moveTo>
                  <a:pt x="15496" y="3600"/>
                </a:moveTo>
                <a:cubicBezTo>
                  <a:pt x="14458" y="3600"/>
                  <a:pt x="13617" y="4674"/>
                  <a:pt x="13617" y="6000"/>
                </a:cubicBezTo>
                <a:cubicBezTo>
                  <a:pt x="13617" y="7326"/>
                  <a:pt x="14458" y="8400"/>
                  <a:pt x="15496" y="8400"/>
                </a:cubicBezTo>
                <a:cubicBezTo>
                  <a:pt x="16533" y="8400"/>
                  <a:pt x="17374" y="7326"/>
                  <a:pt x="17374" y="6000"/>
                </a:cubicBezTo>
                <a:cubicBezTo>
                  <a:pt x="17374" y="4674"/>
                  <a:pt x="16533" y="3600"/>
                  <a:pt x="15496" y="3600"/>
                </a:cubicBezTo>
                <a:close/>
                <a:moveTo>
                  <a:pt x="11739" y="6000"/>
                </a:moveTo>
                <a:cubicBezTo>
                  <a:pt x="11739" y="3349"/>
                  <a:pt x="13421" y="1200"/>
                  <a:pt x="15496" y="1200"/>
                </a:cubicBezTo>
                <a:cubicBezTo>
                  <a:pt x="17570" y="1200"/>
                  <a:pt x="19252" y="3349"/>
                  <a:pt x="19252" y="6000"/>
                </a:cubicBezTo>
                <a:cubicBezTo>
                  <a:pt x="19252" y="8651"/>
                  <a:pt x="17570" y="10800"/>
                  <a:pt x="15496" y="10800"/>
                </a:cubicBezTo>
                <a:cubicBezTo>
                  <a:pt x="13421" y="10800"/>
                  <a:pt x="11739" y="8651"/>
                  <a:pt x="11739" y="6000"/>
                </a:cubicBezTo>
                <a:close/>
                <a:moveTo>
                  <a:pt x="3324" y="15896"/>
                </a:moveTo>
                <a:cubicBezTo>
                  <a:pt x="2477" y="16858"/>
                  <a:pt x="1878" y="18325"/>
                  <a:pt x="1878" y="20400"/>
                </a:cubicBezTo>
                <a:cubicBezTo>
                  <a:pt x="1878" y="21062"/>
                  <a:pt x="1458" y="21600"/>
                  <a:pt x="939" y="21600"/>
                </a:cubicBezTo>
                <a:cubicBezTo>
                  <a:pt x="421" y="21600"/>
                  <a:pt x="0" y="21062"/>
                  <a:pt x="0" y="20400"/>
                </a:cubicBezTo>
                <a:cubicBezTo>
                  <a:pt x="0" y="17675"/>
                  <a:pt x="810" y="15542"/>
                  <a:pt x="2076" y="14102"/>
                </a:cubicBezTo>
                <a:cubicBezTo>
                  <a:pt x="3325" y="12684"/>
                  <a:pt x="4965" y="12000"/>
                  <a:pt x="6574" y="12000"/>
                </a:cubicBezTo>
                <a:cubicBezTo>
                  <a:pt x="8183" y="12000"/>
                  <a:pt x="9822" y="12684"/>
                  <a:pt x="11071" y="14102"/>
                </a:cubicBezTo>
                <a:cubicBezTo>
                  <a:pt x="12338" y="15542"/>
                  <a:pt x="13148" y="17675"/>
                  <a:pt x="13148" y="20400"/>
                </a:cubicBezTo>
                <a:cubicBezTo>
                  <a:pt x="13148" y="21062"/>
                  <a:pt x="12727" y="21600"/>
                  <a:pt x="12209" y="21600"/>
                </a:cubicBezTo>
                <a:cubicBezTo>
                  <a:pt x="11690" y="21600"/>
                  <a:pt x="11270" y="21062"/>
                  <a:pt x="11270" y="20400"/>
                </a:cubicBezTo>
                <a:cubicBezTo>
                  <a:pt x="11270" y="18325"/>
                  <a:pt x="10670" y="16858"/>
                  <a:pt x="9824" y="15896"/>
                </a:cubicBezTo>
                <a:cubicBezTo>
                  <a:pt x="8960" y="14916"/>
                  <a:pt x="7783" y="14400"/>
                  <a:pt x="6574" y="14400"/>
                </a:cubicBezTo>
                <a:cubicBezTo>
                  <a:pt x="5365" y="14400"/>
                  <a:pt x="4188" y="14916"/>
                  <a:pt x="3324" y="15896"/>
                </a:cubicBezTo>
                <a:close/>
                <a:moveTo>
                  <a:pt x="18122" y="15168"/>
                </a:moveTo>
                <a:cubicBezTo>
                  <a:pt x="17175" y="14402"/>
                  <a:pt x="15927" y="14200"/>
                  <a:pt x="14811" y="14602"/>
                </a:cubicBezTo>
                <a:cubicBezTo>
                  <a:pt x="14312" y="14782"/>
                  <a:pt x="13793" y="14411"/>
                  <a:pt x="13653" y="13772"/>
                </a:cubicBezTo>
                <a:cubicBezTo>
                  <a:pt x="13512" y="13134"/>
                  <a:pt x="13802" y="12472"/>
                  <a:pt x="14302" y="12292"/>
                </a:cubicBezTo>
                <a:cubicBezTo>
                  <a:pt x="15894" y="11718"/>
                  <a:pt x="17698" y="11986"/>
                  <a:pt x="19125" y="13139"/>
                </a:cubicBezTo>
                <a:cubicBezTo>
                  <a:pt x="20589" y="14320"/>
                  <a:pt x="21600" y="16387"/>
                  <a:pt x="21600" y="19200"/>
                </a:cubicBezTo>
                <a:cubicBezTo>
                  <a:pt x="21600" y="19862"/>
                  <a:pt x="21179" y="20400"/>
                  <a:pt x="20661" y="20400"/>
                </a:cubicBezTo>
                <a:cubicBezTo>
                  <a:pt x="20142" y="20400"/>
                  <a:pt x="19722" y="19862"/>
                  <a:pt x="19722" y="19200"/>
                </a:cubicBezTo>
                <a:cubicBezTo>
                  <a:pt x="19722" y="17202"/>
                  <a:pt x="19034" y="15905"/>
                  <a:pt x="18122" y="15168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12;p103">
            <a:extLst xmlns:a="http://schemas.openxmlformats.org/drawingml/2006/main">
              <a:ext uri="{FF2B5EF4-FFF2-40B4-BE49-F238E27FC236}">
                <a16:creationId xmlns:a16="http://schemas.microsoft.com/office/drawing/2014/main" id="{D015E4E0-1777-A560-A6C2-AEDA1FA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936" y="4025768"/>
            <a:ext cx="305570" cy="338652"/>
          </a:xfrm>
          <a:custGeom xmlns:a="http://schemas.openxmlformats.org/drawingml/2006/main">
            <a:rect l="l" t="t" r="r" b="b"/>
            <a:pathLst>
              <a:path w="21538" h="21553">
                <a:moveTo>
                  <a:pt x="10897" y="543"/>
                </a:moveTo>
                <a:cubicBezTo>
                  <a:pt x="11135" y="165"/>
                  <a:pt x="11603" y="-46"/>
                  <a:pt x="12081" y="8"/>
                </a:cubicBezTo>
                <a:lnTo>
                  <a:pt x="12622" y="69"/>
                </a:lnTo>
                <a:cubicBezTo>
                  <a:pt x="15566" y="401"/>
                  <a:pt x="17464" y="3053"/>
                  <a:pt x="16592" y="5614"/>
                </a:cubicBezTo>
                <a:lnTo>
                  <a:pt x="15932" y="7551"/>
                </a:lnTo>
                <a:cubicBezTo>
                  <a:pt x="16337" y="7557"/>
                  <a:pt x="16701" y="7570"/>
                  <a:pt x="17029" y="7593"/>
                </a:cubicBezTo>
                <a:cubicBezTo>
                  <a:pt x="17750" y="7644"/>
                  <a:pt x="18413" y="7753"/>
                  <a:pt x="19016" y="8039"/>
                </a:cubicBezTo>
                <a:cubicBezTo>
                  <a:pt x="20257" y="8629"/>
                  <a:pt x="21148" y="9683"/>
                  <a:pt x="21451" y="10920"/>
                </a:cubicBezTo>
                <a:cubicBezTo>
                  <a:pt x="21599" y="11520"/>
                  <a:pt x="21541" y="12127"/>
                  <a:pt x="21406" y="12769"/>
                </a:cubicBezTo>
                <a:cubicBezTo>
                  <a:pt x="21273" y="13395"/>
                  <a:pt x="21043" y="14161"/>
                  <a:pt x="20759" y="15099"/>
                </a:cubicBezTo>
                <a:lnTo>
                  <a:pt x="20202" y="16946"/>
                </a:lnTo>
                <a:cubicBezTo>
                  <a:pt x="20181" y="17013"/>
                  <a:pt x="20161" y="17078"/>
                  <a:pt x="20142" y="17143"/>
                </a:cubicBezTo>
                <a:cubicBezTo>
                  <a:pt x="19789" y="18315"/>
                  <a:pt x="19524" y="19196"/>
                  <a:pt x="18943" y="19876"/>
                </a:cubicBezTo>
                <a:cubicBezTo>
                  <a:pt x="18432" y="20473"/>
                  <a:pt x="17757" y="20939"/>
                  <a:pt x="16986" y="21226"/>
                </a:cubicBezTo>
                <a:cubicBezTo>
                  <a:pt x="16107" y="21554"/>
                  <a:pt x="15095" y="21553"/>
                  <a:pt x="13750" y="21552"/>
                </a:cubicBezTo>
                <a:cubicBezTo>
                  <a:pt x="11456" y="21551"/>
                  <a:pt x="9164" y="21552"/>
                  <a:pt x="6872" y="21552"/>
                </a:cubicBezTo>
                <a:cubicBezTo>
                  <a:pt x="5911" y="21552"/>
                  <a:pt x="5118" y="21552"/>
                  <a:pt x="4472" y="21505"/>
                </a:cubicBezTo>
                <a:cubicBezTo>
                  <a:pt x="3802" y="21455"/>
                  <a:pt x="3185" y="21349"/>
                  <a:pt x="2606" y="21082"/>
                </a:cubicBezTo>
                <a:cubicBezTo>
                  <a:pt x="1708" y="20669"/>
                  <a:pt x="979" y="20010"/>
                  <a:pt x="520" y="19199"/>
                </a:cubicBezTo>
                <a:cubicBezTo>
                  <a:pt x="226" y="18676"/>
                  <a:pt x="108" y="18119"/>
                  <a:pt x="53" y="17513"/>
                </a:cubicBezTo>
                <a:cubicBezTo>
                  <a:pt x="0" y="16930"/>
                  <a:pt x="0" y="16214"/>
                  <a:pt x="0" y="15346"/>
                </a:cubicBezTo>
                <a:lnTo>
                  <a:pt x="0" y="12931"/>
                </a:lnTo>
                <a:cubicBezTo>
                  <a:pt x="0" y="12881"/>
                  <a:pt x="0" y="12832"/>
                  <a:pt x="0" y="12783"/>
                </a:cubicBezTo>
                <a:cubicBezTo>
                  <a:pt x="0" y="11926"/>
                  <a:pt x="-1" y="11289"/>
                  <a:pt x="162" y="10738"/>
                </a:cubicBezTo>
                <a:cubicBezTo>
                  <a:pt x="604" y="9250"/>
                  <a:pt x="1890" y="8088"/>
                  <a:pt x="3538" y="7690"/>
                </a:cubicBezTo>
                <a:cubicBezTo>
                  <a:pt x="4148" y="7542"/>
                  <a:pt x="4853" y="7542"/>
                  <a:pt x="5803" y="7543"/>
                </a:cubicBezTo>
                <a:cubicBezTo>
                  <a:pt x="5857" y="7543"/>
                  <a:pt x="5911" y="7543"/>
                  <a:pt x="5966" y="7543"/>
                </a:cubicBezTo>
                <a:cubicBezTo>
                  <a:pt x="6277" y="7543"/>
                  <a:pt x="6562" y="7393"/>
                  <a:pt x="6716" y="7150"/>
                </a:cubicBezTo>
                <a:lnTo>
                  <a:pt x="10897" y="543"/>
                </a:lnTo>
                <a:close/>
                <a:moveTo>
                  <a:pt x="5407" y="19388"/>
                </a:moveTo>
                <a:cubicBezTo>
                  <a:pt x="5204" y="19068"/>
                  <a:pt x="5044" y="18723"/>
                  <a:pt x="4935" y="18357"/>
                </a:cubicBezTo>
                <a:cubicBezTo>
                  <a:pt x="4772" y="17806"/>
                  <a:pt x="4773" y="17169"/>
                  <a:pt x="4773" y="16312"/>
                </a:cubicBezTo>
                <a:cubicBezTo>
                  <a:pt x="4773" y="16264"/>
                  <a:pt x="4773" y="16214"/>
                  <a:pt x="4773" y="16164"/>
                </a:cubicBezTo>
                <a:lnTo>
                  <a:pt x="4773" y="9709"/>
                </a:lnTo>
                <a:cubicBezTo>
                  <a:pt x="4466" y="9719"/>
                  <a:pt x="4297" y="9737"/>
                  <a:pt x="4155" y="9772"/>
                </a:cubicBezTo>
                <a:cubicBezTo>
                  <a:pt x="3332" y="9971"/>
                  <a:pt x="2689" y="10552"/>
                  <a:pt x="2468" y="11296"/>
                </a:cubicBezTo>
                <a:cubicBezTo>
                  <a:pt x="2397" y="11535"/>
                  <a:pt x="2387" y="11860"/>
                  <a:pt x="2387" y="12931"/>
                </a:cubicBezTo>
                <a:lnTo>
                  <a:pt x="2387" y="15302"/>
                </a:lnTo>
                <a:cubicBezTo>
                  <a:pt x="2387" y="16225"/>
                  <a:pt x="2388" y="16853"/>
                  <a:pt x="2432" y="17338"/>
                </a:cubicBezTo>
                <a:cubicBezTo>
                  <a:pt x="2474" y="17810"/>
                  <a:pt x="2551" y="18052"/>
                  <a:pt x="2647" y="18220"/>
                </a:cubicBezTo>
                <a:cubicBezTo>
                  <a:pt x="2876" y="18626"/>
                  <a:pt x="3241" y="18955"/>
                  <a:pt x="3690" y="19162"/>
                </a:cubicBezTo>
                <a:cubicBezTo>
                  <a:pt x="3877" y="19248"/>
                  <a:pt x="4144" y="19318"/>
                  <a:pt x="4667" y="19356"/>
                </a:cubicBezTo>
                <a:cubicBezTo>
                  <a:pt x="4884" y="19372"/>
                  <a:pt x="5128" y="19382"/>
                  <a:pt x="5407" y="19388"/>
                </a:cubicBezTo>
                <a:close/>
                <a:moveTo>
                  <a:pt x="7160" y="9493"/>
                </a:moveTo>
                <a:lnTo>
                  <a:pt x="7160" y="16164"/>
                </a:lnTo>
                <a:cubicBezTo>
                  <a:pt x="7160" y="17236"/>
                  <a:pt x="7170" y="17560"/>
                  <a:pt x="7241" y="17799"/>
                </a:cubicBezTo>
                <a:cubicBezTo>
                  <a:pt x="7462" y="18543"/>
                  <a:pt x="8105" y="19124"/>
                  <a:pt x="8928" y="19324"/>
                </a:cubicBezTo>
                <a:cubicBezTo>
                  <a:pt x="9194" y="19388"/>
                  <a:pt x="9553" y="19397"/>
                  <a:pt x="10739" y="19397"/>
                </a:cubicBezTo>
                <a:lnTo>
                  <a:pt x="13524" y="19397"/>
                </a:lnTo>
                <a:cubicBezTo>
                  <a:pt x="15200" y="19397"/>
                  <a:pt x="15691" y="19377"/>
                  <a:pt x="16076" y="19234"/>
                </a:cubicBezTo>
                <a:cubicBezTo>
                  <a:pt x="16461" y="19090"/>
                  <a:pt x="16799" y="18857"/>
                  <a:pt x="17054" y="18559"/>
                </a:cubicBezTo>
                <a:cubicBezTo>
                  <a:pt x="17307" y="18262"/>
                  <a:pt x="17458" y="17839"/>
                  <a:pt x="17899" y="16379"/>
                </a:cubicBezTo>
                <a:lnTo>
                  <a:pt x="18444" y="14575"/>
                </a:lnTo>
                <a:cubicBezTo>
                  <a:pt x="18744" y="13583"/>
                  <a:pt x="18949" y="12899"/>
                  <a:pt x="19061" y="12366"/>
                </a:cubicBezTo>
                <a:cubicBezTo>
                  <a:pt x="19172" y="11837"/>
                  <a:pt x="19166" y="11567"/>
                  <a:pt x="19122" y="11387"/>
                </a:cubicBezTo>
                <a:cubicBezTo>
                  <a:pt x="18970" y="10768"/>
                  <a:pt x="18524" y="10241"/>
                  <a:pt x="17904" y="9946"/>
                </a:cubicBezTo>
                <a:cubicBezTo>
                  <a:pt x="17722" y="9860"/>
                  <a:pt x="17436" y="9783"/>
                  <a:pt x="16842" y="9741"/>
                </a:cubicBezTo>
                <a:cubicBezTo>
                  <a:pt x="16243" y="9699"/>
                  <a:pt x="15457" y="9698"/>
                  <a:pt x="14319" y="9698"/>
                </a:cubicBezTo>
                <a:cubicBezTo>
                  <a:pt x="13941" y="9698"/>
                  <a:pt x="13584" y="9536"/>
                  <a:pt x="13360" y="9261"/>
                </a:cubicBezTo>
                <a:cubicBezTo>
                  <a:pt x="13134" y="8986"/>
                  <a:pt x="13067" y="8631"/>
                  <a:pt x="13178" y="8304"/>
                </a:cubicBezTo>
                <a:lnTo>
                  <a:pt x="14311" y="4980"/>
                </a:lnTo>
                <a:cubicBezTo>
                  <a:pt x="14722" y="3771"/>
                  <a:pt x="13900" y="2522"/>
                  <a:pt x="12567" y="2246"/>
                </a:cubicBezTo>
                <a:lnTo>
                  <a:pt x="8787" y="8220"/>
                </a:lnTo>
                <a:cubicBezTo>
                  <a:pt x="8415" y="8808"/>
                  <a:pt x="7836" y="9252"/>
                  <a:pt x="7160" y="949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266;p99">
            <a:extLst xmlns:a="http://schemas.openxmlformats.org/drawingml/2006/main">
              <a:ext uri="{FF2B5EF4-FFF2-40B4-BE49-F238E27FC236}">
                <a16:creationId xmlns:a16="http://schemas.microsoft.com/office/drawing/2014/main" id="{A7463D0C-45D0-FAD2-0C32-03216576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485" y="4029083"/>
            <a:ext cx="321663" cy="321771"/>
          </a:xfrm>
          <a:custGeom xmlns:a="http://schemas.openxmlformats.org/drawingml/2006/main">
            <a:rect l="l" t="t" r="r" b="b"/>
            <a:pathLst>
              <a:path w="21599" h="21599">
                <a:moveTo>
                  <a:pt x="6252" y="0"/>
                </a:moveTo>
                <a:cubicBezTo>
                  <a:pt x="6880" y="0"/>
                  <a:pt x="7389" y="509"/>
                  <a:pt x="7389" y="1137"/>
                </a:cubicBezTo>
                <a:lnTo>
                  <a:pt x="14210" y="1137"/>
                </a:lnTo>
                <a:cubicBezTo>
                  <a:pt x="14210" y="509"/>
                  <a:pt x="14719" y="0"/>
                  <a:pt x="15347" y="0"/>
                </a:cubicBezTo>
                <a:cubicBezTo>
                  <a:pt x="15974" y="0"/>
                  <a:pt x="16483" y="509"/>
                  <a:pt x="16483" y="1137"/>
                </a:cubicBezTo>
                <a:lnTo>
                  <a:pt x="16483" y="1146"/>
                </a:lnTo>
                <a:cubicBezTo>
                  <a:pt x="16839" y="1155"/>
                  <a:pt x="17162" y="1170"/>
                  <a:pt x="17456" y="1197"/>
                </a:cubicBezTo>
                <a:cubicBezTo>
                  <a:pt x="18049" y="1254"/>
                  <a:pt x="18598" y="1369"/>
                  <a:pt x="19116" y="1632"/>
                </a:cubicBezTo>
                <a:cubicBezTo>
                  <a:pt x="19972" y="2068"/>
                  <a:pt x="20668" y="2764"/>
                  <a:pt x="21103" y="3620"/>
                </a:cubicBezTo>
                <a:cubicBezTo>
                  <a:pt x="21384" y="4171"/>
                  <a:pt x="21497" y="4759"/>
                  <a:pt x="21549" y="5397"/>
                </a:cubicBezTo>
                <a:cubicBezTo>
                  <a:pt x="21599" y="6012"/>
                  <a:pt x="21599" y="6768"/>
                  <a:pt x="21599" y="7684"/>
                </a:cubicBezTo>
                <a:lnTo>
                  <a:pt x="21599" y="13655"/>
                </a:lnTo>
                <a:cubicBezTo>
                  <a:pt x="21599" y="13694"/>
                  <a:pt x="21599" y="13732"/>
                  <a:pt x="21599" y="13771"/>
                </a:cubicBezTo>
                <a:cubicBezTo>
                  <a:pt x="21599" y="14493"/>
                  <a:pt x="21600" y="15037"/>
                  <a:pt x="21473" y="15564"/>
                </a:cubicBezTo>
                <a:cubicBezTo>
                  <a:pt x="21361" y="16027"/>
                  <a:pt x="21178" y="16471"/>
                  <a:pt x="20929" y="16878"/>
                </a:cubicBezTo>
                <a:cubicBezTo>
                  <a:pt x="20646" y="17339"/>
                  <a:pt x="20261" y="17725"/>
                  <a:pt x="19749" y="18235"/>
                </a:cubicBezTo>
                <a:cubicBezTo>
                  <a:pt x="19723" y="18262"/>
                  <a:pt x="19696" y="18290"/>
                  <a:pt x="19667" y="18317"/>
                </a:cubicBezTo>
                <a:lnTo>
                  <a:pt x="18317" y="19667"/>
                </a:lnTo>
                <a:cubicBezTo>
                  <a:pt x="18290" y="19696"/>
                  <a:pt x="18262" y="19723"/>
                  <a:pt x="18235" y="19749"/>
                </a:cubicBezTo>
                <a:cubicBezTo>
                  <a:pt x="17725" y="20260"/>
                  <a:pt x="17339" y="20646"/>
                  <a:pt x="16878" y="20929"/>
                </a:cubicBezTo>
                <a:cubicBezTo>
                  <a:pt x="16471" y="21178"/>
                  <a:pt x="16027" y="21361"/>
                  <a:pt x="15564" y="21473"/>
                </a:cubicBezTo>
                <a:cubicBezTo>
                  <a:pt x="15037" y="21600"/>
                  <a:pt x="14493" y="21599"/>
                  <a:pt x="13771" y="21599"/>
                </a:cubicBezTo>
                <a:cubicBezTo>
                  <a:pt x="13732" y="21599"/>
                  <a:pt x="13694" y="21599"/>
                  <a:pt x="13655" y="21599"/>
                </a:cubicBezTo>
                <a:lnTo>
                  <a:pt x="6547" y="21599"/>
                </a:lnTo>
                <a:cubicBezTo>
                  <a:pt x="5632" y="21599"/>
                  <a:pt x="4876" y="21599"/>
                  <a:pt x="4261" y="21549"/>
                </a:cubicBezTo>
                <a:cubicBezTo>
                  <a:pt x="3622" y="21497"/>
                  <a:pt x="3034" y="21384"/>
                  <a:pt x="2483" y="21103"/>
                </a:cubicBezTo>
                <a:cubicBezTo>
                  <a:pt x="1627" y="20668"/>
                  <a:pt x="931" y="19972"/>
                  <a:pt x="496" y="19116"/>
                </a:cubicBezTo>
                <a:cubicBezTo>
                  <a:pt x="215" y="18565"/>
                  <a:pt x="102" y="17977"/>
                  <a:pt x="50" y="17338"/>
                </a:cubicBezTo>
                <a:cubicBezTo>
                  <a:pt x="0" y="16723"/>
                  <a:pt x="0" y="15967"/>
                  <a:pt x="0" y="15052"/>
                </a:cubicBezTo>
                <a:lnTo>
                  <a:pt x="0" y="7684"/>
                </a:lnTo>
                <a:cubicBezTo>
                  <a:pt x="0" y="6768"/>
                  <a:pt x="0" y="6012"/>
                  <a:pt x="50" y="5397"/>
                </a:cubicBezTo>
                <a:cubicBezTo>
                  <a:pt x="102" y="4759"/>
                  <a:pt x="215" y="4171"/>
                  <a:pt x="496" y="3620"/>
                </a:cubicBezTo>
                <a:cubicBezTo>
                  <a:pt x="931" y="2764"/>
                  <a:pt x="1627" y="2068"/>
                  <a:pt x="2483" y="1632"/>
                </a:cubicBezTo>
                <a:cubicBezTo>
                  <a:pt x="3001" y="1369"/>
                  <a:pt x="3550" y="1254"/>
                  <a:pt x="4142" y="1197"/>
                </a:cubicBezTo>
                <a:cubicBezTo>
                  <a:pt x="4437" y="1170"/>
                  <a:pt x="4760" y="1155"/>
                  <a:pt x="5116" y="1146"/>
                </a:cubicBezTo>
                <a:lnTo>
                  <a:pt x="5116" y="1137"/>
                </a:lnTo>
                <a:cubicBezTo>
                  <a:pt x="5116" y="509"/>
                  <a:pt x="5625" y="0"/>
                  <a:pt x="6252" y="0"/>
                </a:cubicBezTo>
                <a:close/>
                <a:moveTo>
                  <a:pt x="5116" y="3421"/>
                </a:moveTo>
                <a:cubicBezTo>
                  <a:pt x="4822" y="3427"/>
                  <a:pt x="4576" y="3440"/>
                  <a:pt x="4358" y="3460"/>
                </a:cubicBezTo>
                <a:cubicBezTo>
                  <a:pt x="3916" y="3502"/>
                  <a:pt x="3681" y="3573"/>
                  <a:pt x="3515" y="3658"/>
                </a:cubicBezTo>
                <a:cubicBezTo>
                  <a:pt x="3088" y="3876"/>
                  <a:pt x="2740" y="4224"/>
                  <a:pt x="2521" y="4652"/>
                </a:cubicBezTo>
                <a:cubicBezTo>
                  <a:pt x="2430" y="4829"/>
                  <a:pt x="2357" y="5085"/>
                  <a:pt x="2317" y="5583"/>
                </a:cubicBezTo>
                <a:cubicBezTo>
                  <a:pt x="2275" y="6094"/>
                  <a:pt x="2274" y="6756"/>
                  <a:pt x="2274" y="7730"/>
                </a:cubicBezTo>
                <a:lnTo>
                  <a:pt x="2274" y="15006"/>
                </a:lnTo>
                <a:cubicBezTo>
                  <a:pt x="2274" y="15980"/>
                  <a:pt x="2275" y="16641"/>
                  <a:pt x="2317" y="17153"/>
                </a:cubicBezTo>
                <a:cubicBezTo>
                  <a:pt x="2357" y="17651"/>
                  <a:pt x="2430" y="17907"/>
                  <a:pt x="2521" y="18084"/>
                </a:cubicBezTo>
                <a:cubicBezTo>
                  <a:pt x="2740" y="18511"/>
                  <a:pt x="3088" y="18859"/>
                  <a:pt x="3515" y="19077"/>
                </a:cubicBezTo>
                <a:cubicBezTo>
                  <a:pt x="3692" y="19168"/>
                  <a:pt x="3948" y="19242"/>
                  <a:pt x="4446" y="19282"/>
                </a:cubicBezTo>
                <a:cubicBezTo>
                  <a:pt x="4958" y="19324"/>
                  <a:pt x="5619" y="19325"/>
                  <a:pt x="6593" y="19325"/>
                </a:cubicBezTo>
                <a:lnTo>
                  <a:pt x="13073" y="19325"/>
                </a:lnTo>
                <a:lnTo>
                  <a:pt x="13073" y="18189"/>
                </a:lnTo>
                <a:cubicBezTo>
                  <a:pt x="13073" y="15677"/>
                  <a:pt x="15109" y="13641"/>
                  <a:pt x="17620" y="13641"/>
                </a:cubicBezTo>
                <a:lnTo>
                  <a:pt x="18757" y="13641"/>
                </a:lnTo>
                <a:cubicBezTo>
                  <a:pt x="18964" y="13641"/>
                  <a:pt x="19158" y="13697"/>
                  <a:pt x="19325" y="13794"/>
                </a:cubicBezTo>
                <a:cubicBezTo>
                  <a:pt x="19325" y="13749"/>
                  <a:pt x="19325" y="13703"/>
                  <a:pt x="19325" y="13655"/>
                </a:cubicBezTo>
                <a:lnTo>
                  <a:pt x="19325" y="7730"/>
                </a:lnTo>
                <a:cubicBezTo>
                  <a:pt x="19325" y="6756"/>
                  <a:pt x="19324" y="6094"/>
                  <a:pt x="19282" y="5583"/>
                </a:cubicBezTo>
                <a:cubicBezTo>
                  <a:pt x="19242" y="5085"/>
                  <a:pt x="19168" y="4829"/>
                  <a:pt x="19077" y="4652"/>
                </a:cubicBezTo>
                <a:cubicBezTo>
                  <a:pt x="18859" y="4224"/>
                  <a:pt x="18511" y="3876"/>
                  <a:pt x="18084" y="3658"/>
                </a:cubicBezTo>
                <a:cubicBezTo>
                  <a:pt x="17918" y="3573"/>
                  <a:pt x="17683" y="3502"/>
                  <a:pt x="17240" y="3460"/>
                </a:cubicBezTo>
                <a:cubicBezTo>
                  <a:pt x="17023" y="3440"/>
                  <a:pt x="16777" y="3427"/>
                  <a:pt x="16483" y="3421"/>
                </a:cubicBezTo>
                <a:lnTo>
                  <a:pt x="16483" y="4547"/>
                </a:lnTo>
                <a:cubicBezTo>
                  <a:pt x="16483" y="5175"/>
                  <a:pt x="15974" y="5684"/>
                  <a:pt x="15347" y="5684"/>
                </a:cubicBezTo>
                <a:cubicBezTo>
                  <a:pt x="14719" y="5684"/>
                  <a:pt x="14210" y="5175"/>
                  <a:pt x="14210" y="4547"/>
                </a:cubicBezTo>
                <a:lnTo>
                  <a:pt x="14210" y="3410"/>
                </a:lnTo>
                <a:lnTo>
                  <a:pt x="7389" y="3410"/>
                </a:lnTo>
                <a:lnTo>
                  <a:pt x="7389" y="4547"/>
                </a:lnTo>
                <a:cubicBezTo>
                  <a:pt x="7389" y="5175"/>
                  <a:pt x="6880" y="5684"/>
                  <a:pt x="6252" y="5684"/>
                </a:cubicBezTo>
                <a:cubicBezTo>
                  <a:pt x="5625" y="5684"/>
                  <a:pt x="5116" y="5175"/>
                  <a:pt x="5116" y="4547"/>
                </a:cubicBezTo>
                <a:lnTo>
                  <a:pt x="5116" y="3421"/>
                </a:lnTo>
                <a:close/>
                <a:moveTo>
                  <a:pt x="18827" y="15913"/>
                </a:moveTo>
                <a:cubicBezTo>
                  <a:pt x="18804" y="15914"/>
                  <a:pt x="18781" y="15915"/>
                  <a:pt x="18757" y="15915"/>
                </a:cubicBezTo>
                <a:lnTo>
                  <a:pt x="17620" y="15915"/>
                </a:lnTo>
                <a:cubicBezTo>
                  <a:pt x="16364" y="15915"/>
                  <a:pt x="15347" y="16932"/>
                  <a:pt x="15347" y="18189"/>
                </a:cubicBezTo>
                <a:lnTo>
                  <a:pt x="15347" y="19163"/>
                </a:lnTo>
                <a:cubicBezTo>
                  <a:pt x="15466" y="19115"/>
                  <a:pt x="15581" y="19057"/>
                  <a:pt x="15690" y="18990"/>
                </a:cubicBezTo>
                <a:cubicBezTo>
                  <a:pt x="15893" y="18866"/>
                  <a:pt x="16081" y="18689"/>
                  <a:pt x="16710" y="18060"/>
                </a:cubicBezTo>
                <a:lnTo>
                  <a:pt x="18060" y="16710"/>
                </a:lnTo>
                <a:cubicBezTo>
                  <a:pt x="18472" y="16297"/>
                  <a:pt x="18690" y="16074"/>
                  <a:pt x="18827" y="1591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Footer Placeholder 18">
            <a:extLst xmlns:a="http://schemas.openxmlformats.org/drawingml/2006/main">
              <a:ext uri="{FF2B5EF4-FFF2-40B4-BE49-F238E27FC236}">
                <a16:creationId xmlns:a16="http://schemas.microsoft.com/office/drawing/2014/main" id="{A7C685AE-794E-F9C0-C7B3-7E956842DD9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892F439-FAFA-E9E4-AA65-F7A04500A77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D334276-4C85-190E-BA41-5CA1CBB04E4E}" type="slidenum">
              <a:rPr>
                <a:solidFill>
                  <a:srgbClr val="A9C7E8"/>
                </a:solidFill>
              </a:rPr>
              <a:t>37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342105169"/>
      </p:ext>
    </p:extLst>
  </p:cSld>
</p:sld>
</file>

<file path=ppt/slides/slide3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722684"/>
            <a:ext cx="5537200" cy="8654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Audit configs → update model IDs → run evals → canary → monitor</a:t>
            </a:r>
            <a:endParaRPr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0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OpenAI rollout checklist: update saved model choices</a:t>
            </a:r>
            <a:endParaRPr/>
          </a:p>
        </p:txBody>
      </p:sp>
      <p:sp>
        <p:nvSpPr>
          <p:cNvPr id="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1357382-F889-8A40-7C64-C4E276E6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317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1. AUDIT CONFIGS</a:t>
            </a:r>
          </a:p>
        </p:txBody>
      </p:sp>
      <p:sp>
        <p:nvSpPr>
          <p:cNvPr id="3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ECE1942-1885-9577-DF5F-685A8B1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015150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990316"/>
            <a:ext cx="5537200" cy="28846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ChatGPT Work and Codex documentation says GPT-5.5 access retires on October 14, 2026. Update saved configurations, custom agents, automations, and scripts before that date. API lifecycles can differ—check each API model page.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1B260BF-9264-3C70-DF2D-2E6EA83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916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2. UPDATE MODELS</a:t>
            </a:r>
          </a:p>
        </p:txBody>
      </p:sp>
      <p:sp>
        <p:nvSpPr>
          <p:cNvPr id="1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6CF1E9A-BF4C-E7B2-D556-8AB5FB2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624749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E696631-18B5-8115-E5AD-ACCFD622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765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3. RUN EVALS</a:t>
            </a:r>
          </a:p>
        </p:txBody>
      </p:sp>
      <p:sp>
        <p:nvSpPr>
          <p:cNvPr id="1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6ECBDA1E-6C7D-6B0F-A430-DF8A0965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239598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FC4B09F-4593-687E-52A3-7E683F7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4. CANARY RELEASE</a:t>
            </a:r>
          </a:p>
        </p:txBody>
      </p:sp>
      <p:sp>
        <p:nvSpPr>
          <p:cNvPr id="21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006032E6-DDFC-FA22-4D08-3BFFC75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8491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DAB1F81-E12B-29DC-E09F-27F129E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5. MONITOR</a:t>
            </a:r>
          </a:p>
        </p:txBody>
      </p:sp>
      <p:sp>
        <p:nvSpPr>
          <p:cNvPr id="2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052337A-4696-49F7-A089-E21DA71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54714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567BC5C-65A7-7445-018D-E76E0A9441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5A7F00-3259-A23D-D734-A322A9F9DD63}" type="slidenum">
              <a:rPr>
                <a:solidFill>
                  <a:srgbClr val="A9C7E8"/>
                </a:solidFill>
              </a:rPr>
              <a:t>38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3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8B77B614-E3C4-8964-0877-92800631D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99" y="344009"/>
            <a:ext cx="11404599" cy="5957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Claude’s current family spans daily work to frontier research</a:t>
            </a: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4774D92-572F-796B-CFA0-75F5BDE3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0439ECA-9193-112F-E7E6-326447C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Sonnet 5.5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Daily default for well-scoped work, bug fixing, and polished developer artifacts.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ED27E76-B721-E464-2478-718E91A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40DA34A0-E630-37E8-0332-0E57245D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Opus 5.5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</a:pPr>
            <a:r>
              <a:rPr sz="16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Leading general model for the most complex coding, architecture, and review work.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F421FB3D-82DC-94B6-ADD3-99BB3C8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22C651-AF0B-D7E1-E9EF-3F4BC1C5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Fable 5.1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Frontier coding and knowledge work; generally available where enabled.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DA590ED-3B5F-06BC-B0E9-C6DC4E8B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B1BBBB3-DA5C-C3DF-7DD6-33AB7A8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Mythos 5.1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Same underlying model as Fable with different safeguards; trusted-access programs only.</a:t>
            </a:r>
          </a:p>
        </p:txBody>
      </p:sp>
      <p:sp>
        <p:nvSpPr>
          <p:cNvPr id="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4E6B723-686B-D8DD-4DA5-3E62BDE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Older active families remain available, but new projects should prefer current models and track deprecation notices.</a:t>
            </a: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C4B207BF-6BAB-0D91-F12C-1E6FFBCC420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12" name="Slide Number Placeholder 11">
            <a:extLst xmlns:a="http://schemas.openxmlformats.org/drawingml/2006/main">
              <a:ext uri="{FF2B5EF4-FFF2-40B4-BE49-F238E27FC236}">
                <a16:creationId xmlns:a16="http://schemas.microsoft.com/office/drawing/2014/main" id="{24C9B83B-D496-749A-8CAB-E5D5829B60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66C477-A387-35CF-F492-F54B4FA4FEC9}" type="slidenum">
              <a:rPr>
                <a:solidFill>
                  <a:srgbClr val="A9C7E8"/>
                </a:solidFill>
              </a:rPr>
              <a:t>39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66000242"/>
      </p:ext>
    </p:extLst>
  </p:cSld>
</p:sld>
</file>

<file path=ppt/slides/slide4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API models: defaults and migration watchlist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21193"/>
            <a:ext cx="11404599" cy="10485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Active does not mean equally suitable; availability and aliases differ by product.</a:t>
            </a:r>
          </a:p>
        </p:txBody>
      </p:sp>
      <p:graphicFrame>
        <p:nvGraphicFramePr>
          <p:cNvPr id="537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9530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Model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Status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Best developer use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Access note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Migration action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Sonnet 5.5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Daily coding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Broad choice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Replace 4.5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Opus 5.5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Architecture / 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Premium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Escalate selectively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Fable 5.1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Frontier coding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Access dependent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Evaluate vs Opus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Mythos 5.1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Security research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Trusted programs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Not a default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Sonnet 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General work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Still supported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Benchmark upgrade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Opus 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Complex work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Still supported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Benchmark upgrade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Sonnet 4.5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Deprecated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Legacy apps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Retires Nov 30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Move to 5.5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Haiku 4.5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Active*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Fast work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Check status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Verify before launch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F440A81-02FE-A94E-7F97-15248A945F3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C89EF0-BE71-8D92-BDDF-FF7D05F0AC04}" type="slidenum">
              <a:rPr>
                <a:solidFill>
                  <a:srgbClr val="A9C7E8"/>
                </a:solidFill>
              </a:rPr>
              <a:t>40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4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8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4D765FCF-56FA-8EE2-65DF-D8A5321F3C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Daily model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claude --model sonnet for normal coding and bug-fix loops.</a:t>
            </a:r>
          </a:p>
        </p:txBody>
      </p:sp>
      <p:sp>
        <p:nvSpPr>
          <p:cNvPr id="559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BFA1AD57-2515-3263-71AA-F5510D72450E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Escalation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--model opus for hard architecture, review, or ambiguous failures.</a:t>
            </a:r>
            <a:endParaRPr sz="16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60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F4CF59D7-297B-30C8-431E-585575A55EC7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4656666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Frontier access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--model fable only when your account supports it and evals justify it.</a:t>
            </a:r>
          </a:p>
        </p:txBody>
      </p:sp>
      <p:sp>
        <p:nvSpPr>
          <p:cNvPr id="557" name="Google Shape;557;p61">
            <a:extLst xmlns:a="http://schemas.openxmlformats.org/drawingml/2006/main">
              <a:ext uri="{FF2B5EF4-FFF2-40B4-BE49-F238E27FC236}">
                <a16:creationId xmlns:a16="http://schemas.microsoft.com/office/drawing/2014/main" id="{252743B9-4592-4663-CAD2-40CC23D409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Claude Code: select models deliberately, keep permissions explicit</a:t>
            </a:r>
            <a:endParaRPr/>
          </a:p>
        </p:txBody>
      </p:sp>
      <p:sp>
        <p:nvSpPr>
          <p:cNvPr id="2" name="Google Shape;558;p61">
            <a:extLst xmlns:a="http://schemas.openxmlformats.org/drawingml/2006/main">
              <a:ext uri="{FF2B5EF4-FFF2-40B4-BE49-F238E27FC236}">
                <a16:creationId xmlns:a16="http://schemas.microsoft.com/office/drawing/2014/main" id="{0018B0C7-DC20-D7FE-2D99-C8372B90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Fallbacks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Configure a fallback chain rather than silently changing task scope.</a:t>
            </a:r>
          </a:p>
        </p:txBody>
      </p:sp>
      <p:sp>
        <p:nvSpPr>
          <p:cNvPr id="3" name="Google Shape;559;p61">
            <a:extLst xmlns:a="http://schemas.openxmlformats.org/drawingml/2006/main">
              <a:ext uri="{FF2B5EF4-FFF2-40B4-BE49-F238E27FC236}">
                <a16:creationId xmlns:a16="http://schemas.microsoft.com/office/drawing/2014/main" id="{142AC269-69D2-161D-AD16-2E5D7B8A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Permission mode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Start in plan or manual; allow edits only for approved scope.</a:t>
            </a:r>
          </a:p>
        </p:txBody>
      </p:sp>
      <p:sp>
        <p:nvSpPr>
          <p:cNvPr id="4" name="Google Shape;560;p61">
            <a:extLst xmlns:a="http://schemas.openxmlformats.org/drawingml/2006/main">
              <a:ext uri="{FF2B5EF4-FFF2-40B4-BE49-F238E27FC236}">
                <a16:creationId xmlns:a16="http://schemas.microsoft.com/office/drawing/2014/main" id="{7E988850-5A60-A9C4-B928-BDFEC4FE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73" y="2653452"/>
            <a:ext cx="3568700" cy="1102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Automation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print mode, JSON output, max turns, and budget caps in CI or scripts.</a:t>
            </a:r>
          </a:p>
        </p:txBody>
      </p:sp>
      <p:sp>
        <p:nvSpPr>
          <p:cNvPr id="5" name="Google Shape;561;p61">
            <a:extLst xmlns:a="http://schemas.openxmlformats.org/drawingml/2006/main">
              <a:ext uri="{FF2B5EF4-FFF2-40B4-BE49-F238E27FC236}">
                <a16:creationId xmlns:a16="http://schemas.microsoft.com/office/drawing/2014/main" id="{43830694-5B70-1E3A-562E-A57DE1DE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4" y="2022554"/>
            <a:ext cx="315580" cy="353873"/>
          </a:xfrm>
          <a:custGeom xmlns:a="http://schemas.openxmlformats.org/drawingml/2006/main">
            <a:rect l="l" t="t" r="r" b="b"/>
            <a:pathLst>
              <a:path w="20236" h="20115">
                <a:moveTo>
                  <a:pt x="11303" y="2594"/>
                </a:moveTo>
                <a:lnTo>
                  <a:pt x="2175" y="11983"/>
                </a:lnTo>
                <a:lnTo>
                  <a:pt x="9033" y="11983"/>
                </a:lnTo>
                <a:cubicBezTo>
                  <a:pt x="9364" y="11983"/>
                  <a:pt x="9678" y="12118"/>
                  <a:pt x="9883" y="12348"/>
                </a:cubicBezTo>
                <a:cubicBezTo>
                  <a:pt x="10089" y="12579"/>
                  <a:pt x="10165" y="12880"/>
                  <a:pt x="10089" y="13166"/>
                </a:cubicBezTo>
                <a:lnTo>
                  <a:pt x="8933" y="17522"/>
                </a:lnTo>
                <a:lnTo>
                  <a:pt x="18061" y="8133"/>
                </a:lnTo>
                <a:lnTo>
                  <a:pt x="11203" y="8133"/>
                </a:lnTo>
                <a:cubicBezTo>
                  <a:pt x="10872" y="8133"/>
                  <a:pt x="10558" y="7999"/>
                  <a:pt x="10353" y="7768"/>
                </a:cubicBezTo>
                <a:cubicBezTo>
                  <a:pt x="10147" y="7537"/>
                  <a:pt x="10071" y="7236"/>
                  <a:pt x="10147" y="6950"/>
                </a:cubicBezTo>
                <a:lnTo>
                  <a:pt x="11303" y="2594"/>
                </a:lnTo>
                <a:close/>
                <a:moveTo>
                  <a:pt x="10382" y="593"/>
                </a:moveTo>
                <a:cubicBezTo>
                  <a:pt x="11679" y="-742"/>
                  <a:pt x="14125" y="363"/>
                  <a:pt x="13670" y="2078"/>
                </a:cubicBezTo>
                <a:lnTo>
                  <a:pt x="12574" y="6208"/>
                </a:lnTo>
                <a:lnTo>
                  <a:pt x="18061" y="6208"/>
                </a:lnTo>
                <a:cubicBezTo>
                  <a:pt x="19918" y="6208"/>
                  <a:pt x="20918" y="8142"/>
                  <a:pt x="19705" y="9390"/>
                </a:cubicBezTo>
                <a:lnTo>
                  <a:pt x="9854" y="19523"/>
                </a:lnTo>
                <a:cubicBezTo>
                  <a:pt x="8557" y="20858"/>
                  <a:pt x="6111" y="19753"/>
                  <a:pt x="6566" y="18038"/>
                </a:cubicBezTo>
                <a:lnTo>
                  <a:pt x="7662" y="13908"/>
                </a:lnTo>
                <a:lnTo>
                  <a:pt x="2175" y="13908"/>
                </a:lnTo>
                <a:cubicBezTo>
                  <a:pt x="318" y="13908"/>
                  <a:pt x="-682" y="11974"/>
                  <a:pt x="531" y="10726"/>
                </a:cubicBezTo>
                <a:lnTo>
                  <a:pt x="10382" y="593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Google Shape;562;p61">
            <a:extLst xmlns:a="http://schemas.openxmlformats.org/drawingml/2006/main">
              <a:ext uri="{FF2B5EF4-FFF2-40B4-BE49-F238E27FC236}">
                <a16:creationId xmlns:a16="http://schemas.microsoft.com/office/drawing/2014/main" id="{7C8ADA23-5610-C31E-B048-A0886EDC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8" y="2018463"/>
            <a:ext cx="327078" cy="362074"/>
          </a:xfrm>
          <a:custGeom xmlns:a="http://schemas.openxmlformats.org/drawingml/2006/main">
            <a:rect l="l" t="t" r="r" b="b"/>
            <a:pathLst>
              <a:path w="21600" h="21333">
                <a:moveTo>
                  <a:pt x="11359" y="2130"/>
                </a:moveTo>
                <a:cubicBezTo>
                  <a:pt x="11014" y="1951"/>
                  <a:pt x="10588" y="1951"/>
                  <a:pt x="10241" y="2130"/>
                </a:cubicBezTo>
                <a:lnTo>
                  <a:pt x="3250" y="5732"/>
                </a:lnTo>
                <a:lnTo>
                  <a:pt x="10817" y="9530"/>
                </a:lnTo>
                <a:lnTo>
                  <a:pt x="18593" y="5856"/>
                </a:lnTo>
                <a:lnTo>
                  <a:pt x="11359" y="2130"/>
                </a:lnTo>
                <a:close/>
                <a:moveTo>
                  <a:pt x="19364" y="7749"/>
                </a:moveTo>
                <a:lnTo>
                  <a:pt x="11918" y="11267"/>
                </a:lnTo>
                <a:lnTo>
                  <a:pt x="11918" y="18916"/>
                </a:lnTo>
                <a:lnTo>
                  <a:pt x="18805" y="15367"/>
                </a:lnTo>
                <a:cubicBezTo>
                  <a:pt x="19152" y="15189"/>
                  <a:pt x="19364" y="14860"/>
                  <a:pt x="19364" y="14503"/>
                </a:cubicBezTo>
                <a:lnTo>
                  <a:pt x="19364" y="7749"/>
                </a:lnTo>
                <a:close/>
                <a:moveTo>
                  <a:pt x="9682" y="18916"/>
                </a:moveTo>
                <a:lnTo>
                  <a:pt x="9682" y="11250"/>
                </a:lnTo>
                <a:lnTo>
                  <a:pt x="2236" y="7513"/>
                </a:lnTo>
                <a:lnTo>
                  <a:pt x="2236" y="14503"/>
                </a:lnTo>
                <a:cubicBezTo>
                  <a:pt x="2236" y="14860"/>
                  <a:pt x="2448" y="15189"/>
                  <a:pt x="2795" y="15367"/>
                </a:cubicBezTo>
                <a:lnTo>
                  <a:pt x="9682" y="18916"/>
                </a:lnTo>
                <a:close/>
                <a:moveTo>
                  <a:pt x="9123" y="401"/>
                </a:moveTo>
                <a:cubicBezTo>
                  <a:pt x="10160" y="-133"/>
                  <a:pt x="11440" y="-133"/>
                  <a:pt x="12477" y="401"/>
                </a:cubicBezTo>
                <a:lnTo>
                  <a:pt x="19923" y="4238"/>
                </a:lnTo>
                <a:cubicBezTo>
                  <a:pt x="20962" y="4773"/>
                  <a:pt x="21600" y="5761"/>
                  <a:pt x="21600" y="6830"/>
                </a:cubicBezTo>
                <a:lnTo>
                  <a:pt x="21600" y="14503"/>
                </a:lnTo>
                <a:cubicBezTo>
                  <a:pt x="21600" y="15572"/>
                  <a:pt x="20962" y="16561"/>
                  <a:pt x="19923" y="17096"/>
                </a:cubicBezTo>
                <a:lnTo>
                  <a:pt x="12477" y="20932"/>
                </a:lnTo>
                <a:cubicBezTo>
                  <a:pt x="11440" y="21467"/>
                  <a:pt x="10160" y="21467"/>
                  <a:pt x="9123" y="20932"/>
                </a:cubicBezTo>
                <a:lnTo>
                  <a:pt x="1677" y="17096"/>
                </a:lnTo>
                <a:cubicBezTo>
                  <a:pt x="640" y="16561"/>
                  <a:pt x="0" y="15572"/>
                  <a:pt x="0" y="14503"/>
                </a:cubicBezTo>
                <a:lnTo>
                  <a:pt x="0" y="6830"/>
                </a:lnTo>
                <a:cubicBezTo>
                  <a:pt x="0" y="5761"/>
                  <a:pt x="640" y="4773"/>
                  <a:pt x="1677" y="4238"/>
                </a:cubicBezTo>
                <a:lnTo>
                  <a:pt x="9123" y="401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4300"/>
              <a:buNone/>
            </a:pPr>
            <a:endParaRPr sz="43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Google Shape;1369;p101">
            <a:extLst xmlns:a="http://schemas.openxmlformats.org/drawingml/2006/main">
              <a:ext uri="{FF2B5EF4-FFF2-40B4-BE49-F238E27FC236}">
                <a16:creationId xmlns:a16="http://schemas.microsoft.com/office/drawing/2014/main" id="{41FBCA7C-C2E7-AFB5-3B6C-4D9C9E15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30146"/>
            <a:ext cx="338580" cy="338688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0784" y="2163"/>
                </a:moveTo>
                <a:cubicBezTo>
                  <a:pt x="10772" y="2167"/>
                  <a:pt x="10749" y="2175"/>
                  <a:pt x="10715" y="2196"/>
                </a:cubicBezTo>
                <a:cubicBezTo>
                  <a:pt x="10574" y="2281"/>
                  <a:pt x="10340" y="2510"/>
                  <a:pt x="10071" y="2999"/>
                </a:cubicBezTo>
                <a:cubicBezTo>
                  <a:pt x="9811" y="3472"/>
                  <a:pt x="9560" y="4109"/>
                  <a:pt x="9344" y="4895"/>
                </a:cubicBezTo>
                <a:cubicBezTo>
                  <a:pt x="8980" y="6213"/>
                  <a:pt x="8731" y="7875"/>
                  <a:pt x="8661" y="9720"/>
                </a:cubicBezTo>
                <a:lnTo>
                  <a:pt x="12939" y="9720"/>
                </a:lnTo>
                <a:cubicBezTo>
                  <a:pt x="12869" y="7875"/>
                  <a:pt x="12620" y="6213"/>
                  <a:pt x="12256" y="4895"/>
                </a:cubicBezTo>
                <a:cubicBezTo>
                  <a:pt x="12040" y="4109"/>
                  <a:pt x="11789" y="3472"/>
                  <a:pt x="11529" y="2999"/>
                </a:cubicBezTo>
                <a:cubicBezTo>
                  <a:pt x="11260" y="2510"/>
                  <a:pt x="11026" y="2281"/>
                  <a:pt x="10885" y="2196"/>
                </a:cubicBezTo>
                <a:cubicBezTo>
                  <a:pt x="10851" y="2175"/>
                  <a:pt x="10828" y="2167"/>
                  <a:pt x="10816" y="2163"/>
                </a:cubicBezTo>
                <a:cubicBezTo>
                  <a:pt x="10807" y="2161"/>
                  <a:pt x="10801" y="2160"/>
                  <a:pt x="10800" y="2160"/>
                </a:cubicBezTo>
                <a:cubicBezTo>
                  <a:pt x="10798" y="2160"/>
                  <a:pt x="10793" y="2161"/>
                  <a:pt x="10784" y="2163"/>
                </a:cubicBezTo>
                <a:close/>
                <a:moveTo>
                  <a:pt x="6499" y="9720"/>
                </a:moveTo>
                <a:cubicBezTo>
                  <a:pt x="6571" y="7704"/>
                  <a:pt x="6841" y="5845"/>
                  <a:pt x="7261" y="4321"/>
                </a:cubicBezTo>
                <a:cubicBezTo>
                  <a:pt x="7424" y="3732"/>
                  <a:pt x="7611" y="3182"/>
                  <a:pt x="7825" y="2686"/>
                </a:cubicBezTo>
                <a:cubicBezTo>
                  <a:pt x="4843" y="3779"/>
                  <a:pt x="2632" y="6469"/>
                  <a:pt x="2227" y="9720"/>
                </a:cubicBezTo>
                <a:lnTo>
                  <a:pt x="6499" y="9720"/>
                </a:lnTo>
                <a:close/>
                <a:moveTo>
                  <a:pt x="2227" y="11880"/>
                </a:moveTo>
                <a:lnTo>
                  <a:pt x="6499" y="11880"/>
                </a:lnTo>
                <a:cubicBezTo>
                  <a:pt x="6582" y="14228"/>
                  <a:pt x="6936" y="16368"/>
                  <a:pt x="7484" y="18014"/>
                </a:cubicBezTo>
                <a:cubicBezTo>
                  <a:pt x="7589" y="18327"/>
                  <a:pt x="7702" y="18628"/>
                  <a:pt x="7825" y="18914"/>
                </a:cubicBezTo>
                <a:cubicBezTo>
                  <a:pt x="4843" y="17821"/>
                  <a:pt x="2632" y="15131"/>
                  <a:pt x="2227" y="11880"/>
                </a:cubicBezTo>
                <a:close/>
                <a:moveTo>
                  <a:pt x="8661" y="11880"/>
                </a:moveTo>
                <a:cubicBezTo>
                  <a:pt x="8743" y="14037"/>
                  <a:pt x="9069" y="15938"/>
                  <a:pt x="9534" y="17332"/>
                </a:cubicBezTo>
                <a:cubicBezTo>
                  <a:pt x="9806" y="18148"/>
                  <a:pt x="10106" y="18732"/>
                  <a:pt x="10387" y="19088"/>
                </a:cubicBezTo>
                <a:cubicBezTo>
                  <a:pt x="10525" y="19263"/>
                  <a:pt x="10637" y="19356"/>
                  <a:pt x="10712" y="19402"/>
                </a:cubicBezTo>
                <a:cubicBezTo>
                  <a:pt x="10748" y="19424"/>
                  <a:pt x="10771" y="19434"/>
                  <a:pt x="10783" y="19437"/>
                </a:cubicBezTo>
                <a:cubicBezTo>
                  <a:pt x="10794" y="19440"/>
                  <a:pt x="10800" y="19440"/>
                  <a:pt x="10800" y="19440"/>
                </a:cubicBezTo>
                <a:cubicBezTo>
                  <a:pt x="10800" y="19440"/>
                  <a:pt x="10805" y="19440"/>
                  <a:pt x="10817" y="19437"/>
                </a:cubicBezTo>
                <a:cubicBezTo>
                  <a:pt x="10829" y="19434"/>
                  <a:pt x="10852" y="19424"/>
                  <a:pt x="10888" y="19402"/>
                </a:cubicBezTo>
                <a:cubicBezTo>
                  <a:pt x="10963" y="19356"/>
                  <a:pt x="11075" y="19263"/>
                  <a:pt x="11213" y="19088"/>
                </a:cubicBezTo>
                <a:cubicBezTo>
                  <a:pt x="11494" y="18732"/>
                  <a:pt x="11794" y="18148"/>
                  <a:pt x="12066" y="17332"/>
                </a:cubicBezTo>
                <a:cubicBezTo>
                  <a:pt x="12531" y="15938"/>
                  <a:pt x="12857" y="14037"/>
                  <a:pt x="12939" y="11880"/>
                </a:cubicBezTo>
                <a:lnTo>
                  <a:pt x="8661" y="11880"/>
                </a:lnTo>
                <a:close/>
                <a:moveTo>
                  <a:pt x="15101" y="11880"/>
                </a:moveTo>
                <a:cubicBezTo>
                  <a:pt x="15018" y="14228"/>
                  <a:pt x="14664" y="16368"/>
                  <a:pt x="14116" y="18014"/>
                </a:cubicBezTo>
                <a:cubicBezTo>
                  <a:pt x="14011" y="18327"/>
                  <a:pt x="13898" y="18628"/>
                  <a:pt x="13775" y="18914"/>
                </a:cubicBezTo>
                <a:cubicBezTo>
                  <a:pt x="16757" y="17821"/>
                  <a:pt x="18968" y="15131"/>
                  <a:pt x="19373" y="11880"/>
                </a:cubicBezTo>
                <a:lnTo>
                  <a:pt x="15101" y="11880"/>
                </a:lnTo>
                <a:close/>
                <a:moveTo>
                  <a:pt x="19373" y="9720"/>
                </a:moveTo>
                <a:cubicBezTo>
                  <a:pt x="18968" y="6469"/>
                  <a:pt x="16757" y="3779"/>
                  <a:pt x="13775" y="2686"/>
                </a:cubicBezTo>
                <a:cubicBezTo>
                  <a:pt x="13989" y="3182"/>
                  <a:pt x="14176" y="3732"/>
                  <a:pt x="14339" y="4321"/>
                </a:cubicBezTo>
                <a:cubicBezTo>
                  <a:pt x="14759" y="5845"/>
                  <a:pt x="15029" y="7704"/>
                  <a:pt x="15101" y="9720"/>
                </a:cubicBezTo>
                <a:lnTo>
                  <a:pt x="19373" y="9720"/>
                </a:ln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415;p101">
            <a:extLst xmlns:a="http://schemas.openxmlformats.org/drawingml/2006/main">
              <a:ext uri="{FF2B5EF4-FFF2-40B4-BE49-F238E27FC236}">
                <a16:creationId xmlns:a16="http://schemas.microsoft.com/office/drawing/2014/main" id="{8574D0ED-7640-B4E7-7B56-C1CA61B9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885" y="4050316"/>
            <a:ext cx="389340" cy="304776"/>
          </a:xfrm>
          <a:custGeom xmlns:a="http://schemas.openxmlformats.org/drawingml/2006/main">
            <a:rect l="l" t="t" r="r" b="b"/>
            <a:pathLst>
              <a:path w="21600" h="21600">
                <a:moveTo>
                  <a:pt x="6574" y="2400"/>
                </a:moveTo>
                <a:cubicBezTo>
                  <a:pt x="5277" y="2400"/>
                  <a:pt x="4226" y="3743"/>
                  <a:pt x="4226" y="5400"/>
                </a:cubicBezTo>
                <a:cubicBezTo>
                  <a:pt x="4226" y="7057"/>
                  <a:pt x="5277" y="8400"/>
                  <a:pt x="6574" y="8400"/>
                </a:cubicBezTo>
                <a:cubicBezTo>
                  <a:pt x="7871" y="8400"/>
                  <a:pt x="8922" y="7057"/>
                  <a:pt x="8922" y="5400"/>
                </a:cubicBezTo>
                <a:cubicBezTo>
                  <a:pt x="8922" y="3743"/>
                  <a:pt x="7871" y="2400"/>
                  <a:pt x="6574" y="2400"/>
                </a:cubicBezTo>
                <a:close/>
                <a:moveTo>
                  <a:pt x="2348" y="5400"/>
                </a:moveTo>
                <a:cubicBezTo>
                  <a:pt x="2348" y="2418"/>
                  <a:pt x="4240" y="0"/>
                  <a:pt x="6574" y="0"/>
                </a:cubicBezTo>
                <a:cubicBezTo>
                  <a:pt x="8908" y="0"/>
                  <a:pt x="10800" y="2418"/>
                  <a:pt x="10800" y="5400"/>
                </a:cubicBezTo>
                <a:cubicBezTo>
                  <a:pt x="10800" y="8382"/>
                  <a:pt x="8908" y="10800"/>
                  <a:pt x="6574" y="10800"/>
                </a:cubicBezTo>
                <a:cubicBezTo>
                  <a:pt x="4240" y="10800"/>
                  <a:pt x="2348" y="8382"/>
                  <a:pt x="2348" y="5400"/>
                </a:cubicBezTo>
                <a:close/>
                <a:moveTo>
                  <a:pt x="15496" y="3600"/>
                </a:moveTo>
                <a:cubicBezTo>
                  <a:pt x="14458" y="3600"/>
                  <a:pt x="13617" y="4674"/>
                  <a:pt x="13617" y="6000"/>
                </a:cubicBezTo>
                <a:cubicBezTo>
                  <a:pt x="13617" y="7326"/>
                  <a:pt x="14458" y="8400"/>
                  <a:pt x="15496" y="8400"/>
                </a:cubicBezTo>
                <a:cubicBezTo>
                  <a:pt x="16533" y="8400"/>
                  <a:pt x="17374" y="7326"/>
                  <a:pt x="17374" y="6000"/>
                </a:cubicBezTo>
                <a:cubicBezTo>
                  <a:pt x="17374" y="4674"/>
                  <a:pt x="16533" y="3600"/>
                  <a:pt x="15496" y="3600"/>
                </a:cubicBezTo>
                <a:close/>
                <a:moveTo>
                  <a:pt x="11739" y="6000"/>
                </a:moveTo>
                <a:cubicBezTo>
                  <a:pt x="11739" y="3349"/>
                  <a:pt x="13421" y="1200"/>
                  <a:pt x="15496" y="1200"/>
                </a:cubicBezTo>
                <a:cubicBezTo>
                  <a:pt x="17570" y="1200"/>
                  <a:pt x="19252" y="3349"/>
                  <a:pt x="19252" y="6000"/>
                </a:cubicBezTo>
                <a:cubicBezTo>
                  <a:pt x="19252" y="8651"/>
                  <a:pt x="17570" y="10800"/>
                  <a:pt x="15496" y="10800"/>
                </a:cubicBezTo>
                <a:cubicBezTo>
                  <a:pt x="13421" y="10800"/>
                  <a:pt x="11739" y="8651"/>
                  <a:pt x="11739" y="6000"/>
                </a:cubicBezTo>
                <a:close/>
                <a:moveTo>
                  <a:pt x="3324" y="15896"/>
                </a:moveTo>
                <a:cubicBezTo>
                  <a:pt x="2477" y="16858"/>
                  <a:pt x="1878" y="18325"/>
                  <a:pt x="1878" y="20400"/>
                </a:cubicBezTo>
                <a:cubicBezTo>
                  <a:pt x="1878" y="21062"/>
                  <a:pt x="1458" y="21600"/>
                  <a:pt x="939" y="21600"/>
                </a:cubicBezTo>
                <a:cubicBezTo>
                  <a:pt x="421" y="21600"/>
                  <a:pt x="0" y="21062"/>
                  <a:pt x="0" y="20400"/>
                </a:cubicBezTo>
                <a:cubicBezTo>
                  <a:pt x="0" y="17675"/>
                  <a:pt x="810" y="15542"/>
                  <a:pt x="2076" y="14102"/>
                </a:cubicBezTo>
                <a:cubicBezTo>
                  <a:pt x="3325" y="12684"/>
                  <a:pt x="4965" y="12000"/>
                  <a:pt x="6574" y="12000"/>
                </a:cubicBezTo>
                <a:cubicBezTo>
                  <a:pt x="8183" y="12000"/>
                  <a:pt x="9822" y="12684"/>
                  <a:pt x="11071" y="14102"/>
                </a:cubicBezTo>
                <a:cubicBezTo>
                  <a:pt x="12338" y="15542"/>
                  <a:pt x="13148" y="17675"/>
                  <a:pt x="13148" y="20400"/>
                </a:cubicBezTo>
                <a:cubicBezTo>
                  <a:pt x="13148" y="21062"/>
                  <a:pt x="12727" y="21600"/>
                  <a:pt x="12209" y="21600"/>
                </a:cubicBezTo>
                <a:cubicBezTo>
                  <a:pt x="11690" y="21600"/>
                  <a:pt x="11270" y="21062"/>
                  <a:pt x="11270" y="20400"/>
                </a:cubicBezTo>
                <a:cubicBezTo>
                  <a:pt x="11270" y="18325"/>
                  <a:pt x="10670" y="16858"/>
                  <a:pt x="9824" y="15896"/>
                </a:cubicBezTo>
                <a:cubicBezTo>
                  <a:pt x="8960" y="14916"/>
                  <a:pt x="7783" y="14400"/>
                  <a:pt x="6574" y="14400"/>
                </a:cubicBezTo>
                <a:cubicBezTo>
                  <a:pt x="5365" y="14400"/>
                  <a:pt x="4188" y="14916"/>
                  <a:pt x="3324" y="15896"/>
                </a:cubicBezTo>
                <a:close/>
                <a:moveTo>
                  <a:pt x="18122" y="15168"/>
                </a:moveTo>
                <a:cubicBezTo>
                  <a:pt x="17175" y="14402"/>
                  <a:pt x="15927" y="14200"/>
                  <a:pt x="14811" y="14602"/>
                </a:cubicBezTo>
                <a:cubicBezTo>
                  <a:pt x="14312" y="14782"/>
                  <a:pt x="13793" y="14411"/>
                  <a:pt x="13653" y="13772"/>
                </a:cubicBezTo>
                <a:cubicBezTo>
                  <a:pt x="13512" y="13134"/>
                  <a:pt x="13802" y="12472"/>
                  <a:pt x="14302" y="12292"/>
                </a:cubicBezTo>
                <a:cubicBezTo>
                  <a:pt x="15894" y="11718"/>
                  <a:pt x="17698" y="11986"/>
                  <a:pt x="19125" y="13139"/>
                </a:cubicBezTo>
                <a:cubicBezTo>
                  <a:pt x="20589" y="14320"/>
                  <a:pt x="21600" y="16387"/>
                  <a:pt x="21600" y="19200"/>
                </a:cubicBezTo>
                <a:cubicBezTo>
                  <a:pt x="21600" y="19862"/>
                  <a:pt x="21179" y="20400"/>
                  <a:pt x="20661" y="20400"/>
                </a:cubicBezTo>
                <a:cubicBezTo>
                  <a:pt x="20142" y="20400"/>
                  <a:pt x="19722" y="19862"/>
                  <a:pt x="19722" y="19200"/>
                </a:cubicBezTo>
                <a:cubicBezTo>
                  <a:pt x="19722" y="17202"/>
                  <a:pt x="19034" y="15905"/>
                  <a:pt x="18122" y="15168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12;p103">
            <a:extLst xmlns:a="http://schemas.openxmlformats.org/drawingml/2006/main">
              <a:ext uri="{FF2B5EF4-FFF2-40B4-BE49-F238E27FC236}">
                <a16:creationId xmlns:a16="http://schemas.microsoft.com/office/drawing/2014/main" id="{D015E4E0-1777-A560-A6C2-AEDA1FA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936" y="4025768"/>
            <a:ext cx="305570" cy="338652"/>
          </a:xfrm>
          <a:custGeom xmlns:a="http://schemas.openxmlformats.org/drawingml/2006/main">
            <a:rect l="l" t="t" r="r" b="b"/>
            <a:pathLst>
              <a:path w="21538" h="21553">
                <a:moveTo>
                  <a:pt x="10897" y="543"/>
                </a:moveTo>
                <a:cubicBezTo>
                  <a:pt x="11135" y="165"/>
                  <a:pt x="11603" y="-46"/>
                  <a:pt x="12081" y="8"/>
                </a:cubicBezTo>
                <a:lnTo>
                  <a:pt x="12622" y="69"/>
                </a:lnTo>
                <a:cubicBezTo>
                  <a:pt x="15566" y="401"/>
                  <a:pt x="17464" y="3053"/>
                  <a:pt x="16592" y="5614"/>
                </a:cubicBezTo>
                <a:lnTo>
                  <a:pt x="15932" y="7551"/>
                </a:lnTo>
                <a:cubicBezTo>
                  <a:pt x="16337" y="7557"/>
                  <a:pt x="16701" y="7570"/>
                  <a:pt x="17029" y="7593"/>
                </a:cubicBezTo>
                <a:cubicBezTo>
                  <a:pt x="17750" y="7644"/>
                  <a:pt x="18413" y="7753"/>
                  <a:pt x="19016" y="8039"/>
                </a:cubicBezTo>
                <a:cubicBezTo>
                  <a:pt x="20257" y="8629"/>
                  <a:pt x="21148" y="9683"/>
                  <a:pt x="21451" y="10920"/>
                </a:cubicBezTo>
                <a:cubicBezTo>
                  <a:pt x="21599" y="11520"/>
                  <a:pt x="21541" y="12127"/>
                  <a:pt x="21406" y="12769"/>
                </a:cubicBezTo>
                <a:cubicBezTo>
                  <a:pt x="21273" y="13395"/>
                  <a:pt x="21043" y="14161"/>
                  <a:pt x="20759" y="15099"/>
                </a:cubicBezTo>
                <a:lnTo>
                  <a:pt x="20202" y="16946"/>
                </a:lnTo>
                <a:cubicBezTo>
                  <a:pt x="20181" y="17013"/>
                  <a:pt x="20161" y="17078"/>
                  <a:pt x="20142" y="17143"/>
                </a:cubicBezTo>
                <a:cubicBezTo>
                  <a:pt x="19789" y="18315"/>
                  <a:pt x="19524" y="19196"/>
                  <a:pt x="18943" y="19876"/>
                </a:cubicBezTo>
                <a:cubicBezTo>
                  <a:pt x="18432" y="20473"/>
                  <a:pt x="17757" y="20939"/>
                  <a:pt x="16986" y="21226"/>
                </a:cubicBezTo>
                <a:cubicBezTo>
                  <a:pt x="16107" y="21554"/>
                  <a:pt x="15095" y="21553"/>
                  <a:pt x="13750" y="21552"/>
                </a:cubicBezTo>
                <a:cubicBezTo>
                  <a:pt x="11456" y="21551"/>
                  <a:pt x="9164" y="21552"/>
                  <a:pt x="6872" y="21552"/>
                </a:cubicBezTo>
                <a:cubicBezTo>
                  <a:pt x="5911" y="21552"/>
                  <a:pt x="5118" y="21552"/>
                  <a:pt x="4472" y="21505"/>
                </a:cubicBezTo>
                <a:cubicBezTo>
                  <a:pt x="3802" y="21455"/>
                  <a:pt x="3185" y="21349"/>
                  <a:pt x="2606" y="21082"/>
                </a:cubicBezTo>
                <a:cubicBezTo>
                  <a:pt x="1708" y="20669"/>
                  <a:pt x="979" y="20010"/>
                  <a:pt x="520" y="19199"/>
                </a:cubicBezTo>
                <a:cubicBezTo>
                  <a:pt x="226" y="18676"/>
                  <a:pt x="108" y="18119"/>
                  <a:pt x="53" y="17513"/>
                </a:cubicBezTo>
                <a:cubicBezTo>
                  <a:pt x="0" y="16930"/>
                  <a:pt x="0" y="16214"/>
                  <a:pt x="0" y="15346"/>
                </a:cubicBezTo>
                <a:lnTo>
                  <a:pt x="0" y="12931"/>
                </a:lnTo>
                <a:cubicBezTo>
                  <a:pt x="0" y="12881"/>
                  <a:pt x="0" y="12832"/>
                  <a:pt x="0" y="12783"/>
                </a:cubicBezTo>
                <a:cubicBezTo>
                  <a:pt x="0" y="11926"/>
                  <a:pt x="-1" y="11289"/>
                  <a:pt x="162" y="10738"/>
                </a:cubicBezTo>
                <a:cubicBezTo>
                  <a:pt x="604" y="9250"/>
                  <a:pt x="1890" y="8088"/>
                  <a:pt x="3538" y="7690"/>
                </a:cubicBezTo>
                <a:cubicBezTo>
                  <a:pt x="4148" y="7542"/>
                  <a:pt x="4853" y="7542"/>
                  <a:pt x="5803" y="7543"/>
                </a:cubicBezTo>
                <a:cubicBezTo>
                  <a:pt x="5857" y="7543"/>
                  <a:pt x="5911" y="7543"/>
                  <a:pt x="5966" y="7543"/>
                </a:cubicBezTo>
                <a:cubicBezTo>
                  <a:pt x="6277" y="7543"/>
                  <a:pt x="6562" y="7393"/>
                  <a:pt x="6716" y="7150"/>
                </a:cubicBezTo>
                <a:lnTo>
                  <a:pt x="10897" y="543"/>
                </a:lnTo>
                <a:close/>
                <a:moveTo>
                  <a:pt x="5407" y="19388"/>
                </a:moveTo>
                <a:cubicBezTo>
                  <a:pt x="5204" y="19068"/>
                  <a:pt x="5044" y="18723"/>
                  <a:pt x="4935" y="18357"/>
                </a:cubicBezTo>
                <a:cubicBezTo>
                  <a:pt x="4772" y="17806"/>
                  <a:pt x="4773" y="17169"/>
                  <a:pt x="4773" y="16312"/>
                </a:cubicBezTo>
                <a:cubicBezTo>
                  <a:pt x="4773" y="16264"/>
                  <a:pt x="4773" y="16214"/>
                  <a:pt x="4773" y="16164"/>
                </a:cubicBezTo>
                <a:lnTo>
                  <a:pt x="4773" y="9709"/>
                </a:lnTo>
                <a:cubicBezTo>
                  <a:pt x="4466" y="9719"/>
                  <a:pt x="4297" y="9737"/>
                  <a:pt x="4155" y="9772"/>
                </a:cubicBezTo>
                <a:cubicBezTo>
                  <a:pt x="3332" y="9971"/>
                  <a:pt x="2689" y="10552"/>
                  <a:pt x="2468" y="11296"/>
                </a:cubicBezTo>
                <a:cubicBezTo>
                  <a:pt x="2397" y="11535"/>
                  <a:pt x="2387" y="11860"/>
                  <a:pt x="2387" y="12931"/>
                </a:cubicBezTo>
                <a:lnTo>
                  <a:pt x="2387" y="15302"/>
                </a:lnTo>
                <a:cubicBezTo>
                  <a:pt x="2387" y="16225"/>
                  <a:pt x="2388" y="16853"/>
                  <a:pt x="2432" y="17338"/>
                </a:cubicBezTo>
                <a:cubicBezTo>
                  <a:pt x="2474" y="17810"/>
                  <a:pt x="2551" y="18052"/>
                  <a:pt x="2647" y="18220"/>
                </a:cubicBezTo>
                <a:cubicBezTo>
                  <a:pt x="2876" y="18626"/>
                  <a:pt x="3241" y="18955"/>
                  <a:pt x="3690" y="19162"/>
                </a:cubicBezTo>
                <a:cubicBezTo>
                  <a:pt x="3877" y="19248"/>
                  <a:pt x="4144" y="19318"/>
                  <a:pt x="4667" y="19356"/>
                </a:cubicBezTo>
                <a:cubicBezTo>
                  <a:pt x="4884" y="19372"/>
                  <a:pt x="5128" y="19382"/>
                  <a:pt x="5407" y="19388"/>
                </a:cubicBezTo>
                <a:close/>
                <a:moveTo>
                  <a:pt x="7160" y="9493"/>
                </a:moveTo>
                <a:lnTo>
                  <a:pt x="7160" y="16164"/>
                </a:lnTo>
                <a:cubicBezTo>
                  <a:pt x="7160" y="17236"/>
                  <a:pt x="7170" y="17560"/>
                  <a:pt x="7241" y="17799"/>
                </a:cubicBezTo>
                <a:cubicBezTo>
                  <a:pt x="7462" y="18543"/>
                  <a:pt x="8105" y="19124"/>
                  <a:pt x="8928" y="19324"/>
                </a:cubicBezTo>
                <a:cubicBezTo>
                  <a:pt x="9194" y="19388"/>
                  <a:pt x="9553" y="19397"/>
                  <a:pt x="10739" y="19397"/>
                </a:cubicBezTo>
                <a:lnTo>
                  <a:pt x="13524" y="19397"/>
                </a:lnTo>
                <a:cubicBezTo>
                  <a:pt x="15200" y="19397"/>
                  <a:pt x="15691" y="19377"/>
                  <a:pt x="16076" y="19234"/>
                </a:cubicBezTo>
                <a:cubicBezTo>
                  <a:pt x="16461" y="19090"/>
                  <a:pt x="16799" y="18857"/>
                  <a:pt x="17054" y="18559"/>
                </a:cubicBezTo>
                <a:cubicBezTo>
                  <a:pt x="17307" y="18262"/>
                  <a:pt x="17458" y="17839"/>
                  <a:pt x="17899" y="16379"/>
                </a:cubicBezTo>
                <a:lnTo>
                  <a:pt x="18444" y="14575"/>
                </a:lnTo>
                <a:cubicBezTo>
                  <a:pt x="18744" y="13583"/>
                  <a:pt x="18949" y="12899"/>
                  <a:pt x="19061" y="12366"/>
                </a:cubicBezTo>
                <a:cubicBezTo>
                  <a:pt x="19172" y="11837"/>
                  <a:pt x="19166" y="11567"/>
                  <a:pt x="19122" y="11387"/>
                </a:cubicBezTo>
                <a:cubicBezTo>
                  <a:pt x="18970" y="10768"/>
                  <a:pt x="18524" y="10241"/>
                  <a:pt x="17904" y="9946"/>
                </a:cubicBezTo>
                <a:cubicBezTo>
                  <a:pt x="17722" y="9860"/>
                  <a:pt x="17436" y="9783"/>
                  <a:pt x="16842" y="9741"/>
                </a:cubicBezTo>
                <a:cubicBezTo>
                  <a:pt x="16243" y="9699"/>
                  <a:pt x="15457" y="9698"/>
                  <a:pt x="14319" y="9698"/>
                </a:cubicBezTo>
                <a:cubicBezTo>
                  <a:pt x="13941" y="9698"/>
                  <a:pt x="13584" y="9536"/>
                  <a:pt x="13360" y="9261"/>
                </a:cubicBezTo>
                <a:cubicBezTo>
                  <a:pt x="13134" y="8986"/>
                  <a:pt x="13067" y="8631"/>
                  <a:pt x="13178" y="8304"/>
                </a:cubicBezTo>
                <a:lnTo>
                  <a:pt x="14311" y="4980"/>
                </a:lnTo>
                <a:cubicBezTo>
                  <a:pt x="14722" y="3771"/>
                  <a:pt x="13900" y="2522"/>
                  <a:pt x="12567" y="2246"/>
                </a:cubicBezTo>
                <a:lnTo>
                  <a:pt x="8787" y="8220"/>
                </a:lnTo>
                <a:cubicBezTo>
                  <a:pt x="8415" y="8808"/>
                  <a:pt x="7836" y="9252"/>
                  <a:pt x="7160" y="949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266;p99">
            <a:extLst xmlns:a="http://schemas.openxmlformats.org/drawingml/2006/main">
              <a:ext uri="{FF2B5EF4-FFF2-40B4-BE49-F238E27FC236}">
                <a16:creationId xmlns:a16="http://schemas.microsoft.com/office/drawing/2014/main" id="{A7463D0C-45D0-FAD2-0C32-03216576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485" y="4029083"/>
            <a:ext cx="321663" cy="321771"/>
          </a:xfrm>
          <a:custGeom xmlns:a="http://schemas.openxmlformats.org/drawingml/2006/main">
            <a:rect l="l" t="t" r="r" b="b"/>
            <a:pathLst>
              <a:path w="21599" h="21599">
                <a:moveTo>
                  <a:pt x="6252" y="0"/>
                </a:moveTo>
                <a:cubicBezTo>
                  <a:pt x="6880" y="0"/>
                  <a:pt x="7389" y="509"/>
                  <a:pt x="7389" y="1137"/>
                </a:cubicBezTo>
                <a:lnTo>
                  <a:pt x="14210" y="1137"/>
                </a:lnTo>
                <a:cubicBezTo>
                  <a:pt x="14210" y="509"/>
                  <a:pt x="14719" y="0"/>
                  <a:pt x="15347" y="0"/>
                </a:cubicBezTo>
                <a:cubicBezTo>
                  <a:pt x="15974" y="0"/>
                  <a:pt x="16483" y="509"/>
                  <a:pt x="16483" y="1137"/>
                </a:cubicBezTo>
                <a:lnTo>
                  <a:pt x="16483" y="1146"/>
                </a:lnTo>
                <a:cubicBezTo>
                  <a:pt x="16839" y="1155"/>
                  <a:pt x="17162" y="1170"/>
                  <a:pt x="17456" y="1197"/>
                </a:cubicBezTo>
                <a:cubicBezTo>
                  <a:pt x="18049" y="1254"/>
                  <a:pt x="18598" y="1369"/>
                  <a:pt x="19116" y="1632"/>
                </a:cubicBezTo>
                <a:cubicBezTo>
                  <a:pt x="19972" y="2068"/>
                  <a:pt x="20668" y="2764"/>
                  <a:pt x="21103" y="3620"/>
                </a:cubicBezTo>
                <a:cubicBezTo>
                  <a:pt x="21384" y="4171"/>
                  <a:pt x="21497" y="4759"/>
                  <a:pt x="21549" y="5397"/>
                </a:cubicBezTo>
                <a:cubicBezTo>
                  <a:pt x="21599" y="6012"/>
                  <a:pt x="21599" y="6768"/>
                  <a:pt x="21599" y="7684"/>
                </a:cubicBezTo>
                <a:lnTo>
                  <a:pt x="21599" y="13655"/>
                </a:lnTo>
                <a:cubicBezTo>
                  <a:pt x="21599" y="13694"/>
                  <a:pt x="21599" y="13732"/>
                  <a:pt x="21599" y="13771"/>
                </a:cubicBezTo>
                <a:cubicBezTo>
                  <a:pt x="21599" y="14493"/>
                  <a:pt x="21600" y="15037"/>
                  <a:pt x="21473" y="15564"/>
                </a:cubicBezTo>
                <a:cubicBezTo>
                  <a:pt x="21361" y="16027"/>
                  <a:pt x="21178" y="16471"/>
                  <a:pt x="20929" y="16878"/>
                </a:cubicBezTo>
                <a:cubicBezTo>
                  <a:pt x="20646" y="17339"/>
                  <a:pt x="20261" y="17725"/>
                  <a:pt x="19749" y="18235"/>
                </a:cubicBezTo>
                <a:cubicBezTo>
                  <a:pt x="19723" y="18262"/>
                  <a:pt x="19696" y="18290"/>
                  <a:pt x="19667" y="18317"/>
                </a:cubicBezTo>
                <a:lnTo>
                  <a:pt x="18317" y="19667"/>
                </a:lnTo>
                <a:cubicBezTo>
                  <a:pt x="18290" y="19696"/>
                  <a:pt x="18262" y="19723"/>
                  <a:pt x="18235" y="19749"/>
                </a:cubicBezTo>
                <a:cubicBezTo>
                  <a:pt x="17725" y="20260"/>
                  <a:pt x="17339" y="20646"/>
                  <a:pt x="16878" y="20929"/>
                </a:cubicBezTo>
                <a:cubicBezTo>
                  <a:pt x="16471" y="21178"/>
                  <a:pt x="16027" y="21361"/>
                  <a:pt x="15564" y="21473"/>
                </a:cubicBezTo>
                <a:cubicBezTo>
                  <a:pt x="15037" y="21600"/>
                  <a:pt x="14493" y="21599"/>
                  <a:pt x="13771" y="21599"/>
                </a:cubicBezTo>
                <a:cubicBezTo>
                  <a:pt x="13732" y="21599"/>
                  <a:pt x="13694" y="21599"/>
                  <a:pt x="13655" y="21599"/>
                </a:cubicBezTo>
                <a:lnTo>
                  <a:pt x="6547" y="21599"/>
                </a:lnTo>
                <a:cubicBezTo>
                  <a:pt x="5632" y="21599"/>
                  <a:pt x="4876" y="21599"/>
                  <a:pt x="4261" y="21549"/>
                </a:cubicBezTo>
                <a:cubicBezTo>
                  <a:pt x="3622" y="21497"/>
                  <a:pt x="3034" y="21384"/>
                  <a:pt x="2483" y="21103"/>
                </a:cubicBezTo>
                <a:cubicBezTo>
                  <a:pt x="1627" y="20668"/>
                  <a:pt x="931" y="19972"/>
                  <a:pt x="496" y="19116"/>
                </a:cubicBezTo>
                <a:cubicBezTo>
                  <a:pt x="215" y="18565"/>
                  <a:pt x="102" y="17977"/>
                  <a:pt x="50" y="17338"/>
                </a:cubicBezTo>
                <a:cubicBezTo>
                  <a:pt x="0" y="16723"/>
                  <a:pt x="0" y="15967"/>
                  <a:pt x="0" y="15052"/>
                </a:cubicBezTo>
                <a:lnTo>
                  <a:pt x="0" y="7684"/>
                </a:lnTo>
                <a:cubicBezTo>
                  <a:pt x="0" y="6768"/>
                  <a:pt x="0" y="6012"/>
                  <a:pt x="50" y="5397"/>
                </a:cubicBezTo>
                <a:cubicBezTo>
                  <a:pt x="102" y="4759"/>
                  <a:pt x="215" y="4171"/>
                  <a:pt x="496" y="3620"/>
                </a:cubicBezTo>
                <a:cubicBezTo>
                  <a:pt x="931" y="2764"/>
                  <a:pt x="1627" y="2068"/>
                  <a:pt x="2483" y="1632"/>
                </a:cubicBezTo>
                <a:cubicBezTo>
                  <a:pt x="3001" y="1369"/>
                  <a:pt x="3550" y="1254"/>
                  <a:pt x="4142" y="1197"/>
                </a:cubicBezTo>
                <a:cubicBezTo>
                  <a:pt x="4437" y="1170"/>
                  <a:pt x="4760" y="1155"/>
                  <a:pt x="5116" y="1146"/>
                </a:cubicBezTo>
                <a:lnTo>
                  <a:pt x="5116" y="1137"/>
                </a:lnTo>
                <a:cubicBezTo>
                  <a:pt x="5116" y="509"/>
                  <a:pt x="5625" y="0"/>
                  <a:pt x="6252" y="0"/>
                </a:cubicBezTo>
                <a:close/>
                <a:moveTo>
                  <a:pt x="5116" y="3421"/>
                </a:moveTo>
                <a:cubicBezTo>
                  <a:pt x="4822" y="3427"/>
                  <a:pt x="4576" y="3440"/>
                  <a:pt x="4358" y="3460"/>
                </a:cubicBezTo>
                <a:cubicBezTo>
                  <a:pt x="3916" y="3502"/>
                  <a:pt x="3681" y="3573"/>
                  <a:pt x="3515" y="3658"/>
                </a:cubicBezTo>
                <a:cubicBezTo>
                  <a:pt x="3088" y="3876"/>
                  <a:pt x="2740" y="4224"/>
                  <a:pt x="2521" y="4652"/>
                </a:cubicBezTo>
                <a:cubicBezTo>
                  <a:pt x="2430" y="4829"/>
                  <a:pt x="2357" y="5085"/>
                  <a:pt x="2317" y="5583"/>
                </a:cubicBezTo>
                <a:cubicBezTo>
                  <a:pt x="2275" y="6094"/>
                  <a:pt x="2274" y="6756"/>
                  <a:pt x="2274" y="7730"/>
                </a:cubicBezTo>
                <a:lnTo>
                  <a:pt x="2274" y="15006"/>
                </a:lnTo>
                <a:cubicBezTo>
                  <a:pt x="2274" y="15980"/>
                  <a:pt x="2275" y="16641"/>
                  <a:pt x="2317" y="17153"/>
                </a:cubicBezTo>
                <a:cubicBezTo>
                  <a:pt x="2357" y="17651"/>
                  <a:pt x="2430" y="17907"/>
                  <a:pt x="2521" y="18084"/>
                </a:cubicBezTo>
                <a:cubicBezTo>
                  <a:pt x="2740" y="18511"/>
                  <a:pt x="3088" y="18859"/>
                  <a:pt x="3515" y="19077"/>
                </a:cubicBezTo>
                <a:cubicBezTo>
                  <a:pt x="3692" y="19168"/>
                  <a:pt x="3948" y="19242"/>
                  <a:pt x="4446" y="19282"/>
                </a:cubicBezTo>
                <a:cubicBezTo>
                  <a:pt x="4958" y="19324"/>
                  <a:pt x="5619" y="19325"/>
                  <a:pt x="6593" y="19325"/>
                </a:cubicBezTo>
                <a:lnTo>
                  <a:pt x="13073" y="19325"/>
                </a:lnTo>
                <a:lnTo>
                  <a:pt x="13073" y="18189"/>
                </a:lnTo>
                <a:cubicBezTo>
                  <a:pt x="13073" y="15677"/>
                  <a:pt x="15109" y="13641"/>
                  <a:pt x="17620" y="13641"/>
                </a:cubicBezTo>
                <a:lnTo>
                  <a:pt x="18757" y="13641"/>
                </a:lnTo>
                <a:cubicBezTo>
                  <a:pt x="18964" y="13641"/>
                  <a:pt x="19158" y="13697"/>
                  <a:pt x="19325" y="13794"/>
                </a:cubicBezTo>
                <a:cubicBezTo>
                  <a:pt x="19325" y="13749"/>
                  <a:pt x="19325" y="13703"/>
                  <a:pt x="19325" y="13655"/>
                </a:cubicBezTo>
                <a:lnTo>
                  <a:pt x="19325" y="7730"/>
                </a:lnTo>
                <a:cubicBezTo>
                  <a:pt x="19325" y="6756"/>
                  <a:pt x="19324" y="6094"/>
                  <a:pt x="19282" y="5583"/>
                </a:cubicBezTo>
                <a:cubicBezTo>
                  <a:pt x="19242" y="5085"/>
                  <a:pt x="19168" y="4829"/>
                  <a:pt x="19077" y="4652"/>
                </a:cubicBezTo>
                <a:cubicBezTo>
                  <a:pt x="18859" y="4224"/>
                  <a:pt x="18511" y="3876"/>
                  <a:pt x="18084" y="3658"/>
                </a:cubicBezTo>
                <a:cubicBezTo>
                  <a:pt x="17918" y="3573"/>
                  <a:pt x="17683" y="3502"/>
                  <a:pt x="17240" y="3460"/>
                </a:cubicBezTo>
                <a:cubicBezTo>
                  <a:pt x="17023" y="3440"/>
                  <a:pt x="16777" y="3427"/>
                  <a:pt x="16483" y="3421"/>
                </a:cubicBezTo>
                <a:lnTo>
                  <a:pt x="16483" y="4547"/>
                </a:lnTo>
                <a:cubicBezTo>
                  <a:pt x="16483" y="5175"/>
                  <a:pt x="15974" y="5684"/>
                  <a:pt x="15347" y="5684"/>
                </a:cubicBezTo>
                <a:cubicBezTo>
                  <a:pt x="14719" y="5684"/>
                  <a:pt x="14210" y="5175"/>
                  <a:pt x="14210" y="4547"/>
                </a:cubicBezTo>
                <a:lnTo>
                  <a:pt x="14210" y="3410"/>
                </a:lnTo>
                <a:lnTo>
                  <a:pt x="7389" y="3410"/>
                </a:lnTo>
                <a:lnTo>
                  <a:pt x="7389" y="4547"/>
                </a:lnTo>
                <a:cubicBezTo>
                  <a:pt x="7389" y="5175"/>
                  <a:pt x="6880" y="5684"/>
                  <a:pt x="6252" y="5684"/>
                </a:cubicBezTo>
                <a:cubicBezTo>
                  <a:pt x="5625" y="5684"/>
                  <a:pt x="5116" y="5175"/>
                  <a:pt x="5116" y="4547"/>
                </a:cubicBezTo>
                <a:lnTo>
                  <a:pt x="5116" y="3421"/>
                </a:lnTo>
                <a:close/>
                <a:moveTo>
                  <a:pt x="18827" y="15913"/>
                </a:moveTo>
                <a:cubicBezTo>
                  <a:pt x="18804" y="15914"/>
                  <a:pt x="18781" y="15915"/>
                  <a:pt x="18757" y="15915"/>
                </a:cubicBezTo>
                <a:lnTo>
                  <a:pt x="17620" y="15915"/>
                </a:lnTo>
                <a:cubicBezTo>
                  <a:pt x="16364" y="15915"/>
                  <a:pt x="15347" y="16932"/>
                  <a:pt x="15347" y="18189"/>
                </a:cubicBezTo>
                <a:lnTo>
                  <a:pt x="15347" y="19163"/>
                </a:lnTo>
                <a:cubicBezTo>
                  <a:pt x="15466" y="19115"/>
                  <a:pt x="15581" y="19057"/>
                  <a:pt x="15690" y="18990"/>
                </a:cubicBezTo>
                <a:cubicBezTo>
                  <a:pt x="15893" y="18866"/>
                  <a:pt x="16081" y="18689"/>
                  <a:pt x="16710" y="18060"/>
                </a:cubicBezTo>
                <a:lnTo>
                  <a:pt x="18060" y="16710"/>
                </a:lnTo>
                <a:cubicBezTo>
                  <a:pt x="18472" y="16297"/>
                  <a:pt x="18690" y="16074"/>
                  <a:pt x="18827" y="15913"/>
                </a:cubicBezTo>
                <a:close/>
              </a:path>
            </a:pathLst>
          </a:custGeom>
          <a:solidFill xmlns:a="http://schemas.openxmlformats.org/drawingml/2006/main">
            <a:srgbClr val="7DD3FC"/>
          </a:solidFill>
          <a:ln xmlns:a="http://schemas.openxmlformats.org/drawingml/2006/main" w="9525">
            <a:solidFill>
              <a:srgbClr val="7DD3FC"/>
            </a:solidFill>
            <a:prstDash val="solid"/>
          </a:ln>
        </p:spPr>
        <p:txBody>
          <a:bodyPr xmlns:a="http://schemas.openxmlformats.org/drawingml/2006/main" spcFirstLastPara="1" wrap="square" lIns="67725" tIns="67725" rIns="67725" bIns="677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endParaRPr sz="430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Footer Placeholder 18">
            <a:extLst xmlns:a="http://schemas.openxmlformats.org/drawingml/2006/main">
              <a:ext uri="{FF2B5EF4-FFF2-40B4-BE49-F238E27FC236}">
                <a16:creationId xmlns:a16="http://schemas.microsoft.com/office/drawing/2014/main" id="{A7C685AE-794E-F9C0-C7B3-7E956842DD9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892F439-FAFA-E9E4-AA65-F7A04500A77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CAEC632-A9E6-82AB-6034-3014BC3905A0}" type="slidenum">
              <a:rPr>
                <a:solidFill>
                  <a:srgbClr val="A9C7E8"/>
                </a:solidFill>
              </a:rPr>
              <a:t>41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342105169"/>
      </p:ext>
    </p:extLst>
  </p:cSld>
</p:sld>
</file>

<file path=ppt/slides/slide4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Which is better for a developer? Match the tool to the job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21193"/>
            <a:ext cx="11404599" cy="10485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No universal winner: the coding surface, tools, and verification loop matter as much as raw model capability.</a:t>
            </a:r>
          </a:p>
        </p:txBody>
      </p:sp>
      <p:graphicFrame>
        <p:nvGraphicFramePr>
          <p:cNvPr id="537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9530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Developer job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Codex / OpenAI edge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Claude / Claude Code edge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Default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b="1">
                          <a:solidFill>
                            <a:srgbClr val="F6FAFF"/>
                          </a:solidFill>
                          <a:latin typeface="+mn-lt"/>
                          <a:ea typeface="+mn-lt"/>
                          <a:cs typeface="+mn-lt"/>
                        </a:rPr>
                        <a:t>Why</a:t>
                      </a:r>
                      <a:endParaRPr sz="1400" b="1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D5EA8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End-to-end repo change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Integrated agentic work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Strong terminal loop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Codex Sol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Execution + proof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Hard architecture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Astra reasoning + tools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Opus / Fable analysis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Test both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Domain eval wins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Focused bug fix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Persistent execution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Sonnet daily strength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Either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Reproduction wins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Independent code 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Fresh Codex reviewer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Critique + ultrareview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Claude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Separate reviewer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Cross-app / browser task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Computer + browser tools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Chrome / MCP available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Codex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Surface integration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High-volume automation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Luna economics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Sonnet / Haiku options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Benchmark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Cost + retry rate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Long contextual analysis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Large context + tools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Structured long context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Either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Input design matters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  <a:solidFill>
                      <a:srgbClr val="0C315F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Deepest final pass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Astra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Opus 5.5 / Fable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Dual review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E2EEFC"/>
                          </a:solidFill>
                          <a:latin typeface="+mn-lt"/>
                          <a:ea typeface="+mn-lt"/>
                          <a:cs typeface="+mn-lt"/>
                        </a:rPr>
                        <a:t>Disagreement helps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solidFill>
                      <a:srgbClr val="103D70"/>
                    </a:solidFill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F440A81-02FE-A94E-7F97-15248A945F3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5CE1F1-F8E2-E359-8FD1-A9FA98B3A676}" type="slidenum">
              <a:rPr>
                <a:solidFill>
                  <a:srgbClr val="A9C7E8"/>
                </a:solidFill>
              </a:rPr>
              <a:t>42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4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My recommended stack for a professional developer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585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Primary implementation → Codex with GPT-6.1 Sol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it for repository edits, tests, runtime checks, and a clean Git handoff.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Escalate to Astra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Route repetition to Luna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Keep evidence in the diff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4875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Independent review → Claude Code with Sonnet 5.5</a:t>
            </a:r>
          </a:p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a read-only first pass; escalate deep design or security review when justified.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No edits on first pass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Cite files and tests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Classify residual risk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srgbClr val="E2EEFC"/>
                </a:solidFill>
                <a:latin typeface="Helvetica Neue Medium"/>
                <a:ea typeface="Helvetica Neue Medium"/>
                <a:cs typeface="Helvetica Neue Medium"/>
              </a:rPr>
              <a:t>This pairing is a workflow recommendation, not a permanent ranking. Re-run your own evals when models, plans, tools, or repository constraints change.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One writer at a time. Use separate worktrees for parallel writers. The human owns scope, secrets, merge, deployment, and rollback.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408272-D6A5-5132-33E2-F35391B125A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70EE3B2-1325-F8E9-D276-8EA80C32ED19}" type="slidenum">
              <a:rPr>
                <a:solidFill>
                  <a:srgbClr val="A9C7E8"/>
                </a:solidFill>
              </a:rPr>
              <a:t>43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4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Benchmark models on your real developer workload</a:t>
            </a:r>
            <a:endParaRPr/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Use 10–20 representative tasks from your own repository: features, bugs, reviews, and migrations.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TASK SET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Score correctness, test pass rate, diff quality, regressions, security, and reviewer acceptance.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QUALITY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Track wall time, tokens or cost, tool failures, retries, and human intervention.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EFFICIENCY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Pin exact versions, prompts, permissions, and fixtures; rerun after meaningful upgrades.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srgbClr val="7DD3FC"/>
                </a:solidFill>
                <a:latin typeface="Helvetica Neue Medium"/>
                <a:ea typeface="Helvetica Neue Medium"/>
                <a:cs typeface="Helvetica Neue Medium"/>
              </a:rPr>
              <a:t>REPRODUCIBILITY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Select the lightest model that reliably passes. Escalation should be an explicit routing rule, not guesswork.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8F6686A-B9AA-33C7-DC98-7A7FF4AC876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110800D-D5E6-B48B-B335-F070B0EAA3B9}" type="slidenum">
              <a:rPr>
                <a:solidFill>
                  <a:srgbClr val="A9C7E8"/>
                </a:solidFill>
              </a:rPr>
              <a:t>44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slides/slide4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32E36C81-5801-B2BE-01AA-D802EF7CA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9448800" cy="10402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6FAFF"/>
                </a:solidFill>
              </a:rPr>
              <a:t>The combined workflow closes the loop from intent to release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33642A94-5293-AA67-B826-5BD0DE5E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032000"/>
            <a:ext cx="2581975" cy="3962400"/>
          </a:xfrm>
          <a:prstGeom xmlns:a="http://schemas.openxmlformats.org/drawingml/2006/main" prst="roundRect">
            <a:avLst>
              <a:gd name="adj" fmla="val 180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F6AC358-F5F5-46E1-3A28-330B5B7F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557" y="2032000"/>
            <a:ext cx="2597343" cy="3962400"/>
          </a:xfrm>
          <a:prstGeom xmlns:a="http://schemas.openxmlformats.org/drawingml/2006/main" prst="roundRect">
            <a:avLst>
              <a:gd name="adj" fmla="val 1790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27EDC79-B9FD-D75C-F5E0-8650415F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032000"/>
            <a:ext cx="2581975" cy="3962400"/>
          </a:xfrm>
          <a:prstGeom xmlns:a="http://schemas.openxmlformats.org/drawingml/2006/main" prst="roundRect">
            <a:avLst>
              <a:gd name="adj" fmla="val 2701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FAFF379-8A28-CAB1-B1D0-F7E83A8F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957" y="2032000"/>
            <a:ext cx="2597343" cy="3962400"/>
          </a:xfrm>
          <a:prstGeom xmlns:a="http://schemas.openxmlformats.org/drawingml/2006/main" prst="roundRect">
            <a:avLst>
              <a:gd name="adj" fmla="val 2984"/>
            </a:avLst>
          </a:prstGeom>
          <a:solidFill xmlns:a="http://schemas.openxmlformats.org/drawingml/2006/main">
            <a:srgbClr val="103D70"/>
          </a:solidFill>
          <a:ln xmlns:a="http://schemas.openxmlformats.org/drawingml/2006/main" w="9525">
            <a:solidFill>
              <a:srgbClr val="4D8FCE"/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BDC86A8A-FBA6-FD14-99C2-1C4C5D6609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18967" y="2414155"/>
            <a:ext cx="2145400" cy="159904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Define the problem, explore the system, design the contract, and review critically.</a:t>
            </a:r>
          </a:p>
        </p:txBody>
      </p:sp>
      <p:sp>
        <p:nvSpPr>
          <p:cNvPr id="1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88605DFA-C810-BB6C-3C24-829EC7D93322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555921" y="2414155"/>
            <a:ext cx="2149303" cy="159904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Implement the approved slice, test thoroughly, inspect runtime behavior, and prepare a clean handoff.</a:t>
            </a:r>
          </a:p>
        </p:txBody>
      </p:sp>
      <p:sp>
        <p:nvSpPr>
          <p:cNvPr id="18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92FDC1FF-2A9F-386F-4FAC-628138F5E290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489680" y="2414155"/>
            <a:ext cx="2145400" cy="159904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Claude review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Challenge assumptions, cite evidence, classify risk, and request missing proof.</a:t>
            </a:r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5C2F1B00-B28B-9F1D-8CDD-3C4B2DE34D3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426634" y="2414155"/>
            <a:ext cx="2149303" cy="159904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400" b="0" i="0" u="none" cap="none" spc="0">
                <a:ln>
                  <a:noFill/>
                </a:ln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Human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Approve contracts, triage findings, verify product behavior, read the diff, and control release.</a:t>
            </a:r>
          </a:p>
        </p:txBody>
      </p:sp>
      <p:sp>
        <p:nvSpPr>
          <p:cNvPr id="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D813AAE-3B9F-21FA-95B9-CBD6F80E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49" y="4356100"/>
            <a:ext cx="2076818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Define problem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Map risks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Approve contract</a:t>
            </a:r>
          </a:p>
        </p:txBody>
      </p:sp>
      <p:sp>
        <p:nvSpPr>
          <p:cNvPr id="15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FE99CB3-C543-5212-C2B6-D8E01565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774" y="4356100"/>
            <a:ext cx="2076818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Build slice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Run checks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Review diff</a:t>
            </a:r>
          </a:p>
        </p:txBody>
      </p:sp>
      <p:sp>
        <p:nvSpPr>
          <p:cNvPr id="21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16BEB40B-1BEE-A21D-D3BE-79B2C975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849" y="4356100"/>
            <a:ext cx="2076818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Challenge assumptions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Classify evidence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Request proof</a:t>
            </a:r>
          </a:p>
        </p:txBody>
      </p:sp>
      <p:sp>
        <p:nvSpPr>
          <p:cNvPr id="2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01569E6-593E-BC39-9E85-17656D65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937" y="4356100"/>
            <a:ext cx="2076818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Verify product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Merge intentionally</a:t>
            </a:r>
          </a:p>
          <a:p xmlns:a="http://schemas.openxmlformats.org/drawingml/2006/main">
            <a:pPr marL="228600" lvl="0" indent="-2286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E2EEFC"/>
                </a:solidFill>
                <a:latin typeface="Helvetica Neue"/>
                <a:ea typeface="Helvetica Neue"/>
                <a:cs typeface="Helvetica Neue"/>
              </a:rPr>
              <a:t>Own outcomes</a:t>
            </a:r>
          </a:p>
        </p:txBody>
      </p:sp>
      <p:sp>
        <p:nvSpPr>
          <p:cNvPr id="23" name="Footer Placeholder 22">
            <a:extLst xmlns:a="http://schemas.openxmlformats.org/drawingml/2006/main">
              <a:ext uri="{FF2B5EF4-FFF2-40B4-BE49-F238E27FC236}">
                <a16:creationId xmlns:a16="http://schemas.microsoft.com/office/drawing/2014/main" id="{F79DC580-131D-75FB-A6FF-8B8F199532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A9C7E8"/>
                </a:solidFill>
              </a:rPr>
              <a:t>CODEX + CLAUDE CODE</a:t>
            </a:r>
            <a:endParaRPr sz="1100"/>
          </a:p>
        </p:txBody>
      </p:sp>
      <p:sp>
        <p:nvSpPr>
          <p:cNvPr id="8" name="Slide Number Placeholder 7">
            <a:extLst xmlns:a="http://schemas.openxmlformats.org/drawingml/2006/main">
              <a:ext uri="{FF2B5EF4-FFF2-40B4-BE49-F238E27FC236}">
                <a16:creationId xmlns:a16="http://schemas.microsoft.com/office/drawing/2014/main" id="{43D8131C-4637-3473-C20E-BA4F59F9110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E060EEA-E29B-CF3D-E7B7-BE01DFE3A2D2}" type="slidenum">
              <a:rPr>
                <a:solidFill>
                  <a:srgbClr val="A9C7E8"/>
                </a:solidFill>
              </a:rPr>
              <a:t>45</a:t>
            </a:fld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526092902"/>
      </p:ext>
    </p:extLst>
  </p:cSld>
</p:sld>
</file>

<file path=ppt/slides/slide4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A3A"/>
            </a:gs>
            <a:gs pos="54000">
              <a:srgbClr val="0A2E5D"/>
            </a:gs>
            <a:gs pos="100000">
              <a:srgbClr val="0B3F7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16E6E18-DCB5-27BF-4701-D93C82ECBFD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84537" y="1681498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6800">
                <a:solidFill>
                  <a:srgbClr val="F6FAFF"/>
                </a:solidFill>
              </a:rPr>
              <a:t>Think deeply. Execute precisely.</a:t>
            </a:r>
          </a:p>
          <a:p xmlns:a="http://schemas.openxmlformats.org/drawingml/2006/main">
            <a:r>
              <a:rPr sz="6800">
                <a:solidFill>
                  <a:srgbClr val="F6FAFF"/>
                </a:solidFill>
              </a:rPr>
              <a:t>Verify with evidence.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9DF85E7E-4696-758B-00CF-3C8AE6DE93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5346700"/>
            <a:ext cx="3568700" cy="70686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E2EEFC"/>
                </a:solidFill>
              </a:rPr>
              <a:t>Use this guide as a repeatable checklist for every serious web, mobile, desktop, backend, or full-stack project.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9C23E257-E836-DD5D-F7F1-70302542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55372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7DD3FC"/>
                </a:solidFill>
                <a:latin typeface="Helvetica Neue"/>
                <a:ea typeface="Helvetica Neue"/>
                <a:cs typeface="Helvetica Neue"/>
              </a:rPr>
              <a:t>CODEX + CLAUDE CODE</a:t>
            </a:r>
          </a:p>
        </p:txBody>
      </p:sp>
    </p:spTree>
    <p:extLst>
      <p:ext uri="{BB962C8B-B14F-4D97-AF65-F5344CB8AC3E}">
        <p14:creationId xmlns:p14="http://schemas.microsoft.com/office/powerpoint/2010/main" val="3206328494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2026-10-04T15:27:55.0670000Z</dcterms:created>
  <dcterms:modified xsi:type="dcterms:W3CDTF">2026-10-04T15:27:55.0670000Z</dcterms:modified>
</coreProperties>
</file>