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41e0ab6c274889" /><Relationship Type="http://schemas.openxmlformats.org/officeDocument/2006/relationships/extended-properties" Target="/docProps/app.xml" Id="Rc54dc27fcb6b4f84" /><Relationship Type="http://schemas.openxmlformats.org/officeDocument/2006/relationships/officeDocument" Target="/ppt/presentation.xml" Id="R0dd0698eb07646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97c20a02e2484e"/>
  </p:sldMasterIdLst>
  <p:notesMasterIdLst>
    <p:notesMasterId xmlns:r="http://schemas.openxmlformats.org/officeDocument/2006/relationships" r:id="R3ce5ca7954194bc7"/>
  </p:notesMasterIdLst>
  <p:sldIdLst>
    <p:sldId xmlns:r="http://schemas.openxmlformats.org/officeDocument/2006/relationships" id="256" r:id="Rc6c799f9daff434c"/>
    <p:sldId xmlns:r="http://schemas.openxmlformats.org/officeDocument/2006/relationships" id="257" r:id="R903c918b990f4587"/>
    <p:sldId xmlns:r="http://schemas.openxmlformats.org/officeDocument/2006/relationships" id="258" r:id="Re2915592495f4f29"/>
    <p:sldId xmlns:r="http://schemas.openxmlformats.org/officeDocument/2006/relationships" id="259" r:id="R85b11c78cd7b431b"/>
    <p:sldId xmlns:r="http://schemas.openxmlformats.org/officeDocument/2006/relationships" id="260" r:id="R22f0fec69f914b58"/>
    <p:sldId xmlns:r="http://schemas.openxmlformats.org/officeDocument/2006/relationships" id="261" r:id="R883fed8f83264151"/>
    <p:sldId xmlns:r="http://schemas.openxmlformats.org/officeDocument/2006/relationships" id="262" r:id="R5d92fa8cd0104bb8"/>
    <p:sldId xmlns:r="http://schemas.openxmlformats.org/officeDocument/2006/relationships" id="263" r:id="R771d80b54eaa4194"/>
    <p:sldId xmlns:r="http://schemas.openxmlformats.org/officeDocument/2006/relationships" id="264" r:id="Rea24bb4400104e5a"/>
    <p:sldId xmlns:r="http://schemas.openxmlformats.org/officeDocument/2006/relationships" id="265" r:id="R1ca8d691160641ab"/>
    <p:sldId xmlns:r="http://schemas.openxmlformats.org/officeDocument/2006/relationships" id="266" r:id="R1a9c67533f774f0d"/>
    <p:sldId xmlns:r="http://schemas.openxmlformats.org/officeDocument/2006/relationships" id="267" r:id="Re7c306bb755644e2"/>
    <p:sldId xmlns:r="http://schemas.openxmlformats.org/officeDocument/2006/relationships" id="268" r:id="R248cdb4be71a4b94"/>
    <p:sldId xmlns:r="http://schemas.openxmlformats.org/officeDocument/2006/relationships" id="269" r:id="R37a5167f040c4414"/>
    <p:sldId xmlns:r="http://schemas.openxmlformats.org/officeDocument/2006/relationships" id="270" r:id="R0325c0f661564b6e"/>
    <p:sldId xmlns:r="http://schemas.openxmlformats.org/officeDocument/2006/relationships" id="271" r:id="Rd11b1889401642b6"/>
    <p:sldId xmlns:r="http://schemas.openxmlformats.org/officeDocument/2006/relationships" id="272" r:id="R51368163e54e4c92"/>
    <p:sldId xmlns:r="http://schemas.openxmlformats.org/officeDocument/2006/relationships" id="273" r:id="Rfbe78227156a47fe"/>
    <p:sldId xmlns:r="http://schemas.openxmlformats.org/officeDocument/2006/relationships" id="274" r:id="R3bd3b9648550401f"/>
    <p:sldId xmlns:r="http://schemas.openxmlformats.org/officeDocument/2006/relationships" id="275" r:id="Ra3291dea3e1f437b"/>
    <p:sldId xmlns:r="http://schemas.openxmlformats.org/officeDocument/2006/relationships" id="276" r:id="R5502c00bae7c4af9"/>
    <p:sldId xmlns:r="http://schemas.openxmlformats.org/officeDocument/2006/relationships" id="277" r:id="R91d4937d95b54d2d"/>
    <p:sldId xmlns:r="http://schemas.openxmlformats.org/officeDocument/2006/relationships" id="278" r:id="Ra346a82283a9444a"/>
    <p:sldId xmlns:r="http://schemas.openxmlformats.org/officeDocument/2006/relationships" id="279" r:id="R3c1477927ced4c68"/>
    <p:sldId xmlns:r="http://schemas.openxmlformats.org/officeDocument/2006/relationships" id="280" r:id="R6b954da021e14c0f"/>
    <p:sldId xmlns:r="http://schemas.openxmlformats.org/officeDocument/2006/relationships" id="281" r:id="Rd500025859f14051"/>
    <p:sldId xmlns:r="http://schemas.openxmlformats.org/officeDocument/2006/relationships" id="282" r:id="R50fac6ffe1704969"/>
    <p:sldId xmlns:r="http://schemas.openxmlformats.org/officeDocument/2006/relationships" id="283" r:id="Re13995f9fb8346c3"/>
    <p:sldId xmlns:r="http://schemas.openxmlformats.org/officeDocument/2006/relationships" id="284" r:id="Rb3fc913f983d4173"/>
    <p:sldId xmlns:r="http://schemas.openxmlformats.org/officeDocument/2006/relationships" id="285" r:id="R4081b89b62474e61"/>
    <p:sldId xmlns:r="http://schemas.openxmlformats.org/officeDocument/2006/relationships" id="286" r:id="Rd871ce34267140ff"/>
    <p:sldId xmlns:r="http://schemas.openxmlformats.org/officeDocument/2006/relationships" id="287" r:id="Rcefc678e41284dc5"/>
    <p:sldId xmlns:r="http://schemas.openxmlformats.org/officeDocument/2006/relationships" id="288" r:id="Rc6b47e04dc5749b9"/>
    <p:sldId xmlns:r="http://schemas.openxmlformats.org/officeDocument/2006/relationships" id="289" r:id="Rc3246816142f4aa5"/>
    <p:sldId xmlns:r="http://schemas.openxmlformats.org/officeDocument/2006/relationships" id="290" r:id="Rc244bf7cb8ed4cd5"/>
    <p:sldId xmlns:r="http://schemas.openxmlformats.org/officeDocument/2006/relationships" id="291" r:id="R97972020cf394b96"/>
    <p:sldId xmlns:r="http://schemas.openxmlformats.org/officeDocument/2006/relationships" id="292" r:id="Rf771f6b528d74774"/>
    <p:sldId xmlns:r="http://schemas.openxmlformats.org/officeDocument/2006/relationships" id="293" r:id="R0d65a9ac987e4e23"/>
    <p:sldId xmlns:r="http://schemas.openxmlformats.org/officeDocument/2006/relationships" id="294" r:id="Rcb45f055f4d44ed9"/>
    <p:sldId xmlns:r="http://schemas.openxmlformats.org/officeDocument/2006/relationships" id="295" r:id="R811deaf2893d4cc9"/>
    <p:sldId xmlns:r="http://schemas.openxmlformats.org/officeDocument/2006/relationships" id="296" r:id="R5ff5354d38a24d1c"/>
    <p:sldId xmlns:r="http://schemas.openxmlformats.org/officeDocument/2006/relationships" id="297" r:id="Rd2bae735033645f5"/>
    <p:sldId xmlns:r="http://schemas.openxmlformats.org/officeDocument/2006/relationships" id="298" r:id="R93b093f8d04d4333"/>
    <p:sldId xmlns:r="http://schemas.openxmlformats.org/officeDocument/2006/relationships" id="299" r:id="R8ead8025049c4d6d"/>
    <p:sldId xmlns:r="http://schemas.openxmlformats.org/officeDocument/2006/relationships" id="300" r:id="R61459281971d4368"/>
    <p:sldId xmlns:r="http://schemas.openxmlformats.org/officeDocument/2006/relationships" id="301" r:id="R90f055e2eacd4bc9"/>
    <p:sldId xmlns:r="http://schemas.openxmlformats.org/officeDocument/2006/relationships" id="302" r:id="Rda89bb26174d4354"/>
    <p:sldId xmlns:r="http://schemas.openxmlformats.org/officeDocument/2006/relationships" id="303" r:id="R1666729ab33d444c"/>
    <p:sldId xmlns:r="http://schemas.openxmlformats.org/officeDocument/2006/relationships" id="304" r:id="R8236bb81556343ca"/>
    <p:sldId xmlns:r="http://schemas.openxmlformats.org/officeDocument/2006/relationships" id="305" r:id="R62e7662d56034f78"/>
    <p:sldId xmlns:r="http://schemas.openxmlformats.org/officeDocument/2006/relationships" id="306" r:id="Rfc36caec46804e2b"/>
    <p:sldId xmlns:r="http://schemas.openxmlformats.org/officeDocument/2006/relationships" id="307" r:id="R4385390dbd994f2b"/>
    <p:sldId xmlns:r="http://schemas.openxmlformats.org/officeDocument/2006/relationships" id="308" r:id="R80e5d5ef898a496d"/>
    <p:sldId xmlns:r="http://schemas.openxmlformats.org/officeDocument/2006/relationships" id="309" r:id="Rd9bd02473c9a4106"/>
    <p:sldId xmlns:r="http://schemas.openxmlformats.org/officeDocument/2006/relationships" id="310" r:id="R937450db02d342df"/>
    <p:sldId xmlns:r="http://schemas.openxmlformats.org/officeDocument/2006/relationships" id="311" r:id="Rf80758f36a074068"/>
    <p:sldId xmlns:r="http://schemas.openxmlformats.org/officeDocument/2006/relationships" id="312" r:id="R55951e42d30e48da"/>
    <p:sldId xmlns:r="http://schemas.openxmlformats.org/officeDocument/2006/relationships" id="313" r:id="R04b7513ac6e54c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b979a04844d0a" /><Relationship Type="http://schemas.openxmlformats.org/officeDocument/2006/relationships/slideMaster" Target="/ppt/slideMasters/slideMaster1.xml" Id="Rf497c20a02e2484e" /><Relationship Type="http://schemas.openxmlformats.org/officeDocument/2006/relationships/notesMaster" Target="/ppt/notesMasters/notesMaster1.xml" Id="R3ce5ca7954194bc7" /><Relationship Type="http://schemas.openxmlformats.org/officeDocument/2006/relationships/presProps" Target="/ppt/presProps.xml" Id="Rcb06102ef9774701" /><Relationship Type="http://schemas.openxmlformats.org/officeDocument/2006/relationships/viewProps" Target="/ppt/viewProps.xml" Id="R01c22f78d86f4df5" /><Relationship Type="http://schemas.openxmlformats.org/officeDocument/2006/relationships/tableStyles" Target="/ppt/tableStyles.xml" Id="Rc77f286f79f94d54" /><Relationship Type="http://schemas.openxmlformats.org/officeDocument/2006/relationships/slide" Target="/ppt/slides/slide1.xml" Id="Rc6c799f9daff434c" /><Relationship Type="http://schemas.openxmlformats.org/officeDocument/2006/relationships/slide" Target="/ppt/slides/slide2.xml" Id="R903c918b990f4587" /><Relationship Type="http://schemas.openxmlformats.org/officeDocument/2006/relationships/slide" Target="/ppt/slides/slide3.xml" Id="Re2915592495f4f29" /><Relationship Type="http://schemas.openxmlformats.org/officeDocument/2006/relationships/slide" Target="/ppt/slides/slide4.xml" Id="R85b11c78cd7b431b" /><Relationship Type="http://schemas.openxmlformats.org/officeDocument/2006/relationships/slide" Target="/ppt/slides/slide5.xml" Id="R22f0fec69f914b58" /><Relationship Type="http://schemas.openxmlformats.org/officeDocument/2006/relationships/slide" Target="/ppt/slides/slide6.xml" Id="R883fed8f83264151" /><Relationship Type="http://schemas.openxmlformats.org/officeDocument/2006/relationships/slide" Target="/ppt/slides/slide7.xml" Id="R5d92fa8cd0104bb8" /><Relationship Type="http://schemas.openxmlformats.org/officeDocument/2006/relationships/slide" Target="/ppt/slides/slide8.xml" Id="R771d80b54eaa4194" /><Relationship Type="http://schemas.openxmlformats.org/officeDocument/2006/relationships/slide" Target="/ppt/slides/slide9.xml" Id="Rea24bb4400104e5a" /><Relationship Type="http://schemas.openxmlformats.org/officeDocument/2006/relationships/slide" Target="/ppt/slides/slide10.xml" Id="R1ca8d691160641ab" /><Relationship Type="http://schemas.openxmlformats.org/officeDocument/2006/relationships/slide" Target="/ppt/slides/slide11.xml" Id="R1a9c67533f774f0d" /><Relationship Type="http://schemas.openxmlformats.org/officeDocument/2006/relationships/slide" Target="/ppt/slides/slide12.xml" Id="Re7c306bb755644e2" /><Relationship Type="http://schemas.openxmlformats.org/officeDocument/2006/relationships/slide" Target="/ppt/slides/slide13.xml" Id="R248cdb4be71a4b94" /><Relationship Type="http://schemas.openxmlformats.org/officeDocument/2006/relationships/slide" Target="/ppt/slides/slide14.xml" Id="R37a5167f040c4414" /><Relationship Type="http://schemas.openxmlformats.org/officeDocument/2006/relationships/slide" Target="/ppt/slides/slide15.xml" Id="R0325c0f661564b6e" /><Relationship Type="http://schemas.openxmlformats.org/officeDocument/2006/relationships/slide" Target="/ppt/slides/slide16.xml" Id="Rd11b1889401642b6" /><Relationship Type="http://schemas.openxmlformats.org/officeDocument/2006/relationships/slide" Target="/ppt/slides/slide17.xml" Id="R51368163e54e4c92" /><Relationship Type="http://schemas.openxmlformats.org/officeDocument/2006/relationships/slide" Target="/ppt/slides/slide18.xml" Id="Rfbe78227156a47fe" /><Relationship Type="http://schemas.openxmlformats.org/officeDocument/2006/relationships/slide" Target="/ppt/slides/slide19.xml" Id="R3bd3b9648550401f" /><Relationship Type="http://schemas.openxmlformats.org/officeDocument/2006/relationships/slide" Target="/ppt/slides/slide20.xml" Id="Ra3291dea3e1f437b" /><Relationship Type="http://schemas.openxmlformats.org/officeDocument/2006/relationships/slide" Target="/ppt/slides/slide21.xml" Id="R5502c00bae7c4af9" /><Relationship Type="http://schemas.openxmlformats.org/officeDocument/2006/relationships/slide" Target="/ppt/slides/slide22.xml" Id="R91d4937d95b54d2d" /><Relationship Type="http://schemas.openxmlformats.org/officeDocument/2006/relationships/slide" Target="/ppt/slides/slide23.xml" Id="Ra346a82283a9444a" /><Relationship Type="http://schemas.openxmlformats.org/officeDocument/2006/relationships/slide" Target="/ppt/slides/slide24.xml" Id="R3c1477927ced4c68" /><Relationship Type="http://schemas.openxmlformats.org/officeDocument/2006/relationships/slide" Target="/ppt/slides/slide25.xml" Id="R6b954da021e14c0f" /><Relationship Type="http://schemas.openxmlformats.org/officeDocument/2006/relationships/slide" Target="/ppt/slides/slide26.xml" Id="Rd500025859f14051" /><Relationship Type="http://schemas.openxmlformats.org/officeDocument/2006/relationships/slide" Target="/ppt/slides/slide27.xml" Id="R50fac6ffe1704969" /><Relationship Type="http://schemas.openxmlformats.org/officeDocument/2006/relationships/slide" Target="/ppt/slides/slide28.xml" Id="Re13995f9fb8346c3" /><Relationship Type="http://schemas.openxmlformats.org/officeDocument/2006/relationships/slide" Target="/ppt/slides/slide29.xml" Id="Rb3fc913f983d4173" /><Relationship Type="http://schemas.openxmlformats.org/officeDocument/2006/relationships/slide" Target="/ppt/slides/slide30.xml" Id="R4081b89b62474e61" /><Relationship Type="http://schemas.openxmlformats.org/officeDocument/2006/relationships/slide" Target="/ppt/slides/slide31.xml" Id="Rd871ce34267140ff" /><Relationship Type="http://schemas.openxmlformats.org/officeDocument/2006/relationships/slide" Target="/ppt/slides/slide32.xml" Id="Rcefc678e41284dc5" /><Relationship Type="http://schemas.openxmlformats.org/officeDocument/2006/relationships/slide" Target="/ppt/slides/slide33.xml" Id="Rc6b47e04dc5749b9" /><Relationship Type="http://schemas.openxmlformats.org/officeDocument/2006/relationships/slide" Target="/ppt/slides/slide34.xml" Id="Rc3246816142f4aa5" /><Relationship Type="http://schemas.openxmlformats.org/officeDocument/2006/relationships/slide" Target="/ppt/slides/slide35.xml" Id="Rc244bf7cb8ed4cd5" /><Relationship Type="http://schemas.openxmlformats.org/officeDocument/2006/relationships/slide" Target="/ppt/slides/slide36.xml" Id="R97972020cf394b96" /><Relationship Type="http://schemas.openxmlformats.org/officeDocument/2006/relationships/slide" Target="/ppt/slides/slide37.xml" Id="Rf771f6b528d74774" /><Relationship Type="http://schemas.openxmlformats.org/officeDocument/2006/relationships/slide" Target="/ppt/slides/slide38.xml" Id="R0d65a9ac987e4e23" /><Relationship Type="http://schemas.openxmlformats.org/officeDocument/2006/relationships/slide" Target="/ppt/slides/slide39.xml" Id="Rcb45f055f4d44ed9" /><Relationship Type="http://schemas.openxmlformats.org/officeDocument/2006/relationships/slide" Target="/ppt/slides/slide40.xml" Id="R811deaf2893d4cc9" /><Relationship Type="http://schemas.openxmlformats.org/officeDocument/2006/relationships/slide" Target="/ppt/slides/slide41.xml" Id="R5ff5354d38a24d1c" /><Relationship Type="http://schemas.openxmlformats.org/officeDocument/2006/relationships/slide" Target="/ppt/slides/slide42.xml" Id="Rd2bae735033645f5" /><Relationship Type="http://schemas.openxmlformats.org/officeDocument/2006/relationships/slide" Target="/ppt/slides/slide43.xml" Id="R93b093f8d04d4333" /><Relationship Type="http://schemas.openxmlformats.org/officeDocument/2006/relationships/slide" Target="/ppt/slides/slide44.xml" Id="R8ead8025049c4d6d" /><Relationship Type="http://schemas.openxmlformats.org/officeDocument/2006/relationships/slide" Target="/ppt/slides/slide45.xml" Id="R61459281971d4368" /><Relationship Type="http://schemas.openxmlformats.org/officeDocument/2006/relationships/slide" Target="/ppt/slides/slide46.xml" Id="R90f055e2eacd4bc9" /><Relationship Type="http://schemas.openxmlformats.org/officeDocument/2006/relationships/slide" Target="/ppt/slides/slide47.xml" Id="Rda89bb26174d4354" /><Relationship Type="http://schemas.openxmlformats.org/officeDocument/2006/relationships/slide" Target="/ppt/slides/slide48.xml" Id="R1666729ab33d444c" /><Relationship Type="http://schemas.openxmlformats.org/officeDocument/2006/relationships/slide" Target="/ppt/slides/slide49.xml" Id="R8236bb81556343ca" /><Relationship Type="http://schemas.openxmlformats.org/officeDocument/2006/relationships/slide" Target="/ppt/slides/slide50.xml" Id="R62e7662d56034f78" /><Relationship Type="http://schemas.openxmlformats.org/officeDocument/2006/relationships/slide" Target="/ppt/slides/slide51.xml" Id="Rfc36caec46804e2b" /><Relationship Type="http://schemas.openxmlformats.org/officeDocument/2006/relationships/slide" Target="/ppt/slides/slide52.xml" Id="R4385390dbd994f2b" /><Relationship Type="http://schemas.openxmlformats.org/officeDocument/2006/relationships/slide" Target="/ppt/slides/slide53.xml" Id="R80e5d5ef898a496d" /><Relationship Type="http://schemas.openxmlformats.org/officeDocument/2006/relationships/slide" Target="/ppt/slides/slide54.xml" Id="Rd9bd02473c9a4106" /><Relationship Type="http://schemas.openxmlformats.org/officeDocument/2006/relationships/slide" Target="/ppt/slides/slide55.xml" Id="R937450db02d342df" /><Relationship Type="http://schemas.openxmlformats.org/officeDocument/2006/relationships/slide" Target="/ppt/slides/slide56.xml" Id="Rf80758f36a074068" /><Relationship Type="http://schemas.openxmlformats.org/officeDocument/2006/relationships/slide" Target="/ppt/slides/slide57.xml" Id="R55951e42d30e48da" /><Relationship Type="http://schemas.openxmlformats.org/officeDocument/2006/relationships/slide" Target="/ppt/slides/slide58.xml" Id="R04b7513ac6e54c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74834d65054a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33d37cd51646c3" /><Relationship Type="http://schemas.openxmlformats.org/officeDocument/2006/relationships/notesMaster" Target="/ppt/notesMasters/notesMaster1.xml" Id="R5dbf91cc67f541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8df67361e643d3" /><Relationship Type="http://schemas.openxmlformats.org/officeDocument/2006/relationships/notesMaster" Target="/ppt/notesMasters/notesMaster1.xml" Id="R504f0e93b9f343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b851681891404d" /><Relationship Type="http://schemas.openxmlformats.org/officeDocument/2006/relationships/notesMaster" Target="/ppt/notesMasters/notesMaster1.xml" Id="R1b13710a6fb642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cdbb7150514a1c" /><Relationship Type="http://schemas.openxmlformats.org/officeDocument/2006/relationships/notesMaster" Target="/ppt/notesMasters/notesMaster1.xml" Id="R604a45bb2f5a4b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468c5a492e4967" /><Relationship Type="http://schemas.openxmlformats.org/officeDocument/2006/relationships/notesMaster" Target="/ppt/notesMasters/notesMaster1.xml" Id="R269f19fa19dd4a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a862da3c6f43a7" /><Relationship Type="http://schemas.openxmlformats.org/officeDocument/2006/relationships/notesMaster" Target="/ppt/notesMasters/notesMaster1.xml" Id="R2fc4f4d9619546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51ff5f67b94d35" /><Relationship Type="http://schemas.openxmlformats.org/officeDocument/2006/relationships/notesMaster" Target="/ppt/notesMasters/notesMaster1.xml" Id="Rac7e8887ccd44c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6d5434e3b848ad" /><Relationship Type="http://schemas.openxmlformats.org/officeDocument/2006/relationships/notesMaster" Target="/ppt/notesMasters/notesMaster1.xml" Id="R486eb9b7ceef48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254be91f09442b" /><Relationship Type="http://schemas.openxmlformats.org/officeDocument/2006/relationships/notesMaster" Target="/ppt/notesMasters/notesMaster1.xml" Id="Rf1b84a339fa34c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76eda0727842fd" /><Relationship Type="http://schemas.openxmlformats.org/officeDocument/2006/relationships/notesMaster" Target="/ppt/notesMasters/notesMaster1.xml" Id="Ra12e316083684c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41b9362dd84581" /><Relationship Type="http://schemas.openxmlformats.org/officeDocument/2006/relationships/notesMaster" Target="/ppt/notesMasters/notesMaster1.xml" Id="Rd376198e59b54a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f87cf6f8aa472d" /><Relationship Type="http://schemas.openxmlformats.org/officeDocument/2006/relationships/notesMaster" Target="/ppt/notesMasters/notesMaster1.xml" Id="Rb95b8a0ad3524a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4396cde9944085" /><Relationship Type="http://schemas.openxmlformats.org/officeDocument/2006/relationships/notesMaster" Target="/ppt/notesMasters/notesMaster1.xml" Id="R1414d692877d49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c42eb7682c4d3a" /><Relationship Type="http://schemas.openxmlformats.org/officeDocument/2006/relationships/notesMaster" Target="/ppt/notesMasters/notesMaster1.xml" Id="R5203ac60567444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d0a48b3319440b" /><Relationship Type="http://schemas.openxmlformats.org/officeDocument/2006/relationships/notesMaster" Target="/ppt/notesMasters/notesMaster1.xml" Id="R5c4f192c061b48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ad341728e54710" /><Relationship Type="http://schemas.openxmlformats.org/officeDocument/2006/relationships/notesMaster" Target="/ppt/notesMasters/notesMaster1.xml" Id="R15cae691ae7d4f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6e48cd45064495" /><Relationship Type="http://schemas.openxmlformats.org/officeDocument/2006/relationships/notesMaster" Target="/ppt/notesMasters/notesMaster1.xml" Id="R9f03d8501fd744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f7b5b3bcf2405e" /><Relationship Type="http://schemas.openxmlformats.org/officeDocument/2006/relationships/notesMaster" Target="/ppt/notesMasters/notesMaster1.xml" Id="R19273057536b42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0affd67e6647d8" /><Relationship Type="http://schemas.openxmlformats.org/officeDocument/2006/relationships/notesMaster" Target="/ppt/notesMasters/notesMaster1.xml" Id="R7028e6bfb80447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0c52580d90249b1" /><Relationship Type="http://schemas.openxmlformats.org/officeDocument/2006/relationships/notesMaster" Target="/ppt/notesMasters/notesMaster1.xml" Id="Rc1c6709048d8473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bf8645e6e13487e" /><Relationship Type="http://schemas.openxmlformats.org/officeDocument/2006/relationships/notesMaster" Target="/ppt/notesMasters/notesMaster1.xml" Id="R884d0fce25b440d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ac20096be47436a" /><Relationship Type="http://schemas.openxmlformats.org/officeDocument/2006/relationships/notesMaster" Target="/ppt/notesMasters/notesMaster1.xml" Id="R46dee4a6a7a74a6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952b62d43c485f" /><Relationship Type="http://schemas.openxmlformats.org/officeDocument/2006/relationships/notesMaster" Target="/ppt/notesMasters/notesMaster1.xml" Id="R15e00fdb14fd4ed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1fb06db15e24d79" /><Relationship Type="http://schemas.openxmlformats.org/officeDocument/2006/relationships/notesMaster" Target="/ppt/notesMasters/notesMaster1.xml" Id="Ra4820d7cdc0b4ce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72d1c00993447ca" /><Relationship Type="http://schemas.openxmlformats.org/officeDocument/2006/relationships/notesMaster" Target="/ppt/notesMasters/notesMaster1.xml" Id="R23560776d83d476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9abd71c54364dbb" /><Relationship Type="http://schemas.openxmlformats.org/officeDocument/2006/relationships/notesMaster" Target="/ppt/notesMasters/notesMaster1.xml" Id="Rac50666f205a47d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ac5e06910744888" /><Relationship Type="http://schemas.openxmlformats.org/officeDocument/2006/relationships/notesMaster" Target="/ppt/notesMasters/notesMaster1.xml" Id="R96ea3f2bbd3b4dd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f4116c1d7c04ee8" /><Relationship Type="http://schemas.openxmlformats.org/officeDocument/2006/relationships/notesMaster" Target="/ppt/notesMasters/notesMaster1.xml" Id="Rfa23e51b5ff4428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0d8b2b36ed34ed9" /><Relationship Type="http://schemas.openxmlformats.org/officeDocument/2006/relationships/notesMaster" Target="/ppt/notesMasters/notesMaster1.xml" Id="Ra1e3f04bb36d47c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92f6a8048044d57" /><Relationship Type="http://schemas.openxmlformats.org/officeDocument/2006/relationships/notesMaster" Target="/ppt/notesMasters/notesMaster1.xml" Id="R3f5d272cdd8042f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ac9fe7210504fcb" /><Relationship Type="http://schemas.openxmlformats.org/officeDocument/2006/relationships/notesMaster" Target="/ppt/notesMasters/notesMaster1.xml" Id="R19d823a9d6524eb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7f220bca5f0496a" /><Relationship Type="http://schemas.openxmlformats.org/officeDocument/2006/relationships/notesMaster" Target="/ppt/notesMasters/notesMaster1.xml" Id="R7b76b273f543447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921dffe699742d8" /><Relationship Type="http://schemas.openxmlformats.org/officeDocument/2006/relationships/notesMaster" Target="/ppt/notesMasters/notesMaster1.xml" Id="Re8acadb1bf804bc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4d2b1a7787c4c50" /><Relationship Type="http://schemas.openxmlformats.org/officeDocument/2006/relationships/notesMaster" Target="/ppt/notesMasters/notesMaster1.xml" Id="R47638b23a4144af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3f8f0bbff3c4800" /><Relationship Type="http://schemas.openxmlformats.org/officeDocument/2006/relationships/notesMaster" Target="/ppt/notesMasters/notesMaster1.xml" Id="Rcff5fbef4bc642a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e87464515a44f30" /><Relationship Type="http://schemas.openxmlformats.org/officeDocument/2006/relationships/notesMaster" Target="/ppt/notesMasters/notesMaster1.xml" Id="R54614fc587da40d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a240b22555349cb" /><Relationship Type="http://schemas.openxmlformats.org/officeDocument/2006/relationships/notesMaster" Target="/ppt/notesMasters/notesMaster1.xml" Id="R6c5a395814cf4da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1ae2df0d1e548ed" /><Relationship Type="http://schemas.openxmlformats.org/officeDocument/2006/relationships/notesMaster" Target="/ppt/notesMasters/notesMaster1.xml" Id="R341d3e89bab041c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a024547cb2845c2" /><Relationship Type="http://schemas.openxmlformats.org/officeDocument/2006/relationships/notesMaster" Target="/ppt/notesMasters/notesMaster1.xml" Id="Red2dfad7920d4d8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50b8133ddbe4119" /><Relationship Type="http://schemas.openxmlformats.org/officeDocument/2006/relationships/notesMaster" Target="/ppt/notesMasters/notesMaster1.xml" Id="Rd1861f2f0c7e4d8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a2d3a6f3ba7484f" /><Relationship Type="http://schemas.openxmlformats.org/officeDocument/2006/relationships/notesMaster" Target="/ppt/notesMasters/notesMaster1.xml" Id="R2a5433df736e451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c350a61932f4109" /><Relationship Type="http://schemas.openxmlformats.org/officeDocument/2006/relationships/notesMaster" Target="/ppt/notesMasters/notesMaster1.xml" Id="R743e413c328b401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71159706c4e40ca" /><Relationship Type="http://schemas.openxmlformats.org/officeDocument/2006/relationships/notesMaster" Target="/ppt/notesMasters/notesMaster1.xml" Id="R1923fea7f6224a3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5d6311f9ccb4fc7" /><Relationship Type="http://schemas.openxmlformats.org/officeDocument/2006/relationships/notesMaster" Target="/ppt/notesMasters/notesMaster1.xml" Id="Ra985270533c943e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b9287b4f85842ee" /><Relationship Type="http://schemas.openxmlformats.org/officeDocument/2006/relationships/notesMaster" Target="/ppt/notesMasters/notesMaster1.xml" Id="Rc4911a4557f54af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8fefd91251c4a98" /><Relationship Type="http://schemas.openxmlformats.org/officeDocument/2006/relationships/notesMaster" Target="/ppt/notesMasters/notesMaster1.xml" Id="R95e5841a64614b1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ea1e72139ea4ba2" /><Relationship Type="http://schemas.openxmlformats.org/officeDocument/2006/relationships/notesMaster" Target="/ppt/notesMasters/notesMaster1.xml" Id="R56747645c0694fc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4bec33326fd45f1" /><Relationship Type="http://schemas.openxmlformats.org/officeDocument/2006/relationships/notesMaster" Target="/ppt/notesMasters/notesMaster1.xml" Id="Rf01a582564424e9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e9994f5e4214812" /><Relationship Type="http://schemas.openxmlformats.org/officeDocument/2006/relationships/notesMaster" Target="/ppt/notesMasters/notesMaster1.xml" Id="R324003dcff8c44f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0295366691c4ba5" /><Relationship Type="http://schemas.openxmlformats.org/officeDocument/2006/relationships/notesMaster" Target="/ppt/notesMasters/notesMaster1.xml" Id="R2c889c33b1da4cc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2e2e815aec14732" /><Relationship Type="http://schemas.openxmlformats.org/officeDocument/2006/relationships/notesMaster" Target="/ppt/notesMasters/notesMaster1.xml" Id="Rb872714809704f6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c06f85f4ed548fd" /><Relationship Type="http://schemas.openxmlformats.org/officeDocument/2006/relationships/notesMaster" Target="/ppt/notesMasters/notesMaster1.xml" Id="R69fb8e6f81f74a8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ee7bdd54b1c74c64" /><Relationship Type="http://schemas.openxmlformats.org/officeDocument/2006/relationships/notesMaster" Target="/ppt/notesMasters/notesMaster1.xml" Id="Rb98557d25b194aa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3d48b656cf149cc" /><Relationship Type="http://schemas.openxmlformats.org/officeDocument/2006/relationships/notesMaster" Target="/ppt/notesMasters/notesMaster1.xml" Id="Rdbfe0832493c438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b208646aa144449" /><Relationship Type="http://schemas.openxmlformats.org/officeDocument/2006/relationships/notesMaster" Target="/ppt/notesMasters/notesMaster1.xml" Id="Red116823ab2d475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089bb5040e345cb" /><Relationship Type="http://schemas.openxmlformats.org/officeDocument/2006/relationships/notesMaster" Target="/ppt/notesMasters/notesMaster1.xml" Id="R02ade4df301646c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3e4bb39e43f1411d" /><Relationship Type="http://schemas.openxmlformats.org/officeDocument/2006/relationships/notesMaster" Target="/ppt/notesMasters/notesMaster1.xml" Id="Rb09dba78937d483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f86f20a54b949ca" /><Relationship Type="http://schemas.openxmlformats.org/officeDocument/2006/relationships/notesMaster" Target="/ppt/notesMasters/notesMaster1.xml" Id="R3b811e09433349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C:/Users/yonim/Documents/Codex/2026-08-23/codex-senior-programmer-guide-chatgpt-conversation/work/presentation/original-guide.pptx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https://learn.chatgpt.com/docs/agent-configuration/agents-md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https://learn.chatgpt.com/docs/prompting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https://developers.openai.com/api/docs/guides/latest-model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C:/Users/yonim/Documents/Codex/2026-08-23/codex-senior-programmer-guide-chatgpt-conversation/work/presentation/original-guide.pptx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C:/Users/yonim/Documents/Codex/2026-08-23/codex-senior-programmer-guide-chatgpt-conversation/work/presentation/original-guide.pptx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C:/Users/yonim/Documents/Codex/2026-08-23/codex-senior-programmer-guide-chatgpt-conversation/work/presentation/original-guide.pptx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C:/Users/yonim/Documents/Codex/2026-08-23/codex-senior-programmer-guide-chatgpt-conversation/work/presentation/claude-prompting-guide.txt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C:/Users/yonim/Documents/Codex/2026-08-23/codex-senior-programmer-guide-chatgpt-conversation/work/presentation/claude-prompting-guide.txt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C:/Users/yonim/Documents/Codex/2026-08-23/codex-senior-programmer-guide-chatgpt-conversation/work/presentation/claude-prompting-guide.txt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C:/Users/yonim/Documents/Codex/2026-08-23/codex-senior-programmer-guide-chatgpt-conversation/work/presentation/claude-prompting-guide.txt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C:/Users/yonim/Documents/Codex/2026-08-23/codex-senior-programmer-guide-chatgpt-conversation/work/presentation/claude-prompting-guide.txt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https://learn.chatgpt.com/docs/prompting</a:t>
            </a:r>
          </a:p>
          <a:p xmlns:a="http://schemas.openxmlformats.org/drawingml/2006/main">
            <a:r>
              <a:t>- https://developers.openai.com/cookbook/examples/gpt-5/codex_prompting_guide</a:t>
            </a:r>
          </a:p>
          <a:p xmlns:a="http://schemas.openxmlformats.org/drawingml/2006/main">
            <a:r>
              <a:t>- https://developers.openai.com/api/docs/guides/latest-model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https://learn.chatgpt.com/docs/prompting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https://developers.openai.com/cookbook/examples/gpt-5/codex_prompting_guide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https://developers.openai.com/api/docs/guides/latest-model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https://learn.chatgpt.com/docs/prompting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https://developers.openai.com/cookbook/examples/gpt-5/codex_prompting_guide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https://developers.openai.com/api/docs/guides/latest-model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https://learn.chatgpt.com/docs/prompting</a:t>
            </a:r>
          </a:p>
          <a:p xmlns:a="http://schemas.openxmlformats.org/drawingml/2006/main">
            <a:r>
              <a:t>- https://developers.openai.com/cookbook/examples/gpt-5/codex_prompting_guide</a:t>
            </a:r>
          </a:p>
          <a:p xmlns:a="http://schemas.openxmlformats.org/drawingml/2006/main">
            <a:r>
              <a:t>- https://developers.openai.com/api/docs/guides/latest-model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https://learn.chatgpt.com/docs/prompting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https://developers.openai.com/cookbook/examples/gpt-5/codex_prompting_guide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https://developers.openai.com/api/docs/guides/latest-model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https://learn.chatgpt.com/docs/prompting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https://developers.openai.com/cookbook/examples/gpt-5/codex_prompting_guide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https://developers.openai.com/api/docs/guides/latest-model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https://developers.openai.com/api/docs/models</a:t>
            </a:r>
            <a:endParaRPr/>
          </a:p>
          <a:p xmlns:a="http://schemas.openxmlformats.org/drawingml/2006/main">
            <a:r>
              <a:t>- https://developers.openai.com/api/docs/guides/latest-model</a:t>
            </a:r>
            <a:endParaRPr/>
          </a:p>
          <a:p xmlns:a="http://schemas.openxmlformats.org/drawingml/2006/main">
            <a:r>
              <a:t>- https://learn.chatgpt.com/docs/models</a:t>
            </a:r>
            <a:endParaRPr/>
          </a:p>
          <a:p xmlns:a="http://schemas.openxmlformats.org/drawingml/2006/main">
            <a:r>
              <a:t>- https://www.anthropic.com/transparency</a:t>
            </a:r>
            <a:endParaRPr/>
          </a:p>
          <a:p xmlns:a="http://schemas.openxmlformats.org/drawingml/2006/main">
            <a:r>
              <a:t>- https://platform.claude.com/docs/en/about-claude/model-deprecations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https://developers.openai.com/api/docs/models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https://learn.chatgpt.com/docs/models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https://code.claude.com/docs/en/cli-usage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https://developers.openai.com/api/docs/models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https://developers.openai.com/api/docs/guides/latest-model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https://developers.openai.com/api/docs/guides/model-selection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https://learn.chatgpt.com/docs/models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https://developers.openai.com/api/docs/models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https://developers.openai.com/api/docs/guides/latest-model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https://developers.openai.com/api/docs/guides/model-selection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https://developers.openai.com/api/docs/guides/latest-model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https://learn.chatgpt.com/docs/models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https://learn.chatgpt.com/docs/whats-new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https://developers.openai.com/api/docs/models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https://www.anthropic.com/transparency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https://platform.claude.com/docs/en/about-claude/model-deprecations</a:t>
            </a:r>
            <a:endParaRPr/>
          </a:p>
          <a:p xmlns:a="http://schemas.openxmlformats.org/drawingml/2006/main">
            <a:r>
              <a:t>
[Version 2 update checked 2026-10-10]
- https://platform.claude.com/docs/en/models/haiku-5-5/overview
Haiku 5.5: claude-haiku-5-5; released October 7, 2026; medium default effort. Evaluate bounded tasks for latency, cost, and correctness.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https://platform.claude.com/docs/en/about-claude/model-deprecations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https://www.anthropic.com/transparency</a:t>
            </a:r>
            <a:endParaRPr/>
          </a:p>
          <a:p xmlns:a="http://schemas.openxmlformats.org/drawingml/2006/main">
            <a:r>
              <a:t>
[Version 2 update checked 2026-10-10]
- https://platform.claude.com/docs/en/models/haiku-5-5/overview
Haiku 5.5: claude-haiku-5-5; released October 7, 2026; medium default effort. Evaluate bounded tasks for latency, cost, and correctness.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https://code.claude.com/docs/en/cli-usage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https://platform.claude.com/docs/en/build-with-claude/prompt-engineering/claude-prompting-best-practices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https://developers.openai.com/api/docs/guides/latest-model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https://developers.openai.com/api/docs/guides/model-selection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https://learn.chatgpt.com/docs/models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https://www.anthropic.com/transparency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https://code.claude.com/docs/en/cli-usage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[Note] Recommendations on this slide are an inference from the cited first-party guidance and should be validated on the team's own tasks.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https://developers.openai.com/api/docs/guides/latest-model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https://developers.openai.com/api/docs/guides/model-selection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https://www.anthropic.com/transparency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https://code.claude.com/docs/en/cli-usage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[Note] Recommendations on this slide are an inference from the cited first-party guidance and should be validated on the team's own tasks.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https://developers.openai.com/api/docs/guides/model-selection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https://platform.claude.com/docs/en/build-with-claude/prompt-engineering/claude-prompting-best-practices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[Note] Recommendations on this slide are an inference from the cited first-party guidance and should be validated on the team's own tasks.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 checked 2026-10-10]</a:t>
            </a:r>
            <a:endParaRPr/>
          </a:p>
          <a:p xmlns:a="http://schemas.openxmlformats.org/drawingml/2006/main">
            <a:r>
              <a:t>- https://learn.chatgpt.com/docs/models</a:t>
            </a:r>
            <a:endParaRPr/>
          </a:p>
          <a:p xmlns:a="http://schemas.openxmlformats.org/drawingml/2006/main">
            <a:r>
              <a:t>- https://platform.claude.com/docs/en/build-with-claude/prompt-engineering/prompting-claude-fable-5</a:t>
            </a:r>
            <a:endParaRPr/>
          </a:p>
          <a:p xmlns:a="http://schemas.openxmlformats.org/drawingml/2006/main">
            <a:r>
              <a:t>- https://platform.claude.com/docs/en/build-with-claude/prompt-engineering/prompting-claude-opus-5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 checked 2026-10-10]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https://learn.chatgpt.com/docs/models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https://learn.chatgpt.com/docs/prompting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https://platform.claude.com/docs/en/build-with-claude/prompt-engineering/prompting-claude-fable-5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https://platform.claude.com/docs/en/build-with-claude/prompt-engineering/prompting-claude-opus-5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 checked 2026-10-10]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https://learn.chatgpt.com/docs/models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https://platform.claude.com/docs/en/models/fable-5-1/overview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https://platform.claude.com/docs/en/release-notes/system-prompts/claude-opus-5-5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https://platform.claude.com/docs/en/build-with-claude/prompt-engineering/prompting-claude-fable-5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https://platform.claude.com/docs/en/build-with-claude/prompt-engineering/prompting-claude-opus-5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Example steering: Choose a task-fit approach. Explain a consequential design tradeoff briefly, recommend one option, and implement the accepted outcome.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 checked 2026-10-10]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https://learn.chatgpt.com/blog/rethinking-skills-and-prompts-for-gpt-6-astra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https://learn.chatgpt.com/docs/models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Example steering: Keep this change focused. Follow repository conventions and report changed files plus actual command results.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 checked 2026-10-10]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https://learn.chatgpt.com/docs/models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https://learn.chatgpt.com/docs/prompting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Exact requested version: claude-fable-5. Request concise conclusions and evidence, not private reasoning. Independent delegation needs suitable tools and explicit scope.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 checked 2026-10-10]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https://platform.claude.com/docs/en/build-with-claude/prompt-engineering/prompting-claude-fable-5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Exact requested version: claude-opus-5. Keep thinking enabled; reduce effort to manage cost. Cap delegation where useful. Explain decisions briefly without exposing private reasoning.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 checked 2026-10-10]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https://platform.claude.com/docs/en/build-with-claude/prompt-engineering/prompting-claude-opus-5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example template; not a provider guarantee.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Implement [feature] for [user and problem].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Repository and stack: [paths, framework, language, runtime].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Relevant specification: [file or attached document].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behavior: [inputs, outputs, loading/error/success states].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Acceptance criteria: [observable outcomes and relevant project checks].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Constraints: [public contracts, design rules, files in scope].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Authorized actions: [local edits / commands / commits / deployment].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Deliver the working change and a concise evidence-based handoff.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 checked 2026-10-10]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https://learn.chatgpt.com/docs/prompting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example template.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Resolve [specific defect] in [component or service].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Environment: [OS, browser, runtime, branch, account type].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Reproduction: [steps, inputs, exact observed failure].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 behavior: [correct result].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[log, stack trace, screenshot, failed command].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Constraints: [compatibility and scope].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Authorized actions: [local edits and relevant execution].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Find the cause and deliver a focused correction; distinguish verified behavior from remaining uncertainty.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 checked 2026-10-10]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https://learn.chatgpt.com/docs/prompting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example template.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Review [branch or complete diff] against [base and specification].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Context: [architecture, contracts, callers, deployment environment].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Focus: [correctness, state, data integrity, access control, accessibility].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Return supported findings with file and location, impact, evidence, and a practical correction. Distinguish observed defects from concerns needing investigation.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First pass is assessment only; keep files unchanged. Include severity levels, then order by impact.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 checked 2026-10-10]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https://platform.claude.com/docs/en/build-with-claude/prompt-engineering/prompting-claude-opus-5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https://learn.chatgpt.com/docs/prompting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practice loop is an editorial recommendation, not a universal model ranking. Examples are deliberately reusable across tools.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 checked 2026-10-10]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https://learn.chatgpt.com/docs/prompting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https://learn.chatgpt.com/docs/models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https://platform.claude.com/docs/en/build-with-claude/prompt-engineering/prompting-claude-fable-5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https://platform.claude.com/docs/en/build-with-claude/prompt-engineering/prompting-claude-opus-5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Interactive site: https://codex-claude-senior-programmer-guid.vercel.app/#mastery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 checked 2026-10-10]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https://learn.chatgpt.com/docs/models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https://learn.chatgpt.com/blog/rethinking-skills-and-prompts-for-gpt-6-astra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https://learn.chatgpt.com/docs/prompting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https://platform.claude.com/docs/en/build-with-claude/prompt-engineering/prompting-claude-fable-5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https://platform.claude.com/docs/en/build-with-claude/prompt-engineering/prompting-claude-opus-5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https://platform.claude.com/docs/en/models/fable-5-1/overview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https://platform.claude.com/docs/en/release-notes/system-prompts/claude-opus-5-5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https://codex-claude-senior-programmer-guid.vercel.app/#mastery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C:/Users/yonim/Documents/Codex/2026-08-23/codex-senior-programmer-guide-chatgpt-conversation/work/presentation/original-guide.pptx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C:/Users/yonim/Documents/Codex/2026-08-23/codex-senior-programmer-guide-chatgpt-conversation/work/presentation/original-guide.pptx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031209c6bb4b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3556aa2c444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726a1c2c14c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a98c60d334b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4062e78c04b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c4c2af8c0461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cf744950b44b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a46ed36df4d4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0d25f9d3949d9" /><Relationship Type="http://schemas.openxmlformats.org/officeDocument/2006/relationships/image" Target="/ppt/media/image.png" Id="R5d9b2e75fe5f4a5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98505b6934f10" /><Relationship Type="http://schemas.openxmlformats.org/officeDocument/2006/relationships/image" Target="/ppt/media/image2.png" Id="R65b63bbb287642e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5d9b2e75fe5f4a5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65b63bbb287642e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862f87dc184c43" /><Relationship Type="http://schemas.openxmlformats.org/officeDocument/2006/relationships/slideLayout" Target="/ppt/slideLayouts/slideLayout1.xml" Id="Rb7be64bc0092463f" /><Relationship Type="http://schemas.openxmlformats.org/officeDocument/2006/relationships/slideLayout" Target="/ppt/slideLayouts/slideLayout2.xml" Id="R449004aae4f74d24" /><Relationship Type="http://schemas.openxmlformats.org/officeDocument/2006/relationships/slideLayout" Target="/ppt/slideLayouts/slideLayout3.xml" Id="R1c00ce60748d4d66" /><Relationship Type="http://schemas.openxmlformats.org/officeDocument/2006/relationships/slideLayout" Target="/ppt/slideLayouts/slideLayout4.xml" Id="Rb0820dd8653a4a70" /><Relationship Type="http://schemas.openxmlformats.org/officeDocument/2006/relationships/slideLayout" Target="/ppt/slideLayouts/slideLayout5.xml" Id="Rc5eca2f137614f32" /><Relationship Type="http://schemas.openxmlformats.org/officeDocument/2006/relationships/slideLayout" Target="/ppt/slideLayouts/slideLayout6.xml" Id="Re2a2c751a8e14ead" /><Relationship Type="http://schemas.openxmlformats.org/officeDocument/2006/relationships/slideLayout" Target="/ppt/slideLayouts/slideLayout7.xml" Id="R1c2cf12c065b4b34" /><Relationship Type="http://schemas.openxmlformats.org/officeDocument/2006/relationships/slideLayout" Target="/ppt/slideLayouts/slideLayout8.xml" Id="R6460fe89cb674145" /><Relationship Type="http://schemas.openxmlformats.org/officeDocument/2006/relationships/slideLayout" Target="/ppt/slideLayouts/slideLayout9.xml" Id="Rfa91035cf1e34834" /><Relationship Type="http://schemas.openxmlformats.org/officeDocument/2006/relationships/slideLayout" Target="/ppt/slideLayouts/slideLayout10.xml" Id="R7da112e4425d4ce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be64bc0092463f"/>
    <p:sldLayoutId xmlns:r="http://schemas.openxmlformats.org/officeDocument/2006/relationships" id="2147483650" r:id="R449004aae4f74d24"/>
    <p:sldLayoutId xmlns:r="http://schemas.openxmlformats.org/officeDocument/2006/relationships" id="2147483651" r:id="R1c00ce60748d4d66"/>
    <p:sldLayoutId xmlns:r="http://schemas.openxmlformats.org/officeDocument/2006/relationships" id="2147483652" r:id="Rb0820dd8653a4a70"/>
    <p:sldLayoutId xmlns:r="http://schemas.openxmlformats.org/officeDocument/2006/relationships" id="2147483653" r:id="Rc5eca2f137614f32"/>
    <p:sldLayoutId xmlns:r="http://schemas.openxmlformats.org/officeDocument/2006/relationships" id="2147483654" r:id="Re2a2c751a8e14ead"/>
    <p:sldLayoutId xmlns:r="http://schemas.openxmlformats.org/officeDocument/2006/relationships" id="2147483655" r:id="R1c2cf12c065b4b34"/>
    <p:sldLayoutId xmlns:r="http://schemas.openxmlformats.org/officeDocument/2006/relationships" id="2147483656" r:id="R6460fe89cb674145"/>
    <p:sldLayoutId xmlns:r="http://schemas.openxmlformats.org/officeDocument/2006/relationships" id="2147483657" r:id="Rfa91035cf1e34834"/>
    <p:sldLayoutId xmlns:r="http://schemas.openxmlformats.org/officeDocument/2006/relationships" id="2147483658" r:id="R7da112e4425d4ce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4d82fbfc74c34" /><Relationship Type="http://schemas.openxmlformats.org/officeDocument/2006/relationships/notesSlide" Target="/ppt/notesSlides/notesSlide1.xml" Id="R9e015b575b7942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7465bb03484436" /><Relationship Type="http://schemas.openxmlformats.org/officeDocument/2006/relationships/notesSlide" Target="/ppt/notesSlides/notesSlide2.xml" Id="R0aafd67d0ee34e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589a62775d4c78" /><Relationship Type="http://schemas.openxmlformats.org/officeDocument/2006/relationships/notesSlide" Target="/ppt/notesSlides/notesSlide3.xml" Id="Rac23e040bd394c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7a82a830047d8" /><Relationship Type="http://schemas.openxmlformats.org/officeDocument/2006/relationships/notesSlide" Target="/ppt/notesSlides/notesSlide4.xml" Id="Ra358226096e446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526afe57541d6" /><Relationship Type="http://schemas.openxmlformats.org/officeDocument/2006/relationships/notesSlide" Target="/ppt/notesSlides/notesSlide5.xml" Id="R95c7c40267a245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91dc2be2f438a" /><Relationship Type="http://schemas.openxmlformats.org/officeDocument/2006/relationships/notesSlide" Target="/ppt/notesSlides/notesSlide6.xml" Id="R71b0fdfc85714b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c6b897cd6b41e5" /><Relationship Type="http://schemas.openxmlformats.org/officeDocument/2006/relationships/notesSlide" Target="/ppt/notesSlides/notesSlide7.xml" Id="R9518600cc4e945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5566ab625f4b04" /><Relationship Type="http://schemas.openxmlformats.org/officeDocument/2006/relationships/notesSlide" Target="/ppt/notesSlides/notesSlide8.xml" Id="R65a9aa70745546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b26684d2946d3" /><Relationship Type="http://schemas.openxmlformats.org/officeDocument/2006/relationships/notesSlide" Target="/ppt/notesSlides/notesSlide9.xml" Id="R8d0a9ec8218c41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81d661c743c4973" /><Relationship Type="http://schemas.openxmlformats.org/officeDocument/2006/relationships/notesSlide" Target="/ppt/notesSlides/notesSlide10.xml" Id="R6acc9749485648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4db2ee1244149ed" /><Relationship Type="http://schemas.openxmlformats.org/officeDocument/2006/relationships/notesSlide" Target="/ppt/notesSlides/notesSlide11.xml" Id="R78a8c4d802184a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9b162d30894d9d" /><Relationship Type="http://schemas.openxmlformats.org/officeDocument/2006/relationships/notesSlide" Target="/ppt/notesSlides/notesSlide12.xml" Id="R74177e157b8c42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64a4cab8b924aed" /><Relationship Type="http://schemas.openxmlformats.org/officeDocument/2006/relationships/notesSlide" Target="/ppt/notesSlides/notesSlide13.xml" Id="Rfa0f27a9da5444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2928ef96cd4d7c" /><Relationship Type="http://schemas.openxmlformats.org/officeDocument/2006/relationships/notesSlide" Target="/ppt/notesSlides/notesSlide14.xml" Id="R766b565489dd4d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c01ecef26ed4dd4" /><Relationship Type="http://schemas.openxmlformats.org/officeDocument/2006/relationships/notesSlide" Target="/ppt/notesSlides/notesSlide15.xml" Id="R7a056ffaa61243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decb0678c74764" /><Relationship Type="http://schemas.openxmlformats.org/officeDocument/2006/relationships/notesSlide" Target="/ppt/notesSlides/notesSlide16.xml" Id="Rd646a9fe867948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896938168643f5" /><Relationship Type="http://schemas.openxmlformats.org/officeDocument/2006/relationships/notesSlide" Target="/ppt/notesSlides/notesSlide17.xml" Id="R765bf6be95104f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6a8b9e91094848" /><Relationship Type="http://schemas.openxmlformats.org/officeDocument/2006/relationships/notesSlide" Target="/ppt/notesSlides/notesSlide18.xml" Id="R31a99d8810ca40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46ca917b54f6b" /><Relationship Type="http://schemas.openxmlformats.org/officeDocument/2006/relationships/notesSlide" Target="/ppt/notesSlides/notesSlide19.xml" Id="Ra43b6715a11f43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f432e46784974" /><Relationship Type="http://schemas.openxmlformats.org/officeDocument/2006/relationships/notesSlide" Target="/ppt/notesSlides/notesSlide20.xml" Id="Rd2990651e1aa498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839df59f1d4a31" /><Relationship Type="http://schemas.openxmlformats.org/officeDocument/2006/relationships/notesSlide" Target="/ppt/notesSlides/notesSlide21.xml" Id="R468d09e2204243d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0ea08745e457a" /><Relationship Type="http://schemas.openxmlformats.org/officeDocument/2006/relationships/notesSlide" Target="/ppt/notesSlides/notesSlide22.xml" Id="R19fd0d24fb134e8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987f14fe3d2493e" /><Relationship Type="http://schemas.openxmlformats.org/officeDocument/2006/relationships/notesSlide" Target="/ppt/notesSlides/notesSlide23.xml" Id="R779a8a63749c492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2921b0b8e4c3b" /><Relationship Type="http://schemas.openxmlformats.org/officeDocument/2006/relationships/notesSlide" Target="/ppt/notesSlides/notesSlide24.xml" Id="R18f5485336e5486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ff40b3f64d246fd" /><Relationship Type="http://schemas.openxmlformats.org/officeDocument/2006/relationships/notesSlide" Target="/ppt/notesSlides/notesSlide25.xml" Id="R54c5d05968324b1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fa50b99ab740a2" /><Relationship Type="http://schemas.openxmlformats.org/officeDocument/2006/relationships/notesSlide" Target="/ppt/notesSlides/notesSlide26.xml" Id="Rb51ec2438f004f9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6a391515984d9a" /><Relationship Type="http://schemas.openxmlformats.org/officeDocument/2006/relationships/notesSlide" Target="/ppt/notesSlides/notesSlide27.xml" Id="Rffcd77130eff4e5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ef20014a840f4" /><Relationship Type="http://schemas.openxmlformats.org/officeDocument/2006/relationships/notesSlide" Target="/ppt/notesSlides/notesSlide28.xml" Id="R8911745ea90e482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8f2de5338f49a0" /><Relationship Type="http://schemas.openxmlformats.org/officeDocument/2006/relationships/notesSlide" Target="/ppt/notesSlides/notesSlide29.xml" Id="R409029e9845a40e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7113bcca5e414d" /><Relationship Type="http://schemas.openxmlformats.org/officeDocument/2006/relationships/notesSlide" Target="/ppt/notesSlides/notesSlide30.xml" Id="Rf1ab1c907c3b4b6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5613df9984bb0" /><Relationship Type="http://schemas.openxmlformats.org/officeDocument/2006/relationships/notesSlide" Target="/ppt/notesSlides/notesSlide31.xml" Id="Rea6b19707013422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5ed79ea4314004" /><Relationship Type="http://schemas.openxmlformats.org/officeDocument/2006/relationships/notesSlide" Target="/ppt/notesSlides/notesSlide32.xml" Id="R24b9db4025974e9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c7764b4194728" /><Relationship Type="http://schemas.openxmlformats.org/officeDocument/2006/relationships/notesSlide" Target="/ppt/notesSlides/notesSlide33.xml" Id="R2a25d3745ca34b4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ac41b41c714167" /><Relationship Type="http://schemas.openxmlformats.org/officeDocument/2006/relationships/notesSlide" Target="/ppt/notesSlides/notesSlide34.xml" Id="R260271242dd14b7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86c6618c66446a" /><Relationship Type="http://schemas.openxmlformats.org/officeDocument/2006/relationships/notesSlide" Target="/ppt/notesSlides/notesSlide35.xml" Id="Rb5f3bedd33034e4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e799541344eb7" /><Relationship Type="http://schemas.openxmlformats.org/officeDocument/2006/relationships/notesSlide" Target="/ppt/notesSlides/notesSlide36.xml" Id="R2656488d55784da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1bd47fc9fc6494a" /><Relationship Type="http://schemas.openxmlformats.org/officeDocument/2006/relationships/notesSlide" Target="/ppt/notesSlides/notesSlide37.xml" Id="Ra8614d1d89fb42d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27186d86bb486e" /><Relationship Type="http://schemas.openxmlformats.org/officeDocument/2006/relationships/notesSlide" Target="/ppt/notesSlides/notesSlide38.xml" Id="R02f16691b874400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78271741314f6b" /><Relationship Type="http://schemas.openxmlformats.org/officeDocument/2006/relationships/notesSlide" Target="/ppt/notesSlides/notesSlide39.xml" Id="R18661f127c0642e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33be2b71349f2" /><Relationship Type="http://schemas.openxmlformats.org/officeDocument/2006/relationships/notesSlide" Target="/ppt/notesSlides/notesSlide40.xml" Id="R42454958eb054f9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956fda67f164cd1" /><Relationship Type="http://schemas.openxmlformats.org/officeDocument/2006/relationships/notesSlide" Target="/ppt/notesSlides/notesSlide41.xml" Id="R0952e688f610474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b7f3807322408c" /><Relationship Type="http://schemas.openxmlformats.org/officeDocument/2006/relationships/notesSlide" Target="/ppt/notesSlides/notesSlide42.xml" Id="R96be52ed27eb4c4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2664ec5804505" /><Relationship Type="http://schemas.openxmlformats.org/officeDocument/2006/relationships/notesSlide" Target="/ppt/notesSlides/notesSlide43.xml" Id="R0951fa3fec9a425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b8203c56c487c" /><Relationship Type="http://schemas.openxmlformats.org/officeDocument/2006/relationships/notesSlide" Target="/ppt/notesSlides/notesSlide44.xml" Id="R59e85d4bf68c4d5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1010e40f148f1" /><Relationship Type="http://schemas.openxmlformats.org/officeDocument/2006/relationships/notesSlide" Target="/ppt/notesSlides/notesSlide45.xml" Id="Re15e0859d47d464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e6f0dce1744d1" /><Relationship Type="http://schemas.openxmlformats.org/officeDocument/2006/relationships/notesSlide" Target="/ppt/notesSlides/notesSlide46.xml" Id="Rcf16f6e5a346458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f52344aed4211" /><Relationship Type="http://schemas.openxmlformats.org/officeDocument/2006/relationships/notesSlide" Target="/ppt/notesSlides/notesSlide47.xml" Id="Rdd6be46c5eb2434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00f690dde479d" /><Relationship Type="http://schemas.openxmlformats.org/officeDocument/2006/relationships/notesSlide" Target="/ppt/notesSlides/notesSlide48.xml" Id="R8a991bb27bd6469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7db9d07610448e" /><Relationship Type="http://schemas.openxmlformats.org/officeDocument/2006/relationships/notesSlide" Target="/ppt/notesSlides/notesSlide49.xml" Id="R2cabb2d8a962451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14e4900d8b4114" /><Relationship Type="http://schemas.openxmlformats.org/officeDocument/2006/relationships/notesSlide" Target="/ppt/notesSlides/notesSlide50.xml" Id="Re89ad1bc069340e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a000a5789445a3" /><Relationship Type="http://schemas.openxmlformats.org/officeDocument/2006/relationships/notesSlide" Target="/ppt/notesSlides/notesSlide51.xml" Id="R4696ff391f44423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dd8a497d44596" /><Relationship Type="http://schemas.openxmlformats.org/officeDocument/2006/relationships/notesSlide" Target="/ppt/notesSlides/notesSlide52.xml" Id="R8bcdaf0a604b4b8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9f837181540d9" /><Relationship Type="http://schemas.openxmlformats.org/officeDocument/2006/relationships/notesSlide" Target="/ppt/notesSlides/notesSlide53.xml" Id="R3973b1f0978c47c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b37a69de6f4e4a" /><Relationship Type="http://schemas.openxmlformats.org/officeDocument/2006/relationships/notesSlide" Target="/ppt/notesSlides/notesSlide54.xml" Id="R0f95c2afc530467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198a9dab84d01" /><Relationship Type="http://schemas.openxmlformats.org/officeDocument/2006/relationships/notesSlide" Target="/ppt/notesSlides/notesSlide55.xml" Id="Ra58b6b1f97f24e1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8de67db2442b9" /><Relationship Type="http://schemas.openxmlformats.org/officeDocument/2006/relationships/notesSlide" Target="/ppt/notesSlides/notesSlide56.xml" Id="R26abf098fa67476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96770d8e62e4a9e" /><Relationship Type="http://schemas.openxmlformats.org/officeDocument/2006/relationships/notesSlide" Target="/ppt/notesSlides/notesSlide57.xml" Id="Rb674b6e07055477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a7a28bd4d4c33" /><Relationship Type="http://schemas.openxmlformats.org/officeDocument/2006/relationships/notesSlide" Target="/ppt/notesSlides/notesSlide58.xml" Id="R9f01261b9e4c4c6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rgbClr val="F6FAFF"/>
                </a:solidFill>
              </a:rPr>
              <a:t>Senior Developer</a:t>
            </a:r>
          </a:p>
          <a:p xmlns:a="http://schemas.openxmlformats.org/drawingml/2006/main">
            <a:r>
              <a:rPr sz="6500">
                <a:solidFill>
                  <a:srgbClr val="F6FAFF"/>
                </a:solidFill>
              </a:rPr>
              <a:t>Workflow Guide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E2EEFC"/>
                </a:solidFill>
              </a:rPr>
              <a:t>Claude Code + Codex</a:t>
            </a:r>
          </a:p>
          <a:p xmlns:a="http://schemas.openxmlformats.org/drawingml/2006/main">
            <a:r>
              <a:rPr sz="1800">
                <a:solidFill>
                  <a:srgbClr val="E2EEFC"/>
                </a:solidFill>
              </a:rPr>
              <a:t>Current models, practical playbooks, and production workflow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rgbClr val="E2EEFC"/>
                </a:solidFill>
              </a:rPr>
              <a:t>Prepared for</a:t>
            </a:r>
          </a:p>
          <a:p xmlns:a="http://schemas.openxmlformats.org/drawingml/2006/main">
            <a:r>
              <a:rPr sz="1800">
                <a:solidFill>
                  <a:srgbClr val="E2EEFC"/>
                </a:solidFill>
              </a:rPr>
              <a:t>software builders and engineering teams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VERSION 2 · OCTOBER 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CODEX + CLAUDE CODE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A06171C7-074C-45CA-8E54-22542027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DD3FC"/>
            </a:solidFill>
            <a:prstDash val="soli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965513"/>
            <a:ext cx="9448800" cy="106648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800">
                <a:solidFill>
                  <a:srgbClr val="F6FAFF"/>
                </a:solidFill>
              </a:rPr>
              <a:t>What learners will master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LEARNING PATH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mlns:a="http://schemas.openxmlformats.org/drawingml/2006/main" x="393698" y="2667171"/>
          <a:ext xmlns:a="http://schemas.openxmlformats.org/drawingml/2006/main" cx="7835901" cy="328165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302"/>
                <a:gridCol w="7213599"/>
              </a:tblGrid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rgbClr val="F6FA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rgbClr val="F6FA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Operating model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5EA8"/>
                    </a:solidFill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rgbClr val="E2EE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rgbClr val="E2EE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Shared repository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315F"/>
                    </a:solidFill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rgbClr val="E2EE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rgbClr val="E2EE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Delivery lifecycle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3D70"/>
                    </a:solidFill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rgbClr val="E2EE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rgbClr val="E2EE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Verification + review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315F"/>
                    </a:solidFill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rgbClr val="E2EE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rgbClr val="E2EE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 selection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3D70"/>
                    </a:solidFill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rgbClr val="E2EE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rgbClr val="E2EEF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Prompting playbooks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C315F"/>
                    </a:solidFill>
                  </a:tcPr>
                </a:tc>
              </a:tr>
            </a:tbl>
          </a:graphicData>
        </a:graphic>
      </p:graphicFrame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A9C7E8"/>
                </a:solidFill>
              </a:rPr>
              <a:t>CODEX + CLAUDE CODE</a:t>
            </a: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9ED408-E4DF-E76D-2726-E1F5A04410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A9C7E8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7949545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One engineering system closes the loop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Claude Code — reason and review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Clarify requirements, map architecture, investigate evidence, and challenge the result.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Define the problem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Expose assumptions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Review independently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Codex — execute and verify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Implement approved scope, run tools and tests, iterate on runtime behavior, and prepare delivery.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Build the slice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Prove completion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Deliver a clean diff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A human engineering owner coordinates two capable agents. Each gets a primary responsibility and an independent verifier.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Human owner — approve scope, resolve risk, inspect product behavior, and control merge and release.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rgbClr val="A9C7E8"/>
                </a:solidFill>
              </a:rPr>
              <a:t>3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Assign primary ownership, then independent review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Claude Code leads reasoning-heavy work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Requirements, architecture, repository investigation, root-cause analysis, security review, and design critique.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Plan deliberately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Cite evidence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Challenge assumptions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Codex leads delivery-heavy work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Scoped implementation, multi-file edits, automated checks, runtime iteration, Git branches, and pull requests.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Act autonomously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Verify results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Prepare handoff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Both agents can analyze, edit, test, and review. The distinction is workflow ownership—not a product limitation.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Human gate — settle disagreements, approve sensitive changes, read the diff, verify the product, and own release.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rgbClr val="A9C7E8"/>
                </a:solidFill>
              </a:rPr>
              <a:t>4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Both agents can build across the stack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Web applications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React, Next.js, Vite, TypeScript, Tailwind, and full-stack frameworks.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Mobile applications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React Native + Expo, Flutter, Kotlin, Swift, and native tooling.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Desktop applications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Tauri, Electron, Flutter Desktop, .NET, and platform integrations.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Backend and APIs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Node.js, NestJS, Express, FastAPI, Spring, .NET, SQL, and cloud services.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Choose the framework for the product surface; choose the agent workflow for the engineering job.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rgbClr val="A9C7E8"/>
                </a:solidFill>
              </a:rPr>
              <a:t>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9299C6E-3FDF-5AB3-E054-F3F59B33981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A9C7E8"/>
                </a:solidFill>
              </a:rPr>
              <a:t>CODEX + CLAUDE CODE</a:t>
            </a: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3DF656-61B4-2882-D797-9122308526B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C630A04-5A25-9E0C-9436-126091DB86B3}" type="slidenum">
              <a:rPr sz="1100" b="0" i="0" u="none" cap="none" spc="0">
                <a:ln>
                  <a:noFill/>
                </a:ln>
                <a:solidFill>
                  <a:srgbClr val="A9C7E8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414154B-F746-1A74-21F7-6E5F045F1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GitHub access differs between cloud and local work</a:t>
            </a:r>
            <a:endParaRPr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9F23F1-48AA-5A67-CC7C-B65A7A75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Cloud integrations use an installed GitHub app and repository selection. Local tools normally use Git credentials already configured on the computer.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B02F86-AD0D-BE24-B025-8A7BB49E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ACCESS MODEL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39129E7-9749-F0E3-59EF-1B786983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8728FDE-6DD0-74E3-B860-01CB47A2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228B342-3C4A-AE4E-4223-223CEE77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83E7952-0C3E-8CA0-CBD2-20DE64FB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Codex Cloud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Connect GitHub, select repositories, create an environment, then verify with a read-only task.</a:t>
            </a:r>
            <a:endParaRPr sz="16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1D1552-9316-E417-6E62-1A809C63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81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Codex local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Authenticate Git or GitHub CLI, clone the repository, start Codex at the project root, and confirm remote access.</a:t>
            </a:r>
            <a:endParaRPr sz="16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E266E2C-270B-3F65-3279-162369AD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954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Claude Code local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Authenticate GitHub locally, clone the repository, run Claude inside the project, and verify read/push access.</a:t>
            </a:r>
            <a:endParaRPr sz="16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012225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Persistent instructions keep both agents aligned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CLAUDE.md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Architecture, investigation habits, planning standards, security expectations, and review criteria.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Read the code first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Separate evidence from hypotheses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Plan the smallest safe change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AGENTS.md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Implementation rules, allowed commands, testing requirements, file ownership, and definition of done.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Preserve scope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Run required checks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Report the final diff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Project instructions prevent teams from repeating the same repository context in every task.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Keep instructions concise, specific, and close to the code they govern. Nested guidance can override broader rules.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solidFill>
                  <a:srgbClr val="A9C7E8"/>
                </a:solidFill>
              </a:rPr>
              <a:t>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E0BC934-0157-542C-D5BB-4CBBF257C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418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One repository becomes the shared source of truth</a:t>
            </a: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19C0BA-A84A-2A07-E313-F86616F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09028"/>
            <a:ext cx="4583034" cy="11119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Store product requirements, architecture, database design, API contracts, security decisions, testing commands, and feature specifications in version control.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581A225-34F9-0D3B-555E-87AD9B0425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C369A1-27DC-4417-B82E-882C775F89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rPr>
                <a:solidFill>
                  <a:srgbClr val="A9C7E8"/>
                </a:solidFill>
              </a:rPr>
              <a:t>8</a:t>
            </a:fld>
            <a:endParaRPr sz="1100"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F440E49-120F-1A2F-57EB-B029345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1881916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Both agents read the same artifacts before work begins. Important decisions live in the repository—not only in chat history.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FF1B71-7343-3428-E1A5-0130174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1881916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SHARED DOCUMENTS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E5C8191-FF5D-721C-939A-810BF6F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622601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 feature specification defines the business objective, expected behavior, acceptance criteria, authorization rules, failure states, tests, rollback plan, and non-goals.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2FB920-4338-60DE-B515-40C9397A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4195489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 resolved contract prevents competing interpretations and makes review objective.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8B171C2-7536-1E2D-C49E-6F245F4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4195489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FEATURE CONTRACT</a:t>
            </a:r>
          </a:p>
        </p:txBody>
      </p:sp>
    </p:spTree>
    <p:extLst>
      <p:ext uri="{BB962C8B-B14F-4D97-AF65-F5344CB8AC3E}">
        <p14:creationId xmlns:p14="http://schemas.microsoft.com/office/powerpoint/2010/main" val="4204513895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Strong prompts define the result—not every move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State the desired outcome and what success looks like.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GOAL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Point to the relevant repository, files, current behavior, sources, or reproduction steps.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CONTEXT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Specify the report, patch, artifact, length, or evidence the final response must contain.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OUTPUT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Name the few constraints that prevent real damage or unwanted scope expansion.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BOUNDARIES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For important work, add acceptance criteria and a final verification check. Use only the prompt components that materially change the result.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rPr>
                <a:solidFill>
                  <a:srgbClr val="A9C7E8"/>
                </a:solidFill>
              </a:rPr>
              <a:t>9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Define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Clarify requirements, risks, non-goals, and acceptance criteria.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Separate the lifecycle into explicit decision gates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Implement one approved vertical slice; keep unrelated work out.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Run tests, inspect runtime behavior, review the diff, and resolve findings.</a:t>
            </a:r>
          </a:p>
        </p:txBody>
      </p:sp>
      <p:cxnSp>
        <p:nvCxnSpPr>
          <p:cNvPr id="48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7DD3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GATE 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APPROVE THE CONTRACT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GATE B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PROVE THE CHANGE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GATE C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CONTROL RELEASE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rPr>
                <a:solidFill>
                  <a:srgbClr val="A9C7E8"/>
                </a:solidFill>
              </a:rPr>
              <a:t>10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CD0B058-69B3-6143-3EBD-18BD898104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User value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One complete journey that can be demonstrated and reviewed.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Build one deployable vertical slice at a time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0668A09-AE04-4D10-D919-57ECE29CD5EA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Client and server rules; clear error behavior.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CC1BC07A-CC6E-9DC4-2C70-CCF4F96B0F92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API contract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Inputs, outputs, errors, compatibility, and ownership.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3437E985-0C72-7D72-6091-7E6FBAF26D6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Database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Schema, constraints, indexes, migrations, and rollback.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28977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Authorization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Server-side access rules; never rely on hidden UI.</a:t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828977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UI states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Loading, empty, error, success, responsive, and accessible.</a:t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828977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Tests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Unit, integration, end-to-end, and regression coverage.</a:t>
            </a: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828977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Non-goals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Explicitly exclude adjacent features and broad refactors.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3F6F69E-B773-8572-FA7F-ECBC6977592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A2DC3E09-5458-5FAC-7B68-A9CC33D48C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rPr>
                <a:solidFill>
                  <a:srgbClr val="A9C7E8"/>
                </a:solidFill>
              </a:rPr>
              <a:t>11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Reproduce → Trace → Prove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Evidence-based debugging finds the first divergence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1. REPRODUCE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Capture exact steps, environment, account state, console output, network calls, and expected behavior. Trace execution until actual behavior first diverges from the expected flow.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2. TRACE THE FLOW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3. PROVE ROOT CAUSE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4. APPLY THE SMALLEST FIX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5. ADD REGRESSION PROOF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67BC5C-65A7-7445-018D-E76E0A9441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rPr>
                <a:solidFill>
                  <a:srgbClr val="A9C7E8"/>
                </a:solidFill>
              </a:rPr>
              <a:t>12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4D765FCF-56FA-8EE2-65DF-D8A5321F3C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Static checks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Type checking and linting catch structural defects early.</a:t>
            </a:r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FA1AD57-2515-3263-71AA-F5510D72450E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Unit tests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Exercise utilities, validators, domain logic, and edge cases.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F4CF59D7-297B-30C8-431E-585575A55EC7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Integration tests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Verify API, database, authentication, storage, and boundaries.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252743B9-4592-4663-CAD2-40CC23D40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Verification is part of implementation</a:t>
            </a:r>
            <a:endParaRPr/>
          </a:p>
        </p:txBody>
      </p:sp>
      <p:sp>
        <p:nvSpPr>
          <p:cNvPr id="2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0018B0C7-DC20-D7FE-2D99-C8372B90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End-to-end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Prove critical user journeys across real application layers.</a:t>
            </a:r>
          </a:p>
        </p:txBody>
      </p:sp>
      <p:sp>
        <p:nvSpPr>
          <p:cNvPr id="3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142AC269-69D2-161D-AD16-2E5D7B8A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Inspect browser, device, console, network, files, and packaging.</a:t>
            </a:r>
          </a:p>
        </p:txBody>
      </p:sp>
      <p:sp>
        <p:nvSpPr>
          <p:cNvPr id="4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7E988850-5A60-A9C4-B928-BDFEC4FE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Diff review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Find unrelated edits, generated noise, secrets, and unsafe scope.</a:t>
            </a:r>
          </a:p>
        </p:txBody>
      </p:sp>
      <p:sp>
        <p:nvSpPr>
          <p:cNvPr id="5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43830694-5B70-1E3A-562E-A57DE1DE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2022554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7C8ADA23-5610-C31E-B048-A0886EDC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2018463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Google Shape;1369;p101">
            <a:extLst xmlns:a="http://schemas.openxmlformats.org/drawingml/2006/main">
              <a:ext uri="{FF2B5EF4-FFF2-40B4-BE49-F238E27FC236}">
                <a16:creationId xmlns:a16="http://schemas.microsoft.com/office/drawing/2014/main" id="{41FBCA7C-C2E7-AFB5-3B6C-4D9C9E15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0146"/>
            <a:ext cx="338580" cy="338688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415;p101">
            <a:extLst xmlns:a="http://schemas.openxmlformats.org/drawingml/2006/main">
              <a:ext uri="{FF2B5EF4-FFF2-40B4-BE49-F238E27FC236}">
                <a16:creationId xmlns:a16="http://schemas.microsoft.com/office/drawing/2014/main" id="{8574D0ED-7640-B4E7-7B56-C1CA61B9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5" y="4050316"/>
            <a:ext cx="389340" cy="304776"/>
          </a:xfrm>
          <a:custGeom xmlns:a="http://schemas.openxmlformats.org/drawingml/2006/main">
            <a:rect l="l" t="t" r="r" b="b"/>
            <a:pathLst>
              <a:path w="21600" h="21600">
                <a:moveTo>
                  <a:pt x="6574" y="2400"/>
                </a:moveTo>
                <a:cubicBezTo>
                  <a:pt x="5277" y="2400"/>
                  <a:pt x="4226" y="3743"/>
                  <a:pt x="4226" y="5400"/>
                </a:cubicBezTo>
                <a:cubicBezTo>
                  <a:pt x="4226" y="7057"/>
                  <a:pt x="5277" y="8400"/>
                  <a:pt x="6574" y="8400"/>
                </a:cubicBezTo>
                <a:cubicBezTo>
                  <a:pt x="7871" y="8400"/>
                  <a:pt x="8922" y="7057"/>
                  <a:pt x="8922" y="5400"/>
                </a:cubicBezTo>
                <a:cubicBezTo>
                  <a:pt x="8922" y="3743"/>
                  <a:pt x="7871" y="2400"/>
                  <a:pt x="6574" y="2400"/>
                </a:cubicBezTo>
                <a:close/>
                <a:moveTo>
                  <a:pt x="2348" y="5400"/>
                </a:moveTo>
                <a:cubicBezTo>
                  <a:pt x="2348" y="2418"/>
                  <a:pt x="4240" y="0"/>
                  <a:pt x="6574" y="0"/>
                </a:cubicBezTo>
                <a:cubicBezTo>
                  <a:pt x="8908" y="0"/>
                  <a:pt x="10800" y="2418"/>
                  <a:pt x="10800" y="5400"/>
                </a:cubicBezTo>
                <a:cubicBezTo>
                  <a:pt x="10800" y="8382"/>
                  <a:pt x="8908" y="10800"/>
                  <a:pt x="6574" y="10800"/>
                </a:cubicBezTo>
                <a:cubicBezTo>
                  <a:pt x="4240" y="10800"/>
                  <a:pt x="2348" y="8382"/>
                  <a:pt x="2348" y="5400"/>
                </a:cubicBezTo>
                <a:close/>
                <a:moveTo>
                  <a:pt x="15496" y="3600"/>
                </a:moveTo>
                <a:cubicBezTo>
                  <a:pt x="14458" y="3600"/>
                  <a:pt x="13617" y="4674"/>
                  <a:pt x="13617" y="6000"/>
                </a:cubicBezTo>
                <a:cubicBezTo>
                  <a:pt x="13617" y="7326"/>
                  <a:pt x="14458" y="8400"/>
                  <a:pt x="15496" y="8400"/>
                </a:cubicBezTo>
                <a:cubicBezTo>
                  <a:pt x="16533" y="8400"/>
                  <a:pt x="17374" y="7326"/>
                  <a:pt x="17374" y="6000"/>
                </a:cubicBezTo>
                <a:cubicBezTo>
                  <a:pt x="17374" y="4674"/>
                  <a:pt x="16533" y="3600"/>
                  <a:pt x="15496" y="3600"/>
                </a:cubicBezTo>
                <a:close/>
                <a:moveTo>
                  <a:pt x="11739" y="6000"/>
                </a:moveTo>
                <a:cubicBezTo>
                  <a:pt x="11739" y="3349"/>
                  <a:pt x="13421" y="1200"/>
                  <a:pt x="15496" y="1200"/>
                </a:cubicBezTo>
                <a:cubicBezTo>
                  <a:pt x="17570" y="1200"/>
                  <a:pt x="19252" y="3349"/>
                  <a:pt x="19252" y="6000"/>
                </a:cubicBezTo>
                <a:cubicBezTo>
                  <a:pt x="19252" y="8651"/>
                  <a:pt x="17570" y="10800"/>
                  <a:pt x="15496" y="10800"/>
                </a:cubicBezTo>
                <a:cubicBezTo>
                  <a:pt x="13421" y="10800"/>
                  <a:pt x="11739" y="8651"/>
                  <a:pt x="11739" y="6000"/>
                </a:cubicBezTo>
                <a:close/>
                <a:moveTo>
                  <a:pt x="3324" y="15896"/>
                </a:moveTo>
                <a:cubicBezTo>
                  <a:pt x="2477" y="16858"/>
                  <a:pt x="1878" y="18325"/>
                  <a:pt x="1878" y="20400"/>
                </a:cubicBezTo>
                <a:cubicBezTo>
                  <a:pt x="1878" y="21062"/>
                  <a:pt x="1458" y="21600"/>
                  <a:pt x="939" y="21600"/>
                </a:cubicBezTo>
                <a:cubicBezTo>
                  <a:pt x="421" y="21600"/>
                  <a:pt x="0" y="21062"/>
                  <a:pt x="0" y="20400"/>
                </a:cubicBezTo>
                <a:cubicBezTo>
                  <a:pt x="0" y="17675"/>
                  <a:pt x="810" y="15542"/>
                  <a:pt x="2076" y="14102"/>
                </a:cubicBezTo>
                <a:cubicBezTo>
                  <a:pt x="3325" y="12684"/>
                  <a:pt x="4965" y="12000"/>
                  <a:pt x="6574" y="12000"/>
                </a:cubicBezTo>
                <a:cubicBezTo>
                  <a:pt x="8183" y="12000"/>
                  <a:pt x="9822" y="12684"/>
                  <a:pt x="11071" y="14102"/>
                </a:cubicBezTo>
                <a:cubicBezTo>
                  <a:pt x="12338" y="15542"/>
                  <a:pt x="13148" y="17675"/>
                  <a:pt x="13148" y="20400"/>
                </a:cubicBezTo>
                <a:cubicBezTo>
                  <a:pt x="13148" y="21062"/>
                  <a:pt x="12727" y="21600"/>
                  <a:pt x="12209" y="21600"/>
                </a:cubicBezTo>
                <a:cubicBezTo>
                  <a:pt x="11690" y="21600"/>
                  <a:pt x="11270" y="21062"/>
                  <a:pt x="11270" y="20400"/>
                </a:cubicBezTo>
                <a:cubicBezTo>
                  <a:pt x="11270" y="18325"/>
                  <a:pt x="10670" y="16858"/>
                  <a:pt x="9824" y="15896"/>
                </a:cubicBezTo>
                <a:cubicBezTo>
                  <a:pt x="8960" y="14916"/>
                  <a:pt x="7783" y="14400"/>
                  <a:pt x="6574" y="14400"/>
                </a:cubicBezTo>
                <a:cubicBezTo>
                  <a:pt x="5365" y="14400"/>
                  <a:pt x="4188" y="14916"/>
                  <a:pt x="3324" y="15896"/>
                </a:cubicBezTo>
                <a:close/>
                <a:moveTo>
                  <a:pt x="18122" y="15168"/>
                </a:moveTo>
                <a:cubicBezTo>
                  <a:pt x="17175" y="14402"/>
                  <a:pt x="15927" y="14200"/>
                  <a:pt x="14811" y="14602"/>
                </a:cubicBezTo>
                <a:cubicBezTo>
                  <a:pt x="14312" y="14782"/>
                  <a:pt x="13793" y="14411"/>
                  <a:pt x="13653" y="13772"/>
                </a:cubicBezTo>
                <a:cubicBezTo>
                  <a:pt x="13512" y="13134"/>
                  <a:pt x="13802" y="12472"/>
                  <a:pt x="14302" y="12292"/>
                </a:cubicBezTo>
                <a:cubicBezTo>
                  <a:pt x="15894" y="11718"/>
                  <a:pt x="17698" y="11986"/>
                  <a:pt x="19125" y="13139"/>
                </a:cubicBezTo>
                <a:cubicBezTo>
                  <a:pt x="20589" y="14320"/>
                  <a:pt x="21600" y="16387"/>
                  <a:pt x="21600" y="19200"/>
                </a:cubicBezTo>
                <a:cubicBezTo>
                  <a:pt x="21600" y="19862"/>
                  <a:pt x="21179" y="20400"/>
                  <a:pt x="20661" y="20400"/>
                </a:cubicBezTo>
                <a:cubicBezTo>
                  <a:pt x="20142" y="20400"/>
                  <a:pt x="19722" y="19862"/>
                  <a:pt x="19722" y="19200"/>
                </a:cubicBezTo>
                <a:cubicBezTo>
                  <a:pt x="19722" y="17202"/>
                  <a:pt x="19034" y="15905"/>
                  <a:pt x="18122" y="15168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1512;p103">
            <a:extLst xmlns:a="http://schemas.openxmlformats.org/drawingml/2006/main">
              <a:ext uri="{FF2B5EF4-FFF2-40B4-BE49-F238E27FC236}">
                <a16:creationId xmlns:a16="http://schemas.microsoft.com/office/drawing/2014/main" id="{D015E4E0-1777-A560-A6C2-AEDA1FAD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36" y="4025768"/>
            <a:ext cx="305570" cy="338652"/>
          </a:xfrm>
          <a:custGeom xmlns:a="http://schemas.openxmlformats.org/drawingml/2006/main">
            <a:rect l="l" t="t" r="r" b="b"/>
            <a:pathLst>
              <a:path w="21538" h="21553">
                <a:moveTo>
                  <a:pt x="10897" y="543"/>
                </a:moveTo>
                <a:cubicBezTo>
                  <a:pt x="11135" y="165"/>
                  <a:pt x="11603" y="-46"/>
                  <a:pt x="12081" y="8"/>
                </a:cubicBezTo>
                <a:lnTo>
                  <a:pt x="12622" y="69"/>
                </a:lnTo>
                <a:cubicBezTo>
                  <a:pt x="15566" y="401"/>
                  <a:pt x="17464" y="3053"/>
                  <a:pt x="16592" y="5614"/>
                </a:cubicBezTo>
                <a:lnTo>
                  <a:pt x="15932" y="7551"/>
                </a:lnTo>
                <a:cubicBezTo>
                  <a:pt x="16337" y="7557"/>
                  <a:pt x="16701" y="7570"/>
                  <a:pt x="17029" y="7593"/>
                </a:cubicBezTo>
                <a:cubicBezTo>
                  <a:pt x="17750" y="7644"/>
                  <a:pt x="18413" y="7753"/>
                  <a:pt x="19016" y="8039"/>
                </a:cubicBezTo>
                <a:cubicBezTo>
                  <a:pt x="20257" y="8629"/>
                  <a:pt x="21148" y="9683"/>
                  <a:pt x="21451" y="10920"/>
                </a:cubicBezTo>
                <a:cubicBezTo>
                  <a:pt x="21599" y="11520"/>
                  <a:pt x="21541" y="12127"/>
                  <a:pt x="21406" y="12769"/>
                </a:cubicBezTo>
                <a:cubicBezTo>
                  <a:pt x="21273" y="13395"/>
                  <a:pt x="21043" y="14161"/>
                  <a:pt x="20759" y="15099"/>
                </a:cubicBezTo>
                <a:lnTo>
                  <a:pt x="20202" y="16946"/>
                </a:lnTo>
                <a:cubicBezTo>
                  <a:pt x="20181" y="17013"/>
                  <a:pt x="20161" y="17078"/>
                  <a:pt x="20142" y="17143"/>
                </a:cubicBezTo>
                <a:cubicBezTo>
                  <a:pt x="19789" y="18315"/>
                  <a:pt x="19524" y="19196"/>
                  <a:pt x="18943" y="19876"/>
                </a:cubicBezTo>
                <a:cubicBezTo>
                  <a:pt x="18432" y="20473"/>
                  <a:pt x="17757" y="20939"/>
                  <a:pt x="16986" y="21226"/>
                </a:cubicBezTo>
                <a:cubicBezTo>
                  <a:pt x="16107" y="21554"/>
                  <a:pt x="15095" y="21553"/>
                  <a:pt x="13750" y="21552"/>
                </a:cubicBezTo>
                <a:cubicBezTo>
                  <a:pt x="11456" y="21551"/>
                  <a:pt x="9164" y="21552"/>
                  <a:pt x="6872" y="21552"/>
                </a:cubicBezTo>
                <a:cubicBezTo>
                  <a:pt x="5911" y="21552"/>
                  <a:pt x="5118" y="21552"/>
                  <a:pt x="4472" y="21505"/>
                </a:cubicBezTo>
                <a:cubicBezTo>
                  <a:pt x="3802" y="21455"/>
                  <a:pt x="3185" y="21349"/>
                  <a:pt x="2606" y="21082"/>
                </a:cubicBezTo>
                <a:cubicBezTo>
                  <a:pt x="1708" y="20669"/>
                  <a:pt x="979" y="20010"/>
                  <a:pt x="520" y="19199"/>
                </a:cubicBezTo>
                <a:cubicBezTo>
                  <a:pt x="226" y="18676"/>
                  <a:pt x="108" y="18119"/>
                  <a:pt x="53" y="17513"/>
                </a:cubicBezTo>
                <a:cubicBezTo>
                  <a:pt x="0" y="16930"/>
                  <a:pt x="0" y="16214"/>
                  <a:pt x="0" y="15346"/>
                </a:cubicBezTo>
                <a:lnTo>
                  <a:pt x="0" y="12931"/>
                </a:lnTo>
                <a:cubicBezTo>
                  <a:pt x="0" y="12881"/>
                  <a:pt x="0" y="12832"/>
                  <a:pt x="0" y="12783"/>
                </a:cubicBezTo>
                <a:cubicBezTo>
                  <a:pt x="0" y="11926"/>
                  <a:pt x="-1" y="11289"/>
                  <a:pt x="162" y="10738"/>
                </a:cubicBezTo>
                <a:cubicBezTo>
                  <a:pt x="604" y="9250"/>
                  <a:pt x="1890" y="8088"/>
                  <a:pt x="3538" y="7690"/>
                </a:cubicBezTo>
                <a:cubicBezTo>
                  <a:pt x="4148" y="7542"/>
                  <a:pt x="4853" y="7542"/>
                  <a:pt x="5803" y="7543"/>
                </a:cubicBezTo>
                <a:cubicBezTo>
                  <a:pt x="5857" y="7543"/>
                  <a:pt x="5911" y="7543"/>
                  <a:pt x="5966" y="7543"/>
                </a:cubicBezTo>
                <a:cubicBezTo>
                  <a:pt x="6277" y="7543"/>
                  <a:pt x="6562" y="7393"/>
                  <a:pt x="6716" y="7150"/>
                </a:cubicBezTo>
                <a:lnTo>
                  <a:pt x="10897" y="543"/>
                </a:lnTo>
                <a:close/>
                <a:moveTo>
                  <a:pt x="5407" y="19388"/>
                </a:moveTo>
                <a:cubicBezTo>
                  <a:pt x="5204" y="19068"/>
                  <a:pt x="5044" y="18723"/>
                  <a:pt x="4935" y="18357"/>
                </a:cubicBezTo>
                <a:cubicBezTo>
                  <a:pt x="4772" y="17806"/>
                  <a:pt x="4773" y="17169"/>
                  <a:pt x="4773" y="16312"/>
                </a:cubicBezTo>
                <a:cubicBezTo>
                  <a:pt x="4773" y="16264"/>
                  <a:pt x="4773" y="16214"/>
                  <a:pt x="4773" y="16164"/>
                </a:cubicBezTo>
                <a:lnTo>
                  <a:pt x="4773" y="9709"/>
                </a:lnTo>
                <a:cubicBezTo>
                  <a:pt x="4466" y="9719"/>
                  <a:pt x="4297" y="9737"/>
                  <a:pt x="4155" y="9772"/>
                </a:cubicBezTo>
                <a:cubicBezTo>
                  <a:pt x="3332" y="9971"/>
                  <a:pt x="2689" y="10552"/>
                  <a:pt x="2468" y="11296"/>
                </a:cubicBezTo>
                <a:cubicBezTo>
                  <a:pt x="2397" y="11535"/>
                  <a:pt x="2387" y="11860"/>
                  <a:pt x="2387" y="12931"/>
                </a:cubicBezTo>
                <a:lnTo>
                  <a:pt x="2387" y="15302"/>
                </a:lnTo>
                <a:cubicBezTo>
                  <a:pt x="2387" y="16225"/>
                  <a:pt x="2388" y="16853"/>
                  <a:pt x="2432" y="17338"/>
                </a:cubicBezTo>
                <a:cubicBezTo>
                  <a:pt x="2474" y="17810"/>
                  <a:pt x="2551" y="18052"/>
                  <a:pt x="2647" y="18220"/>
                </a:cubicBezTo>
                <a:cubicBezTo>
                  <a:pt x="2876" y="18626"/>
                  <a:pt x="3241" y="18955"/>
                  <a:pt x="3690" y="19162"/>
                </a:cubicBezTo>
                <a:cubicBezTo>
                  <a:pt x="3877" y="19248"/>
                  <a:pt x="4144" y="19318"/>
                  <a:pt x="4667" y="19356"/>
                </a:cubicBezTo>
                <a:cubicBezTo>
                  <a:pt x="4884" y="19372"/>
                  <a:pt x="5128" y="19382"/>
                  <a:pt x="5407" y="19388"/>
                </a:cubicBezTo>
                <a:close/>
                <a:moveTo>
                  <a:pt x="7160" y="9493"/>
                </a:moveTo>
                <a:lnTo>
                  <a:pt x="7160" y="16164"/>
                </a:lnTo>
                <a:cubicBezTo>
                  <a:pt x="7160" y="17236"/>
                  <a:pt x="7170" y="17560"/>
                  <a:pt x="7241" y="17799"/>
                </a:cubicBezTo>
                <a:cubicBezTo>
                  <a:pt x="7462" y="18543"/>
                  <a:pt x="8105" y="19124"/>
                  <a:pt x="8928" y="19324"/>
                </a:cubicBezTo>
                <a:cubicBezTo>
                  <a:pt x="9194" y="19388"/>
                  <a:pt x="9553" y="19397"/>
                  <a:pt x="10739" y="19397"/>
                </a:cubicBezTo>
                <a:lnTo>
                  <a:pt x="13524" y="19397"/>
                </a:lnTo>
                <a:cubicBezTo>
                  <a:pt x="15200" y="19397"/>
                  <a:pt x="15691" y="19377"/>
                  <a:pt x="16076" y="19234"/>
                </a:cubicBezTo>
                <a:cubicBezTo>
                  <a:pt x="16461" y="19090"/>
                  <a:pt x="16799" y="18857"/>
                  <a:pt x="17054" y="18559"/>
                </a:cubicBezTo>
                <a:cubicBezTo>
                  <a:pt x="17307" y="18262"/>
                  <a:pt x="17458" y="17839"/>
                  <a:pt x="17899" y="16379"/>
                </a:cubicBezTo>
                <a:lnTo>
                  <a:pt x="18444" y="14575"/>
                </a:lnTo>
                <a:cubicBezTo>
                  <a:pt x="18744" y="13583"/>
                  <a:pt x="18949" y="12899"/>
                  <a:pt x="19061" y="12366"/>
                </a:cubicBezTo>
                <a:cubicBezTo>
                  <a:pt x="19172" y="11837"/>
                  <a:pt x="19166" y="11567"/>
                  <a:pt x="19122" y="11387"/>
                </a:cubicBezTo>
                <a:cubicBezTo>
                  <a:pt x="18970" y="10768"/>
                  <a:pt x="18524" y="10241"/>
                  <a:pt x="17904" y="9946"/>
                </a:cubicBezTo>
                <a:cubicBezTo>
                  <a:pt x="17722" y="9860"/>
                  <a:pt x="17436" y="9783"/>
                  <a:pt x="16842" y="9741"/>
                </a:cubicBezTo>
                <a:cubicBezTo>
                  <a:pt x="16243" y="9699"/>
                  <a:pt x="15457" y="9698"/>
                  <a:pt x="14319" y="9698"/>
                </a:cubicBezTo>
                <a:cubicBezTo>
                  <a:pt x="13941" y="9698"/>
                  <a:pt x="13584" y="9536"/>
                  <a:pt x="13360" y="9261"/>
                </a:cubicBezTo>
                <a:cubicBezTo>
                  <a:pt x="13134" y="8986"/>
                  <a:pt x="13067" y="8631"/>
                  <a:pt x="13178" y="8304"/>
                </a:cubicBezTo>
                <a:lnTo>
                  <a:pt x="14311" y="4980"/>
                </a:lnTo>
                <a:cubicBezTo>
                  <a:pt x="14722" y="3771"/>
                  <a:pt x="13900" y="2522"/>
                  <a:pt x="12567" y="2246"/>
                </a:cubicBezTo>
                <a:lnTo>
                  <a:pt x="8787" y="8220"/>
                </a:lnTo>
                <a:cubicBezTo>
                  <a:pt x="8415" y="8808"/>
                  <a:pt x="7836" y="9252"/>
                  <a:pt x="7160" y="9493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Google Shape;1266;p99">
            <a:extLst xmlns:a="http://schemas.openxmlformats.org/drawingml/2006/main">
              <a:ext uri="{FF2B5EF4-FFF2-40B4-BE49-F238E27FC236}">
                <a16:creationId xmlns:a16="http://schemas.microsoft.com/office/drawing/2014/main" id="{A7463D0C-45D0-FAD2-0C32-03216576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485" y="4029083"/>
            <a:ext cx="321663" cy="321771"/>
          </a:xfrm>
          <a:custGeom xmlns:a="http://schemas.openxmlformats.org/drawingml/2006/main">
            <a:rect l="l" t="t" r="r" b="b"/>
            <a:pathLst>
              <a:path w="21599" h="21599">
                <a:moveTo>
                  <a:pt x="6252" y="0"/>
                </a:moveTo>
                <a:cubicBezTo>
                  <a:pt x="6880" y="0"/>
                  <a:pt x="7389" y="509"/>
                  <a:pt x="7389" y="1137"/>
                </a:cubicBezTo>
                <a:lnTo>
                  <a:pt x="14210" y="1137"/>
                </a:lnTo>
                <a:cubicBezTo>
                  <a:pt x="14210" y="509"/>
                  <a:pt x="14719" y="0"/>
                  <a:pt x="15347" y="0"/>
                </a:cubicBezTo>
                <a:cubicBezTo>
                  <a:pt x="15974" y="0"/>
                  <a:pt x="16483" y="509"/>
                  <a:pt x="16483" y="1137"/>
                </a:cubicBezTo>
                <a:lnTo>
                  <a:pt x="16483" y="1146"/>
                </a:lnTo>
                <a:cubicBezTo>
                  <a:pt x="16839" y="1155"/>
                  <a:pt x="17162" y="1170"/>
                  <a:pt x="17456" y="1197"/>
                </a:cubicBezTo>
                <a:cubicBezTo>
                  <a:pt x="18049" y="1254"/>
                  <a:pt x="18598" y="1369"/>
                  <a:pt x="19116" y="1632"/>
                </a:cubicBezTo>
                <a:cubicBezTo>
                  <a:pt x="19972" y="2068"/>
                  <a:pt x="20668" y="2764"/>
                  <a:pt x="21103" y="3620"/>
                </a:cubicBezTo>
                <a:cubicBezTo>
                  <a:pt x="21384" y="4171"/>
                  <a:pt x="21497" y="4759"/>
                  <a:pt x="21549" y="5397"/>
                </a:cubicBezTo>
                <a:cubicBezTo>
                  <a:pt x="21599" y="6012"/>
                  <a:pt x="21599" y="6768"/>
                  <a:pt x="21599" y="7684"/>
                </a:cubicBezTo>
                <a:lnTo>
                  <a:pt x="21599" y="13655"/>
                </a:lnTo>
                <a:cubicBezTo>
                  <a:pt x="21599" y="13694"/>
                  <a:pt x="21599" y="13732"/>
                  <a:pt x="21599" y="13771"/>
                </a:cubicBezTo>
                <a:cubicBezTo>
                  <a:pt x="21599" y="14493"/>
                  <a:pt x="21600" y="15037"/>
                  <a:pt x="21473" y="15564"/>
                </a:cubicBezTo>
                <a:cubicBezTo>
                  <a:pt x="21361" y="16027"/>
                  <a:pt x="21178" y="16471"/>
                  <a:pt x="20929" y="16878"/>
                </a:cubicBezTo>
                <a:cubicBezTo>
                  <a:pt x="20646" y="17339"/>
                  <a:pt x="20261" y="17725"/>
                  <a:pt x="19749" y="18235"/>
                </a:cubicBezTo>
                <a:cubicBezTo>
                  <a:pt x="19723" y="18262"/>
                  <a:pt x="19696" y="18290"/>
                  <a:pt x="19667" y="18317"/>
                </a:cubicBezTo>
                <a:lnTo>
                  <a:pt x="18317" y="19667"/>
                </a:lnTo>
                <a:cubicBezTo>
                  <a:pt x="18290" y="19696"/>
                  <a:pt x="18262" y="19723"/>
                  <a:pt x="18235" y="19749"/>
                </a:cubicBezTo>
                <a:cubicBezTo>
                  <a:pt x="17725" y="20260"/>
                  <a:pt x="17339" y="20646"/>
                  <a:pt x="16878" y="20929"/>
                </a:cubicBezTo>
                <a:cubicBezTo>
                  <a:pt x="16471" y="21178"/>
                  <a:pt x="16027" y="21361"/>
                  <a:pt x="15564" y="21473"/>
                </a:cubicBezTo>
                <a:cubicBezTo>
                  <a:pt x="15037" y="21600"/>
                  <a:pt x="14493" y="21599"/>
                  <a:pt x="13771" y="21599"/>
                </a:cubicBezTo>
                <a:cubicBezTo>
                  <a:pt x="13732" y="21599"/>
                  <a:pt x="13694" y="21599"/>
                  <a:pt x="13655" y="21599"/>
                </a:cubicBezTo>
                <a:lnTo>
                  <a:pt x="6547" y="21599"/>
                </a:lnTo>
                <a:cubicBezTo>
                  <a:pt x="5632" y="21599"/>
                  <a:pt x="4876" y="21599"/>
                  <a:pt x="4261" y="21549"/>
                </a:cubicBezTo>
                <a:cubicBezTo>
                  <a:pt x="3622" y="21497"/>
                  <a:pt x="3034" y="21384"/>
                  <a:pt x="2483" y="21103"/>
                </a:cubicBezTo>
                <a:cubicBezTo>
                  <a:pt x="1627" y="20668"/>
                  <a:pt x="931" y="19972"/>
                  <a:pt x="496" y="19116"/>
                </a:cubicBezTo>
                <a:cubicBezTo>
                  <a:pt x="215" y="18565"/>
                  <a:pt x="102" y="17977"/>
                  <a:pt x="50" y="17338"/>
                </a:cubicBezTo>
                <a:cubicBezTo>
                  <a:pt x="0" y="16723"/>
                  <a:pt x="0" y="15967"/>
                  <a:pt x="0" y="15052"/>
                </a:cubicBezTo>
                <a:lnTo>
                  <a:pt x="0" y="7684"/>
                </a:lnTo>
                <a:cubicBezTo>
                  <a:pt x="0" y="6768"/>
                  <a:pt x="0" y="6012"/>
                  <a:pt x="50" y="5397"/>
                </a:cubicBezTo>
                <a:cubicBezTo>
                  <a:pt x="102" y="4759"/>
                  <a:pt x="215" y="4171"/>
                  <a:pt x="496" y="3620"/>
                </a:cubicBezTo>
                <a:cubicBezTo>
                  <a:pt x="931" y="2764"/>
                  <a:pt x="1627" y="2068"/>
                  <a:pt x="2483" y="1632"/>
                </a:cubicBezTo>
                <a:cubicBezTo>
                  <a:pt x="3001" y="1369"/>
                  <a:pt x="3550" y="1254"/>
                  <a:pt x="4142" y="1197"/>
                </a:cubicBezTo>
                <a:cubicBezTo>
                  <a:pt x="4437" y="1170"/>
                  <a:pt x="4760" y="1155"/>
                  <a:pt x="5116" y="1146"/>
                </a:cubicBezTo>
                <a:lnTo>
                  <a:pt x="5116" y="1137"/>
                </a:lnTo>
                <a:cubicBezTo>
                  <a:pt x="5116" y="509"/>
                  <a:pt x="5625" y="0"/>
                  <a:pt x="6252" y="0"/>
                </a:cubicBezTo>
                <a:close/>
                <a:moveTo>
                  <a:pt x="5116" y="3421"/>
                </a:moveTo>
                <a:cubicBezTo>
                  <a:pt x="4822" y="3427"/>
                  <a:pt x="4576" y="3440"/>
                  <a:pt x="4358" y="3460"/>
                </a:cubicBezTo>
                <a:cubicBezTo>
                  <a:pt x="3916" y="3502"/>
                  <a:pt x="3681" y="3573"/>
                  <a:pt x="3515" y="3658"/>
                </a:cubicBezTo>
                <a:cubicBezTo>
                  <a:pt x="3088" y="3876"/>
                  <a:pt x="2740" y="4224"/>
                  <a:pt x="2521" y="4652"/>
                </a:cubicBezTo>
                <a:cubicBezTo>
                  <a:pt x="2430" y="4829"/>
                  <a:pt x="2357" y="5085"/>
                  <a:pt x="2317" y="5583"/>
                </a:cubicBezTo>
                <a:cubicBezTo>
                  <a:pt x="2275" y="6094"/>
                  <a:pt x="2274" y="6756"/>
                  <a:pt x="2274" y="7730"/>
                </a:cubicBezTo>
                <a:lnTo>
                  <a:pt x="2274" y="15006"/>
                </a:lnTo>
                <a:cubicBezTo>
                  <a:pt x="2274" y="15980"/>
                  <a:pt x="2275" y="16641"/>
                  <a:pt x="2317" y="17153"/>
                </a:cubicBezTo>
                <a:cubicBezTo>
                  <a:pt x="2357" y="17651"/>
                  <a:pt x="2430" y="17907"/>
                  <a:pt x="2521" y="18084"/>
                </a:cubicBezTo>
                <a:cubicBezTo>
                  <a:pt x="2740" y="18511"/>
                  <a:pt x="3088" y="18859"/>
                  <a:pt x="3515" y="19077"/>
                </a:cubicBezTo>
                <a:cubicBezTo>
                  <a:pt x="3692" y="19168"/>
                  <a:pt x="3948" y="19242"/>
                  <a:pt x="4446" y="19282"/>
                </a:cubicBezTo>
                <a:cubicBezTo>
                  <a:pt x="4958" y="19324"/>
                  <a:pt x="5619" y="19325"/>
                  <a:pt x="6593" y="19325"/>
                </a:cubicBezTo>
                <a:lnTo>
                  <a:pt x="13073" y="19325"/>
                </a:lnTo>
                <a:lnTo>
                  <a:pt x="13073" y="18189"/>
                </a:lnTo>
                <a:cubicBezTo>
                  <a:pt x="13073" y="15677"/>
                  <a:pt x="15109" y="13641"/>
                  <a:pt x="17620" y="13641"/>
                </a:cubicBezTo>
                <a:lnTo>
                  <a:pt x="18757" y="13641"/>
                </a:lnTo>
                <a:cubicBezTo>
                  <a:pt x="18964" y="13641"/>
                  <a:pt x="19158" y="13697"/>
                  <a:pt x="19325" y="13794"/>
                </a:cubicBezTo>
                <a:cubicBezTo>
                  <a:pt x="19325" y="13749"/>
                  <a:pt x="19325" y="13703"/>
                  <a:pt x="19325" y="13655"/>
                </a:cubicBezTo>
                <a:lnTo>
                  <a:pt x="19325" y="7730"/>
                </a:lnTo>
                <a:cubicBezTo>
                  <a:pt x="19325" y="6756"/>
                  <a:pt x="19324" y="6094"/>
                  <a:pt x="19282" y="5583"/>
                </a:cubicBezTo>
                <a:cubicBezTo>
                  <a:pt x="19242" y="5085"/>
                  <a:pt x="19168" y="4829"/>
                  <a:pt x="19077" y="4652"/>
                </a:cubicBezTo>
                <a:cubicBezTo>
                  <a:pt x="18859" y="4224"/>
                  <a:pt x="18511" y="3876"/>
                  <a:pt x="18084" y="3658"/>
                </a:cubicBezTo>
                <a:cubicBezTo>
                  <a:pt x="17918" y="3573"/>
                  <a:pt x="17683" y="3502"/>
                  <a:pt x="17240" y="3460"/>
                </a:cubicBezTo>
                <a:cubicBezTo>
                  <a:pt x="17023" y="3440"/>
                  <a:pt x="16777" y="3427"/>
                  <a:pt x="16483" y="3421"/>
                </a:cubicBezTo>
                <a:lnTo>
                  <a:pt x="16483" y="4547"/>
                </a:lnTo>
                <a:cubicBezTo>
                  <a:pt x="16483" y="5175"/>
                  <a:pt x="15974" y="5684"/>
                  <a:pt x="15347" y="5684"/>
                </a:cubicBezTo>
                <a:cubicBezTo>
                  <a:pt x="14719" y="5684"/>
                  <a:pt x="14210" y="5175"/>
                  <a:pt x="14210" y="4547"/>
                </a:cubicBezTo>
                <a:lnTo>
                  <a:pt x="14210" y="3410"/>
                </a:lnTo>
                <a:lnTo>
                  <a:pt x="7389" y="3410"/>
                </a:lnTo>
                <a:lnTo>
                  <a:pt x="7389" y="4547"/>
                </a:lnTo>
                <a:cubicBezTo>
                  <a:pt x="7389" y="5175"/>
                  <a:pt x="6880" y="5684"/>
                  <a:pt x="6252" y="5684"/>
                </a:cubicBezTo>
                <a:cubicBezTo>
                  <a:pt x="5625" y="5684"/>
                  <a:pt x="5116" y="5175"/>
                  <a:pt x="5116" y="4547"/>
                </a:cubicBezTo>
                <a:lnTo>
                  <a:pt x="5116" y="3421"/>
                </a:lnTo>
                <a:close/>
                <a:moveTo>
                  <a:pt x="18827" y="15913"/>
                </a:moveTo>
                <a:cubicBezTo>
                  <a:pt x="18804" y="15914"/>
                  <a:pt x="18781" y="15915"/>
                  <a:pt x="18757" y="15915"/>
                </a:cubicBezTo>
                <a:lnTo>
                  <a:pt x="17620" y="15915"/>
                </a:lnTo>
                <a:cubicBezTo>
                  <a:pt x="16364" y="15915"/>
                  <a:pt x="15347" y="16932"/>
                  <a:pt x="15347" y="18189"/>
                </a:cubicBezTo>
                <a:lnTo>
                  <a:pt x="15347" y="19163"/>
                </a:lnTo>
                <a:cubicBezTo>
                  <a:pt x="15466" y="19115"/>
                  <a:pt x="15581" y="19057"/>
                  <a:pt x="15690" y="18990"/>
                </a:cubicBezTo>
                <a:cubicBezTo>
                  <a:pt x="15893" y="18866"/>
                  <a:pt x="16081" y="18689"/>
                  <a:pt x="16710" y="18060"/>
                </a:cubicBezTo>
                <a:lnTo>
                  <a:pt x="18060" y="16710"/>
                </a:lnTo>
                <a:cubicBezTo>
                  <a:pt x="18472" y="16297"/>
                  <a:pt x="18690" y="16074"/>
                  <a:pt x="18827" y="15913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Footer Placeholder 18">
            <a:extLst xmlns:a="http://schemas.openxmlformats.org/drawingml/2006/main">
              <a:ext uri="{FF2B5EF4-FFF2-40B4-BE49-F238E27FC236}">
                <a16:creationId xmlns:a16="http://schemas.microsoft.com/office/drawing/2014/main" id="{A7C685AE-794E-F9C0-C7B3-7E956842DD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892F439-FAFA-E9E4-AA65-F7A04500A77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rPr>
                <a:solidFill>
                  <a:srgbClr val="A9C7E8"/>
                </a:solidFill>
              </a:rPr>
              <a:t>13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342105169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Codex is strongest when it can act, test, and refine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Scoped delivery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Give one outcome, relevant code context, constraints, acceptance criteria, and verification commands.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Repository work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Let Codex inspect patterns and reuse existing modules before it edits.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Tool execution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Authorize safe local edits and checks; reserve approval for destructive or external actions.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Runtime iteration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Run the app, observe behavior, fix confirmed defects, and rerun evidence.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A useful Codex task ends with working code, command results, a reviewed diff, and clearly stated residual risk.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rPr>
                <a:solidFill>
                  <a:srgbClr val="A9C7E8"/>
                </a:solidFill>
              </a:rPr>
              <a:t>14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4D765FCF-56FA-8EE2-65DF-D8A5321F3C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Focused context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Point Claude to relevant files and expand only when evidence requires it.</a:t>
            </a:r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FA1AD57-2515-3263-71AA-F5510D72450E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Subagents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 specialist roles for security, testing, database, performance, and accessibility review.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F4CF59D7-297B-30C8-431E-585575A55EC7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Hooks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Enforce deterministic rules such as protected files, formatting, tests, and destructive-command blocks.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252743B9-4592-4663-CAD2-40CC23D40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Claude Code is strongest with focused context and review roles</a:t>
            </a:r>
            <a:endParaRPr/>
          </a:p>
        </p:txBody>
      </p:sp>
      <p:sp>
        <p:nvSpPr>
          <p:cNvPr id="2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0018B0C7-DC20-D7FE-2D99-C8372B90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Skills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Package repeatable workflows and supporting references.</a:t>
            </a:r>
          </a:p>
        </p:txBody>
      </p:sp>
      <p:sp>
        <p:nvSpPr>
          <p:cNvPr id="3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142AC269-69D2-161D-AD16-2E5D7B8A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MCP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Connect external tools and documentation with least-privilege access.</a:t>
            </a:r>
          </a:p>
        </p:txBody>
      </p:sp>
      <p:sp>
        <p:nvSpPr>
          <p:cNvPr id="4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7E988850-5A60-A9C4-B928-BDFEC4FE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Independent review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Challenge assumptions and distinguish confirmed, unverified, and not-tested findings.</a:t>
            </a:r>
          </a:p>
        </p:txBody>
      </p:sp>
      <p:sp>
        <p:nvSpPr>
          <p:cNvPr id="5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43830694-5B70-1E3A-562E-A57DE1DE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2022554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7C8ADA23-5610-C31E-B048-A0886EDC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2018463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Google Shape;1369;p101">
            <a:extLst xmlns:a="http://schemas.openxmlformats.org/drawingml/2006/main">
              <a:ext uri="{FF2B5EF4-FFF2-40B4-BE49-F238E27FC236}">
                <a16:creationId xmlns:a16="http://schemas.microsoft.com/office/drawing/2014/main" id="{41FBCA7C-C2E7-AFB5-3B6C-4D9C9E15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0146"/>
            <a:ext cx="338580" cy="338688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415;p101">
            <a:extLst xmlns:a="http://schemas.openxmlformats.org/drawingml/2006/main">
              <a:ext uri="{FF2B5EF4-FFF2-40B4-BE49-F238E27FC236}">
                <a16:creationId xmlns:a16="http://schemas.microsoft.com/office/drawing/2014/main" id="{8574D0ED-7640-B4E7-7B56-C1CA61B9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5" y="4050316"/>
            <a:ext cx="389340" cy="304776"/>
          </a:xfrm>
          <a:custGeom xmlns:a="http://schemas.openxmlformats.org/drawingml/2006/main">
            <a:rect l="l" t="t" r="r" b="b"/>
            <a:pathLst>
              <a:path w="21600" h="21600">
                <a:moveTo>
                  <a:pt x="6574" y="2400"/>
                </a:moveTo>
                <a:cubicBezTo>
                  <a:pt x="5277" y="2400"/>
                  <a:pt x="4226" y="3743"/>
                  <a:pt x="4226" y="5400"/>
                </a:cubicBezTo>
                <a:cubicBezTo>
                  <a:pt x="4226" y="7057"/>
                  <a:pt x="5277" y="8400"/>
                  <a:pt x="6574" y="8400"/>
                </a:cubicBezTo>
                <a:cubicBezTo>
                  <a:pt x="7871" y="8400"/>
                  <a:pt x="8922" y="7057"/>
                  <a:pt x="8922" y="5400"/>
                </a:cubicBezTo>
                <a:cubicBezTo>
                  <a:pt x="8922" y="3743"/>
                  <a:pt x="7871" y="2400"/>
                  <a:pt x="6574" y="2400"/>
                </a:cubicBezTo>
                <a:close/>
                <a:moveTo>
                  <a:pt x="2348" y="5400"/>
                </a:moveTo>
                <a:cubicBezTo>
                  <a:pt x="2348" y="2418"/>
                  <a:pt x="4240" y="0"/>
                  <a:pt x="6574" y="0"/>
                </a:cubicBezTo>
                <a:cubicBezTo>
                  <a:pt x="8908" y="0"/>
                  <a:pt x="10800" y="2418"/>
                  <a:pt x="10800" y="5400"/>
                </a:cubicBezTo>
                <a:cubicBezTo>
                  <a:pt x="10800" y="8382"/>
                  <a:pt x="8908" y="10800"/>
                  <a:pt x="6574" y="10800"/>
                </a:cubicBezTo>
                <a:cubicBezTo>
                  <a:pt x="4240" y="10800"/>
                  <a:pt x="2348" y="8382"/>
                  <a:pt x="2348" y="5400"/>
                </a:cubicBezTo>
                <a:close/>
                <a:moveTo>
                  <a:pt x="15496" y="3600"/>
                </a:moveTo>
                <a:cubicBezTo>
                  <a:pt x="14458" y="3600"/>
                  <a:pt x="13617" y="4674"/>
                  <a:pt x="13617" y="6000"/>
                </a:cubicBezTo>
                <a:cubicBezTo>
                  <a:pt x="13617" y="7326"/>
                  <a:pt x="14458" y="8400"/>
                  <a:pt x="15496" y="8400"/>
                </a:cubicBezTo>
                <a:cubicBezTo>
                  <a:pt x="16533" y="8400"/>
                  <a:pt x="17374" y="7326"/>
                  <a:pt x="17374" y="6000"/>
                </a:cubicBezTo>
                <a:cubicBezTo>
                  <a:pt x="17374" y="4674"/>
                  <a:pt x="16533" y="3600"/>
                  <a:pt x="15496" y="3600"/>
                </a:cubicBezTo>
                <a:close/>
                <a:moveTo>
                  <a:pt x="11739" y="6000"/>
                </a:moveTo>
                <a:cubicBezTo>
                  <a:pt x="11739" y="3349"/>
                  <a:pt x="13421" y="1200"/>
                  <a:pt x="15496" y="1200"/>
                </a:cubicBezTo>
                <a:cubicBezTo>
                  <a:pt x="17570" y="1200"/>
                  <a:pt x="19252" y="3349"/>
                  <a:pt x="19252" y="6000"/>
                </a:cubicBezTo>
                <a:cubicBezTo>
                  <a:pt x="19252" y="8651"/>
                  <a:pt x="17570" y="10800"/>
                  <a:pt x="15496" y="10800"/>
                </a:cubicBezTo>
                <a:cubicBezTo>
                  <a:pt x="13421" y="10800"/>
                  <a:pt x="11739" y="8651"/>
                  <a:pt x="11739" y="6000"/>
                </a:cubicBezTo>
                <a:close/>
                <a:moveTo>
                  <a:pt x="3324" y="15896"/>
                </a:moveTo>
                <a:cubicBezTo>
                  <a:pt x="2477" y="16858"/>
                  <a:pt x="1878" y="18325"/>
                  <a:pt x="1878" y="20400"/>
                </a:cubicBezTo>
                <a:cubicBezTo>
                  <a:pt x="1878" y="21062"/>
                  <a:pt x="1458" y="21600"/>
                  <a:pt x="939" y="21600"/>
                </a:cubicBezTo>
                <a:cubicBezTo>
                  <a:pt x="421" y="21600"/>
                  <a:pt x="0" y="21062"/>
                  <a:pt x="0" y="20400"/>
                </a:cubicBezTo>
                <a:cubicBezTo>
                  <a:pt x="0" y="17675"/>
                  <a:pt x="810" y="15542"/>
                  <a:pt x="2076" y="14102"/>
                </a:cubicBezTo>
                <a:cubicBezTo>
                  <a:pt x="3325" y="12684"/>
                  <a:pt x="4965" y="12000"/>
                  <a:pt x="6574" y="12000"/>
                </a:cubicBezTo>
                <a:cubicBezTo>
                  <a:pt x="8183" y="12000"/>
                  <a:pt x="9822" y="12684"/>
                  <a:pt x="11071" y="14102"/>
                </a:cubicBezTo>
                <a:cubicBezTo>
                  <a:pt x="12338" y="15542"/>
                  <a:pt x="13148" y="17675"/>
                  <a:pt x="13148" y="20400"/>
                </a:cubicBezTo>
                <a:cubicBezTo>
                  <a:pt x="13148" y="21062"/>
                  <a:pt x="12727" y="21600"/>
                  <a:pt x="12209" y="21600"/>
                </a:cubicBezTo>
                <a:cubicBezTo>
                  <a:pt x="11690" y="21600"/>
                  <a:pt x="11270" y="21062"/>
                  <a:pt x="11270" y="20400"/>
                </a:cubicBezTo>
                <a:cubicBezTo>
                  <a:pt x="11270" y="18325"/>
                  <a:pt x="10670" y="16858"/>
                  <a:pt x="9824" y="15896"/>
                </a:cubicBezTo>
                <a:cubicBezTo>
                  <a:pt x="8960" y="14916"/>
                  <a:pt x="7783" y="14400"/>
                  <a:pt x="6574" y="14400"/>
                </a:cubicBezTo>
                <a:cubicBezTo>
                  <a:pt x="5365" y="14400"/>
                  <a:pt x="4188" y="14916"/>
                  <a:pt x="3324" y="15896"/>
                </a:cubicBezTo>
                <a:close/>
                <a:moveTo>
                  <a:pt x="18122" y="15168"/>
                </a:moveTo>
                <a:cubicBezTo>
                  <a:pt x="17175" y="14402"/>
                  <a:pt x="15927" y="14200"/>
                  <a:pt x="14811" y="14602"/>
                </a:cubicBezTo>
                <a:cubicBezTo>
                  <a:pt x="14312" y="14782"/>
                  <a:pt x="13793" y="14411"/>
                  <a:pt x="13653" y="13772"/>
                </a:cubicBezTo>
                <a:cubicBezTo>
                  <a:pt x="13512" y="13134"/>
                  <a:pt x="13802" y="12472"/>
                  <a:pt x="14302" y="12292"/>
                </a:cubicBezTo>
                <a:cubicBezTo>
                  <a:pt x="15894" y="11718"/>
                  <a:pt x="17698" y="11986"/>
                  <a:pt x="19125" y="13139"/>
                </a:cubicBezTo>
                <a:cubicBezTo>
                  <a:pt x="20589" y="14320"/>
                  <a:pt x="21600" y="16387"/>
                  <a:pt x="21600" y="19200"/>
                </a:cubicBezTo>
                <a:cubicBezTo>
                  <a:pt x="21600" y="19862"/>
                  <a:pt x="21179" y="20400"/>
                  <a:pt x="20661" y="20400"/>
                </a:cubicBezTo>
                <a:cubicBezTo>
                  <a:pt x="20142" y="20400"/>
                  <a:pt x="19722" y="19862"/>
                  <a:pt x="19722" y="19200"/>
                </a:cubicBezTo>
                <a:cubicBezTo>
                  <a:pt x="19722" y="17202"/>
                  <a:pt x="19034" y="15905"/>
                  <a:pt x="18122" y="15168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1512;p103">
            <a:extLst xmlns:a="http://schemas.openxmlformats.org/drawingml/2006/main">
              <a:ext uri="{FF2B5EF4-FFF2-40B4-BE49-F238E27FC236}">
                <a16:creationId xmlns:a16="http://schemas.microsoft.com/office/drawing/2014/main" id="{D015E4E0-1777-A560-A6C2-AEDA1FAD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36" y="4025768"/>
            <a:ext cx="305570" cy="338652"/>
          </a:xfrm>
          <a:custGeom xmlns:a="http://schemas.openxmlformats.org/drawingml/2006/main">
            <a:rect l="l" t="t" r="r" b="b"/>
            <a:pathLst>
              <a:path w="21538" h="21553">
                <a:moveTo>
                  <a:pt x="10897" y="543"/>
                </a:moveTo>
                <a:cubicBezTo>
                  <a:pt x="11135" y="165"/>
                  <a:pt x="11603" y="-46"/>
                  <a:pt x="12081" y="8"/>
                </a:cubicBezTo>
                <a:lnTo>
                  <a:pt x="12622" y="69"/>
                </a:lnTo>
                <a:cubicBezTo>
                  <a:pt x="15566" y="401"/>
                  <a:pt x="17464" y="3053"/>
                  <a:pt x="16592" y="5614"/>
                </a:cubicBezTo>
                <a:lnTo>
                  <a:pt x="15932" y="7551"/>
                </a:lnTo>
                <a:cubicBezTo>
                  <a:pt x="16337" y="7557"/>
                  <a:pt x="16701" y="7570"/>
                  <a:pt x="17029" y="7593"/>
                </a:cubicBezTo>
                <a:cubicBezTo>
                  <a:pt x="17750" y="7644"/>
                  <a:pt x="18413" y="7753"/>
                  <a:pt x="19016" y="8039"/>
                </a:cubicBezTo>
                <a:cubicBezTo>
                  <a:pt x="20257" y="8629"/>
                  <a:pt x="21148" y="9683"/>
                  <a:pt x="21451" y="10920"/>
                </a:cubicBezTo>
                <a:cubicBezTo>
                  <a:pt x="21599" y="11520"/>
                  <a:pt x="21541" y="12127"/>
                  <a:pt x="21406" y="12769"/>
                </a:cubicBezTo>
                <a:cubicBezTo>
                  <a:pt x="21273" y="13395"/>
                  <a:pt x="21043" y="14161"/>
                  <a:pt x="20759" y="15099"/>
                </a:cubicBezTo>
                <a:lnTo>
                  <a:pt x="20202" y="16946"/>
                </a:lnTo>
                <a:cubicBezTo>
                  <a:pt x="20181" y="17013"/>
                  <a:pt x="20161" y="17078"/>
                  <a:pt x="20142" y="17143"/>
                </a:cubicBezTo>
                <a:cubicBezTo>
                  <a:pt x="19789" y="18315"/>
                  <a:pt x="19524" y="19196"/>
                  <a:pt x="18943" y="19876"/>
                </a:cubicBezTo>
                <a:cubicBezTo>
                  <a:pt x="18432" y="20473"/>
                  <a:pt x="17757" y="20939"/>
                  <a:pt x="16986" y="21226"/>
                </a:cubicBezTo>
                <a:cubicBezTo>
                  <a:pt x="16107" y="21554"/>
                  <a:pt x="15095" y="21553"/>
                  <a:pt x="13750" y="21552"/>
                </a:cubicBezTo>
                <a:cubicBezTo>
                  <a:pt x="11456" y="21551"/>
                  <a:pt x="9164" y="21552"/>
                  <a:pt x="6872" y="21552"/>
                </a:cubicBezTo>
                <a:cubicBezTo>
                  <a:pt x="5911" y="21552"/>
                  <a:pt x="5118" y="21552"/>
                  <a:pt x="4472" y="21505"/>
                </a:cubicBezTo>
                <a:cubicBezTo>
                  <a:pt x="3802" y="21455"/>
                  <a:pt x="3185" y="21349"/>
                  <a:pt x="2606" y="21082"/>
                </a:cubicBezTo>
                <a:cubicBezTo>
                  <a:pt x="1708" y="20669"/>
                  <a:pt x="979" y="20010"/>
                  <a:pt x="520" y="19199"/>
                </a:cubicBezTo>
                <a:cubicBezTo>
                  <a:pt x="226" y="18676"/>
                  <a:pt x="108" y="18119"/>
                  <a:pt x="53" y="17513"/>
                </a:cubicBezTo>
                <a:cubicBezTo>
                  <a:pt x="0" y="16930"/>
                  <a:pt x="0" y="16214"/>
                  <a:pt x="0" y="15346"/>
                </a:cubicBezTo>
                <a:lnTo>
                  <a:pt x="0" y="12931"/>
                </a:lnTo>
                <a:cubicBezTo>
                  <a:pt x="0" y="12881"/>
                  <a:pt x="0" y="12832"/>
                  <a:pt x="0" y="12783"/>
                </a:cubicBezTo>
                <a:cubicBezTo>
                  <a:pt x="0" y="11926"/>
                  <a:pt x="-1" y="11289"/>
                  <a:pt x="162" y="10738"/>
                </a:cubicBezTo>
                <a:cubicBezTo>
                  <a:pt x="604" y="9250"/>
                  <a:pt x="1890" y="8088"/>
                  <a:pt x="3538" y="7690"/>
                </a:cubicBezTo>
                <a:cubicBezTo>
                  <a:pt x="4148" y="7542"/>
                  <a:pt x="4853" y="7542"/>
                  <a:pt x="5803" y="7543"/>
                </a:cubicBezTo>
                <a:cubicBezTo>
                  <a:pt x="5857" y="7543"/>
                  <a:pt x="5911" y="7543"/>
                  <a:pt x="5966" y="7543"/>
                </a:cubicBezTo>
                <a:cubicBezTo>
                  <a:pt x="6277" y="7543"/>
                  <a:pt x="6562" y="7393"/>
                  <a:pt x="6716" y="7150"/>
                </a:cubicBezTo>
                <a:lnTo>
                  <a:pt x="10897" y="543"/>
                </a:lnTo>
                <a:close/>
                <a:moveTo>
                  <a:pt x="5407" y="19388"/>
                </a:moveTo>
                <a:cubicBezTo>
                  <a:pt x="5204" y="19068"/>
                  <a:pt x="5044" y="18723"/>
                  <a:pt x="4935" y="18357"/>
                </a:cubicBezTo>
                <a:cubicBezTo>
                  <a:pt x="4772" y="17806"/>
                  <a:pt x="4773" y="17169"/>
                  <a:pt x="4773" y="16312"/>
                </a:cubicBezTo>
                <a:cubicBezTo>
                  <a:pt x="4773" y="16264"/>
                  <a:pt x="4773" y="16214"/>
                  <a:pt x="4773" y="16164"/>
                </a:cubicBezTo>
                <a:lnTo>
                  <a:pt x="4773" y="9709"/>
                </a:lnTo>
                <a:cubicBezTo>
                  <a:pt x="4466" y="9719"/>
                  <a:pt x="4297" y="9737"/>
                  <a:pt x="4155" y="9772"/>
                </a:cubicBezTo>
                <a:cubicBezTo>
                  <a:pt x="3332" y="9971"/>
                  <a:pt x="2689" y="10552"/>
                  <a:pt x="2468" y="11296"/>
                </a:cubicBezTo>
                <a:cubicBezTo>
                  <a:pt x="2397" y="11535"/>
                  <a:pt x="2387" y="11860"/>
                  <a:pt x="2387" y="12931"/>
                </a:cubicBezTo>
                <a:lnTo>
                  <a:pt x="2387" y="15302"/>
                </a:lnTo>
                <a:cubicBezTo>
                  <a:pt x="2387" y="16225"/>
                  <a:pt x="2388" y="16853"/>
                  <a:pt x="2432" y="17338"/>
                </a:cubicBezTo>
                <a:cubicBezTo>
                  <a:pt x="2474" y="17810"/>
                  <a:pt x="2551" y="18052"/>
                  <a:pt x="2647" y="18220"/>
                </a:cubicBezTo>
                <a:cubicBezTo>
                  <a:pt x="2876" y="18626"/>
                  <a:pt x="3241" y="18955"/>
                  <a:pt x="3690" y="19162"/>
                </a:cubicBezTo>
                <a:cubicBezTo>
                  <a:pt x="3877" y="19248"/>
                  <a:pt x="4144" y="19318"/>
                  <a:pt x="4667" y="19356"/>
                </a:cubicBezTo>
                <a:cubicBezTo>
                  <a:pt x="4884" y="19372"/>
                  <a:pt x="5128" y="19382"/>
                  <a:pt x="5407" y="19388"/>
                </a:cubicBezTo>
                <a:close/>
                <a:moveTo>
                  <a:pt x="7160" y="9493"/>
                </a:moveTo>
                <a:lnTo>
                  <a:pt x="7160" y="16164"/>
                </a:lnTo>
                <a:cubicBezTo>
                  <a:pt x="7160" y="17236"/>
                  <a:pt x="7170" y="17560"/>
                  <a:pt x="7241" y="17799"/>
                </a:cubicBezTo>
                <a:cubicBezTo>
                  <a:pt x="7462" y="18543"/>
                  <a:pt x="8105" y="19124"/>
                  <a:pt x="8928" y="19324"/>
                </a:cubicBezTo>
                <a:cubicBezTo>
                  <a:pt x="9194" y="19388"/>
                  <a:pt x="9553" y="19397"/>
                  <a:pt x="10739" y="19397"/>
                </a:cubicBezTo>
                <a:lnTo>
                  <a:pt x="13524" y="19397"/>
                </a:lnTo>
                <a:cubicBezTo>
                  <a:pt x="15200" y="19397"/>
                  <a:pt x="15691" y="19377"/>
                  <a:pt x="16076" y="19234"/>
                </a:cubicBezTo>
                <a:cubicBezTo>
                  <a:pt x="16461" y="19090"/>
                  <a:pt x="16799" y="18857"/>
                  <a:pt x="17054" y="18559"/>
                </a:cubicBezTo>
                <a:cubicBezTo>
                  <a:pt x="17307" y="18262"/>
                  <a:pt x="17458" y="17839"/>
                  <a:pt x="17899" y="16379"/>
                </a:cubicBezTo>
                <a:lnTo>
                  <a:pt x="18444" y="14575"/>
                </a:lnTo>
                <a:cubicBezTo>
                  <a:pt x="18744" y="13583"/>
                  <a:pt x="18949" y="12899"/>
                  <a:pt x="19061" y="12366"/>
                </a:cubicBezTo>
                <a:cubicBezTo>
                  <a:pt x="19172" y="11837"/>
                  <a:pt x="19166" y="11567"/>
                  <a:pt x="19122" y="11387"/>
                </a:cubicBezTo>
                <a:cubicBezTo>
                  <a:pt x="18970" y="10768"/>
                  <a:pt x="18524" y="10241"/>
                  <a:pt x="17904" y="9946"/>
                </a:cubicBezTo>
                <a:cubicBezTo>
                  <a:pt x="17722" y="9860"/>
                  <a:pt x="17436" y="9783"/>
                  <a:pt x="16842" y="9741"/>
                </a:cubicBezTo>
                <a:cubicBezTo>
                  <a:pt x="16243" y="9699"/>
                  <a:pt x="15457" y="9698"/>
                  <a:pt x="14319" y="9698"/>
                </a:cubicBezTo>
                <a:cubicBezTo>
                  <a:pt x="13941" y="9698"/>
                  <a:pt x="13584" y="9536"/>
                  <a:pt x="13360" y="9261"/>
                </a:cubicBezTo>
                <a:cubicBezTo>
                  <a:pt x="13134" y="8986"/>
                  <a:pt x="13067" y="8631"/>
                  <a:pt x="13178" y="8304"/>
                </a:cubicBezTo>
                <a:lnTo>
                  <a:pt x="14311" y="4980"/>
                </a:lnTo>
                <a:cubicBezTo>
                  <a:pt x="14722" y="3771"/>
                  <a:pt x="13900" y="2522"/>
                  <a:pt x="12567" y="2246"/>
                </a:cubicBezTo>
                <a:lnTo>
                  <a:pt x="8787" y="8220"/>
                </a:lnTo>
                <a:cubicBezTo>
                  <a:pt x="8415" y="8808"/>
                  <a:pt x="7836" y="9252"/>
                  <a:pt x="7160" y="9493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Google Shape;1266;p99">
            <a:extLst xmlns:a="http://schemas.openxmlformats.org/drawingml/2006/main">
              <a:ext uri="{FF2B5EF4-FFF2-40B4-BE49-F238E27FC236}">
                <a16:creationId xmlns:a16="http://schemas.microsoft.com/office/drawing/2014/main" id="{A7463D0C-45D0-FAD2-0C32-03216576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485" y="4029083"/>
            <a:ext cx="321663" cy="321771"/>
          </a:xfrm>
          <a:custGeom xmlns:a="http://schemas.openxmlformats.org/drawingml/2006/main">
            <a:rect l="l" t="t" r="r" b="b"/>
            <a:pathLst>
              <a:path w="21599" h="21599">
                <a:moveTo>
                  <a:pt x="6252" y="0"/>
                </a:moveTo>
                <a:cubicBezTo>
                  <a:pt x="6880" y="0"/>
                  <a:pt x="7389" y="509"/>
                  <a:pt x="7389" y="1137"/>
                </a:cubicBezTo>
                <a:lnTo>
                  <a:pt x="14210" y="1137"/>
                </a:lnTo>
                <a:cubicBezTo>
                  <a:pt x="14210" y="509"/>
                  <a:pt x="14719" y="0"/>
                  <a:pt x="15347" y="0"/>
                </a:cubicBezTo>
                <a:cubicBezTo>
                  <a:pt x="15974" y="0"/>
                  <a:pt x="16483" y="509"/>
                  <a:pt x="16483" y="1137"/>
                </a:cubicBezTo>
                <a:lnTo>
                  <a:pt x="16483" y="1146"/>
                </a:lnTo>
                <a:cubicBezTo>
                  <a:pt x="16839" y="1155"/>
                  <a:pt x="17162" y="1170"/>
                  <a:pt x="17456" y="1197"/>
                </a:cubicBezTo>
                <a:cubicBezTo>
                  <a:pt x="18049" y="1254"/>
                  <a:pt x="18598" y="1369"/>
                  <a:pt x="19116" y="1632"/>
                </a:cubicBezTo>
                <a:cubicBezTo>
                  <a:pt x="19972" y="2068"/>
                  <a:pt x="20668" y="2764"/>
                  <a:pt x="21103" y="3620"/>
                </a:cubicBezTo>
                <a:cubicBezTo>
                  <a:pt x="21384" y="4171"/>
                  <a:pt x="21497" y="4759"/>
                  <a:pt x="21549" y="5397"/>
                </a:cubicBezTo>
                <a:cubicBezTo>
                  <a:pt x="21599" y="6012"/>
                  <a:pt x="21599" y="6768"/>
                  <a:pt x="21599" y="7684"/>
                </a:cubicBezTo>
                <a:lnTo>
                  <a:pt x="21599" y="13655"/>
                </a:lnTo>
                <a:cubicBezTo>
                  <a:pt x="21599" y="13694"/>
                  <a:pt x="21599" y="13732"/>
                  <a:pt x="21599" y="13771"/>
                </a:cubicBezTo>
                <a:cubicBezTo>
                  <a:pt x="21599" y="14493"/>
                  <a:pt x="21600" y="15037"/>
                  <a:pt x="21473" y="15564"/>
                </a:cubicBezTo>
                <a:cubicBezTo>
                  <a:pt x="21361" y="16027"/>
                  <a:pt x="21178" y="16471"/>
                  <a:pt x="20929" y="16878"/>
                </a:cubicBezTo>
                <a:cubicBezTo>
                  <a:pt x="20646" y="17339"/>
                  <a:pt x="20261" y="17725"/>
                  <a:pt x="19749" y="18235"/>
                </a:cubicBezTo>
                <a:cubicBezTo>
                  <a:pt x="19723" y="18262"/>
                  <a:pt x="19696" y="18290"/>
                  <a:pt x="19667" y="18317"/>
                </a:cubicBezTo>
                <a:lnTo>
                  <a:pt x="18317" y="19667"/>
                </a:lnTo>
                <a:cubicBezTo>
                  <a:pt x="18290" y="19696"/>
                  <a:pt x="18262" y="19723"/>
                  <a:pt x="18235" y="19749"/>
                </a:cubicBezTo>
                <a:cubicBezTo>
                  <a:pt x="17725" y="20260"/>
                  <a:pt x="17339" y="20646"/>
                  <a:pt x="16878" y="20929"/>
                </a:cubicBezTo>
                <a:cubicBezTo>
                  <a:pt x="16471" y="21178"/>
                  <a:pt x="16027" y="21361"/>
                  <a:pt x="15564" y="21473"/>
                </a:cubicBezTo>
                <a:cubicBezTo>
                  <a:pt x="15037" y="21600"/>
                  <a:pt x="14493" y="21599"/>
                  <a:pt x="13771" y="21599"/>
                </a:cubicBezTo>
                <a:cubicBezTo>
                  <a:pt x="13732" y="21599"/>
                  <a:pt x="13694" y="21599"/>
                  <a:pt x="13655" y="21599"/>
                </a:cubicBezTo>
                <a:lnTo>
                  <a:pt x="6547" y="21599"/>
                </a:lnTo>
                <a:cubicBezTo>
                  <a:pt x="5632" y="21599"/>
                  <a:pt x="4876" y="21599"/>
                  <a:pt x="4261" y="21549"/>
                </a:cubicBezTo>
                <a:cubicBezTo>
                  <a:pt x="3622" y="21497"/>
                  <a:pt x="3034" y="21384"/>
                  <a:pt x="2483" y="21103"/>
                </a:cubicBezTo>
                <a:cubicBezTo>
                  <a:pt x="1627" y="20668"/>
                  <a:pt x="931" y="19972"/>
                  <a:pt x="496" y="19116"/>
                </a:cubicBezTo>
                <a:cubicBezTo>
                  <a:pt x="215" y="18565"/>
                  <a:pt x="102" y="17977"/>
                  <a:pt x="50" y="17338"/>
                </a:cubicBezTo>
                <a:cubicBezTo>
                  <a:pt x="0" y="16723"/>
                  <a:pt x="0" y="15967"/>
                  <a:pt x="0" y="15052"/>
                </a:cubicBezTo>
                <a:lnTo>
                  <a:pt x="0" y="7684"/>
                </a:lnTo>
                <a:cubicBezTo>
                  <a:pt x="0" y="6768"/>
                  <a:pt x="0" y="6012"/>
                  <a:pt x="50" y="5397"/>
                </a:cubicBezTo>
                <a:cubicBezTo>
                  <a:pt x="102" y="4759"/>
                  <a:pt x="215" y="4171"/>
                  <a:pt x="496" y="3620"/>
                </a:cubicBezTo>
                <a:cubicBezTo>
                  <a:pt x="931" y="2764"/>
                  <a:pt x="1627" y="2068"/>
                  <a:pt x="2483" y="1632"/>
                </a:cubicBezTo>
                <a:cubicBezTo>
                  <a:pt x="3001" y="1369"/>
                  <a:pt x="3550" y="1254"/>
                  <a:pt x="4142" y="1197"/>
                </a:cubicBezTo>
                <a:cubicBezTo>
                  <a:pt x="4437" y="1170"/>
                  <a:pt x="4760" y="1155"/>
                  <a:pt x="5116" y="1146"/>
                </a:cubicBezTo>
                <a:lnTo>
                  <a:pt x="5116" y="1137"/>
                </a:lnTo>
                <a:cubicBezTo>
                  <a:pt x="5116" y="509"/>
                  <a:pt x="5625" y="0"/>
                  <a:pt x="6252" y="0"/>
                </a:cubicBezTo>
                <a:close/>
                <a:moveTo>
                  <a:pt x="5116" y="3421"/>
                </a:moveTo>
                <a:cubicBezTo>
                  <a:pt x="4822" y="3427"/>
                  <a:pt x="4576" y="3440"/>
                  <a:pt x="4358" y="3460"/>
                </a:cubicBezTo>
                <a:cubicBezTo>
                  <a:pt x="3916" y="3502"/>
                  <a:pt x="3681" y="3573"/>
                  <a:pt x="3515" y="3658"/>
                </a:cubicBezTo>
                <a:cubicBezTo>
                  <a:pt x="3088" y="3876"/>
                  <a:pt x="2740" y="4224"/>
                  <a:pt x="2521" y="4652"/>
                </a:cubicBezTo>
                <a:cubicBezTo>
                  <a:pt x="2430" y="4829"/>
                  <a:pt x="2357" y="5085"/>
                  <a:pt x="2317" y="5583"/>
                </a:cubicBezTo>
                <a:cubicBezTo>
                  <a:pt x="2275" y="6094"/>
                  <a:pt x="2274" y="6756"/>
                  <a:pt x="2274" y="7730"/>
                </a:cubicBezTo>
                <a:lnTo>
                  <a:pt x="2274" y="15006"/>
                </a:lnTo>
                <a:cubicBezTo>
                  <a:pt x="2274" y="15980"/>
                  <a:pt x="2275" y="16641"/>
                  <a:pt x="2317" y="17153"/>
                </a:cubicBezTo>
                <a:cubicBezTo>
                  <a:pt x="2357" y="17651"/>
                  <a:pt x="2430" y="17907"/>
                  <a:pt x="2521" y="18084"/>
                </a:cubicBezTo>
                <a:cubicBezTo>
                  <a:pt x="2740" y="18511"/>
                  <a:pt x="3088" y="18859"/>
                  <a:pt x="3515" y="19077"/>
                </a:cubicBezTo>
                <a:cubicBezTo>
                  <a:pt x="3692" y="19168"/>
                  <a:pt x="3948" y="19242"/>
                  <a:pt x="4446" y="19282"/>
                </a:cubicBezTo>
                <a:cubicBezTo>
                  <a:pt x="4958" y="19324"/>
                  <a:pt x="5619" y="19325"/>
                  <a:pt x="6593" y="19325"/>
                </a:cubicBezTo>
                <a:lnTo>
                  <a:pt x="13073" y="19325"/>
                </a:lnTo>
                <a:lnTo>
                  <a:pt x="13073" y="18189"/>
                </a:lnTo>
                <a:cubicBezTo>
                  <a:pt x="13073" y="15677"/>
                  <a:pt x="15109" y="13641"/>
                  <a:pt x="17620" y="13641"/>
                </a:cubicBezTo>
                <a:lnTo>
                  <a:pt x="18757" y="13641"/>
                </a:lnTo>
                <a:cubicBezTo>
                  <a:pt x="18964" y="13641"/>
                  <a:pt x="19158" y="13697"/>
                  <a:pt x="19325" y="13794"/>
                </a:cubicBezTo>
                <a:cubicBezTo>
                  <a:pt x="19325" y="13749"/>
                  <a:pt x="19325" y="13703"/>
                  <a:pt x="19325" y="13655"/>
                </a:cubicBezTo>
                <a:lnTo>
                  <a:pt x="19325" y="7730"/>
                </a:lnTo>
                <a:cubicBezTo>
                  <a:pt x="19325" y="6756"/>
                  <a:pt x="19324" y="6094"/>
                  <a:pt x="19282" y="5583"/>
                </a:cubicBezTo>
                <a:cubicBezTo>
                  <a:pt x="19242" y="5085"/>
                  <a:pt x="19168" y="4829"/>
                  <a:pt x="19077" y="4652"/>
                </a:cubicBezTo>
                <a:cubicBezTo>
                  <a:pt x="18859" y="4224"/>
                  <a:pt x="18511" y="3876"/>
                  <a:pt x="18084" y="3658"/>
                </a:cubicBezTo>
                <a:cubicBezTo>
                  <a:pt x="17918" y="3573"/>
                  <a:pt x="17683" y="3502"/>
                  <a:pt x="17240" y="3460"/>
                </a:cubicBezTo>
                <a:cubicBezTo>
                  <a:pt x="17023" y="3440"/>
                  <a:pt x="16777" y="3427"/>
                  <a:pt x="16483" y="3421"/>
                </a:cubicBezTo>
                <a:lnTo>
                  <a:pt x="16483" y="4547"/>
                </a:lnTo>
                <a:cubicBezTo>
                  <a:pt x="16483" y="5175"/>
                  <a:pt x="15974" y="5684"/>
                  <a:pt x="15347" y="5684"/>
                </a:cubicBezTo>
                <a:cubicBezTo>
                  <a:pt x="14719" y="5684"/>
                  <a:pt x="14210" y="5175"/>
                  <a:pt x="14210" y="4547"/>
                </a:cubicBezTo>
                <a:lnTo>
                  <a:pt x="14210" y="3410"/>
                </a:lnTo>
                <a:lnTo>
                  <a:pt x="7389" y="3410"/>
                </a:lnTo>
                <a:lnTo>
                  <a:pt x="7389" y="4547"/>
                </a:lnTo>
                <a:cubicBezTo>
                  <a:pt x="7389" y="5175"/>
                  <a:pt x="6880" y="5684"/>
                  <a:pt x="6252" y="5684"/>
                </a:cubicBezTo>
                <a:cubicBezTo>
                  <a:pt x="5625" y="5684"/>
                  <a:pt x="5116" y="5175"/>
                  <a:pt x="5116" y="4547"/>
                </a:cubicBezTo>
                <a:lnTo>
                  <a:pt x="5116" y="3421"/>
                </a:lnTo>
                <a:close/>
                <a:moveTo>
                  <a:pt x="18827" y="15913"/>
                </a:moveTo>
                <a:cubicBezTo>
                  <a:pt x="18804" y="15914"/>
                  <a:pt x="18781" y="15915"/>
                  <a:pt x="18757" y="15915"/>
                </a:cubicBezTo>
                <a:lnTo>
                  <a:pt x="17620" y="15915"/>
                </a:lnTo>
                <a:cubicBezTo>
                  <a:pt x="16364" y="15915"/>
                  <a:pt x="15347" y="16932"/>
                  <a:pt x="15347" y="18189"/>
                </a:cubicBezTo>
                <a:lnTo>
                  <a:pt x="15347" y="19163"/>
                </a:lnTo>
                <a:cubicBezTo>
                  <a:pt x="15466" y="19115"/>
                  <a:pt x="15581" y="19057"/>
                  <a:pt x="15690" y="18990"/>
                </a:cubicBezTo>
                <a:cubicBezTo>
                  <a:pt x="15893" y="18866"/>
                  <a:pt x="16081" y="18689"/>
                  <a:pt x="16710" y="18060"/>
                </a:cubicBezTo>
                <a:lnTo>
                  <a:pt x="18060" y="16710"/>
                </a:lnTo>
                <a:cubicBezTo>
                  <a:pt x="18472" y="16297"/>
                  <a:pt x="18690" y="16074"/>
                  <a:pt x="18827" y="15913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Footer Placeholder 18">
            <a:extLst xmlns:a="http://schemas.openxmlformats.org/drawingml/2006/main">
              <a:ext uri="{FF2B5EF4-FFF2-40B4-BE49-F238E27FC236}">
                <a16:creationId xmlns:a16="http://schemas.microsoft.com/office/drawing/2014/main" id="{A7C685AE-794E-F9C0-C7B3-7E956842DD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892F439-FAFA-E9E4-AA65-F7A04500A77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rPr>
                <a:solidFill>
                  <a:srgbClr val="A9C7E8"/>
                </a:solidFill>
              </a:rPr>
              <a:t>15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342105169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Parallel work needs contracts and file ownership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Good decomposition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Architecture map, security audit, test-gap analysis, performance review, accessibility review, or independent modules after contracts are final.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Independent reads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Isolated writes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Named ownership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Unsafe decomposition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Two agents editing one migration, redesigning one component, or implementing against an unresolved API or authorization model.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Overlapping files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Sequential dependencies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Unresolved contracts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Parallelism improves throughput only when each task can succeed independently.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 separate worktrees or branches for writers; keep the first review pass read-only.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rPr>
                <a:solidFill>
                  <a:srgbClr val="A9C7E8"/>
                </a:solidFill>
              </a:rPr>
              <a:t>16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9299C6E-3FDF-5AB3-E054-F3F59B33981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A9C7E8"/>
                </a:solidFill>
              </a:rPr>
              <a:t>CODEX + CLAUDE CODE</a:t>
            </a: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3DF656-61B4-2882-D797-9122308526B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90F7333B-44AC-F7E9-D49D-FE92F45E0477}" type="slidenum">
              <a:rPr sz="1100" b="0" i="0" u="none" cap="none" spc="0">
                <a:ln>
                  <a:noFill/>
                </a:ln>
                <a:solidFill>
                  <a:srgbClr val="A9C7E8"/>
                </a:solidFill>
                <a:latin typeface="Helvetica Neue"/>
                <a:ea typeface="Helvetica Neue"/>
                <a:cs typeface="Helvetica Neue"/>
              </a:rPr>
              <a:t>17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414154B-F746-1A74-21F7-6E5F045F1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Runtime verification must match the application surface</a:t>
            </a:r>
            <a:endParaRPr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9F23F1-48AA-5A67-CC7C-B65A7A75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Source inspection and passing tests do not prove that users can complete the journey.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B02F86-AD0D-BE24-B025-8A7BB49E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RUNTIME EVIDENCE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39129E7-9749-F0E3-59EF-1B786983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8728FDE-6DD0-74E3-B860-01CB47A2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228B342-3C4A-AE4E-4223-223CEE77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365498"/>
            <a:ext cx="3568700" cy="2628901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83E7952-0C3E-8CA0-CBD2-20DE64FB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Web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Test breakpoints, keyboard navigation, console and network errors, loading states, overflow, and visual references.</a:t>
            </a:r>
            <a:endParaRPr sz="16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1D1552-9316-E417-6E62-1A809C63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81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Mobile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Test device and simulator behavior, permissions, deep links, slow/offline states, keyboard overlap, and screen sizes.</a:t>
            </a:r>
            <a:endParaRPr sz="16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E266E2C-270B-3F65-3279-162369AD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954" y="3709346"/>
            <a:ext cx="2949339" cy="19812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Desktop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Test clean install, startup, window resizing, local files, permission denial, packaging, updates, and native boundaries.</a:t>
            </a:r>
            <a:endParaRPr sz="16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0122253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Status → branch → implement → diff → checks → commit → draft PR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Git makes agent work reviewable and reversible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1. CHECK STATUS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 a scoped branch. Inspect changed files before staging. Never commit secrets or unrelated generated output. Run the required checks and read the complete diff before creating the pull request.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2. CREATE A BRANCH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3. REVIEW THE DIFF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4. COMMIT INTENTIONALLY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5. OPEN A DRAFT PR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67BC5C-65A7-7445-018D-E76E0A9441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rPr>
                <a:solidFill>
                  <a:srgbClr val="A9C7E8"/>
                </a:solidFill>
              </a:rPr>
              <a:t>18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One agent reviews the other before the human gate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Codex implements → Claude reviews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Compare the branch to the specification and base branch. Review architecture, authorization, data integrity, accessibility, performance, and tests.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Report findings first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Cite exact evidence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Do not edit on pass one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Claude implements → Codex reviews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 the same independent checklist. Ask the implementer to remediate only confirmed findings, then rerun affected checks.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Verified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Failed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Not tested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Independent review reduces blind spots created by the implementing agent's own assumptions.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Human triage decides which findings block release, which are deferred, and which need reproduction.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rPr>
                <a:solidFill>
                  <a:srgbClr val="A9C7E8"/>
                </a:solidFill>
              </a:rPr>
              <a:t>19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2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Recommended ownership across the delivery lifecycle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Primary ownership is a workflow recommendation. Both agents remain capable of investigation, implementation, testing, and review.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Stage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Claude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Codex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Human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Gate + evidence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Requirements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Lead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Review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Approve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Scope • PRD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Architecture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Lead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Feasibility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Approve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Design • ADRs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Repository map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Lead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Validate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Current state • files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Feature slice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Design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Build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Approve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Contract • criteria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Implementation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Review-ready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Lead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Resolve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Complete • diff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Verification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Coverage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Lead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Inspect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Quality • test/runtime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Remediation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Review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Fix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Triage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Risk • rerun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PR / release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Final review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Prepare PR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Merge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Release • rollback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rPr>
                <a:solidFill>
                  <a:srgbClr val="A9C7E8"/>
                </a:solidFill>
              </a:rPr>
              <a:t>20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2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2377079-BCC4-2661-2A12-E4395F1ED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Keep repository instructions short; move detailed procedures into referenced docs or skills.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C167C81-957E-4EDD-97F6-7EF86B8F4A0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Separate investigation, implementation, review, and release gates.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BC1ACDB-02B5-99AA-385B-D8D9B44C2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Ten rules that improve engineering outcomes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710401-0DB3-D5DB-AAFF-832641C025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A9C7E8"/>
                </a:solidFill>
              </a:rPr>
              <a:t>CODEX + CLAUDE CODE</a:t>
            </a: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71B5B5-6269-DE95-4939-B738B6B6AC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F6DF2BE2-2DFA-1C03-677D-BDC2260D6D92}" type="slidenum">
              <a:rPr sz="1100" b="0" i="0" u="none" cap="none" spc="0">
                <a:ln>
                  <a:noFill/>
                </a:ln>
                <a:solidFill>
                  <a:srgbClr val="A9C7E8"/>
                </a:solidFill>
                <a:latin typeface="Helvetica Neue"/>
                <a:ea typeface="Helvetica Neue"/>
                <a:cs typeface="Helvetica Neue"/>
              </a:rPr>
              <a:t>21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2CF1976-C150-A891-2CEC-BE355693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CODEX + CLAUDE CODE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A0FCF870-B47E-94BD-EEDF-DD8F2A5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WORK IN SMALL SLICES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D1C9BF-63F4-2888-893B-5F7ECE5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Give one focused objective and explicit non-goals per task.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708BAE86-327C-6895-AEA3-FE9F89F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Require test, build, runtime, and final-diff evidence.</a:t>
            </a: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8880891-2DF5-4AB7-C919-6164AD9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VERIFY WITH EVIDENCE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144A4BC-3976-C678-219A-2173C82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REVIEW INDEPENDENTLY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</p:sld>
</file>

<file path=ppt/slides/slide2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800">
                <a:solidFill>
                  <a:srgbClr val="F6FAFF"/>
                </a:solidFill>
              </a:rPr>
              <a:t>Prompting playbooks</a:t>
            </a:r>
          </a:p>
          <a:p xmlns:a="http://schemas.openxmlformats.org/drawingml/2006/main">
            <a:r>
              <a:rPr sz="6800">
                <a:solidFill>
                  <a:srgbClr val="F6FAFF"/>
                </a:solidFill>
              </a:rPr>
              <a:t>Claude Code + Codex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E2EEFC"/>
                </a:solidFill>
              </a:rPr>
              <a:t>Matched patterns for planning, implementation, debugging, review, and verification.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CODEX + CLAUDE CODE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slides/slide2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2377079-BCC4-2661-2A12-E4395F1ED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State the task clearly and provide only the context that changes the answer.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C167C81-957E-4EDD-97F6-7EF86B8F4A0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Show an example when tone, structure, or formatting must be consistent.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BC1ACDB-02B5-99AA-385B-D8D9B44C2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Claude prompting: specificity, context, examples, iteration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710401-0DB3-D5DB-AAFF-832641C025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A9C7E8"/>
                </a:solidFill>
              </a:rPr>
              <a:t>CODEX + CLAUDE CODE</a:t>
            </a: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71B5B5-6269-DE95-4939-B738B6B6AC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4E99CEF-AF55-BA3C-ADF8-4E52E186DD8F}" type="slidenum">
              <a:rPr sz="1100" b="0" i="0" u="none" cap="none" spc="0">
                <a:ln>
                  <a:noFill/>
                </a:ln>
                <a:solidFill>
                  <a:srgbClr val="A9C7E8"/>
                </a:solidFill>
                <a:latin typeface="Helvetica Neue"/>
                <a:ea typeface="Helvetica Neue"/>
                <a:cs typeface="Helvetica Neue"/>
              </a:rPr>
              <a:t>23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2CF1976-C150-A891-2CEC-BE355693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CLEAR + SPECIFIC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A0FCF870-B47E-94BD-EEDF-DD8F2A5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USE EXAMPLES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D1C9BF-63F4-2888-893B-5F7ECE5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Break complex work into manageable stages and request a structured result.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708BAE86-327C-6895-AEA3-FE9F89F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Refine with targeted feedback: name exactly what to change and what to preserve.</a:t>
            </a: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8880891-2DF5-4AB7-C919-6164AD9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DECOMPOSE COMPLEXITY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144A4BC-3976-C678-219A-2173C82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ITERATE PRECISELY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</p:sld>
</file>

<file path=ppt/slides/slide2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Claude prompts improve when feedback names the exact change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Weak feedback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“Make it better.” The desired tone, scope, and improvement are undefined.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No target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No preserved elements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No success test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Actionable feedback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“Make the opening friendlier, add one customer example, and shorten paragraph two while keeping the evidence.”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Exact edits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Clear preservation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Reviewable result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Good iteration is a change request, not a vague judgment.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Ask Claude to keep what already works while revising the named gap.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59AF09-D197-0193-A7DE-FAAF0B691058}" type="slidenum">
              <a:rPr>
                <a:solidFill>
                  <a:srgbClr val="A9C7E8"/>
                </a:solidFill>
              </a:rPr>
              <a:t>24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2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Documents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Name the source, focus, output length, questions to answer, and citation expectation.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Data analysis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Define metrics, comparison periods, output structure, recommendations, and useful visualizations.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Brainstorming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Set the number of ideas, audience, categories, evaluation criteria, and tradeoffs.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Claude prompting patterns for common knowledge work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Choose a structure that makes the result usable immediately: a brief, table, checklist, outline, or recommendation.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AE1AE4-D79E-94D6-E825-3FC6C21A77D2}" type="slidenum">
              <a:rPr>
                <a:solidFill>
                  <a:srgbClr val="A9C7E8"/>
                </a:solidFill>
              </a:rPr>
              <a:t>25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TASK-SPECIFIC PROMPTS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2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Admit uncertainty → split the task → restore context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Claude troubleshooting keeps uncertainty visible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ALLOW UNCERTAINTY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Tell Claude to flag missing or uncertain information instead of inventing an answer. For a stalled complex task, split the work into smaller turns and include all needed context when starting a fresh conversation.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BREAK DOWN LARGE TASKS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INCLUDE FRESH CONTEXT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ASK FOR SOURCES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REFINE ONE GAP AT A TIME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67BC5C-65A7-7445-018D-E76E0A9441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B55966-FA28-BC73-EA9E-53DF014DF033}" type="slidenum">
              <a:rPr>
                <a:solidFill>
                  <a:srgbClr val="A9C7E8"/>
                </a:solidFill>
              </a:rPr>
              <a:t>26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2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2377079-BCC4-2661-2A12-E4395F1ED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Name the exact behavior, relevant code or reproduction steps, and acceptance criteria.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C167C81-957E-4EDD-97F6-7EF86B8F4A0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Preserve the few constraints that prevent unsafe scope or architectural drift.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BC1ACDB-02B5-99AA-385B-D8D9B44C2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Codex prompting: outcome, code context, constraints, verification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710401-0DB3-D5DB-AAFF-832641C025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rgbClr val="A9C7E8"/>
                </a:solidFill>
              </a:rPr>
              <a:t>CODEX + CLAUDE CODE</a:t>
            </a: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71B5B5-6269-DE95-4939-B738B6B6AC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02F15020-66A7-620A-7B7A-C05C4312DEAE}" type="slidenum">
              <a:rPr sz="1100" b="0" i="0" u="none" cap="none" spc="0">
                <a:ln>
                  <a:noFill/>
                </a:ln>
                <a:solidFill>
                  <a:srgbClr val="A9C7E8"/>
                </a:solidFill>
                <a:latin typeface="Helvetica Neue"/>
                <a:ea typeface="Helvetica Neue"/>
                <a:cs typeface="Helvetica Neue"/>
              </a:rPr>
              <a:t>27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2CF1976-C150-A891-2CEC-BE355693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OUTCOME FIRST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A0FCF870-B47E-94BD-EEDF-DD8F2A5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POINT TO THE CODE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D1C9BF-63F4-2888-893B-5F7ECE5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State how to verify: commands, runtime journey, expected result, and final diff review.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708BAE86-327C-6895-AEA3-FE9F89F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Let Codex choose the efficient path unless a process step is itself a requirement.</a:t>
            </a: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8880891-2DF5-4AB7-C919-6164AD9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DEFINE DONE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144A4BC-3976-C678-219A-2173C82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ALLOW AUTONOMY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</p:sld>
</file>

<file path=ppt/slides/slide2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DAACD4F-B550-386A-338E-96511960A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A production Codex prompt is an engineering contract</a:t>
            </a: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5025A11-4CFC-3DAD-DA4D-167D090F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1054100"/>
            <a:ext cx="5533887" cy="977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99A2D71-41FF-1674-15C6-8AF76E98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1317497"/>
            <a:ext cx="4986886" cy="5113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Objective + acceptance criteria</a:t>
            </a:r>
            <a:endParaRPr sz="14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One reviewable outcome and the observable behavior that proves it.</a:t>
            </a:r>
            <a:endParaRPr sz="14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B4B76E-7D44-10FB-7578-2D01A397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2195285"/>
            <a:ext cx="5236652" cy="147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Context + scope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Relevant files, stack, current behavior, dependencies, and adjacent work that is excluded.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7F86C9D-8471-77AD-E279-155712DF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797299"/>
            <a:ext cx="5533887" cy="977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F38D10E-43F8-FA5D-F1B1-10ADB58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060696"/>
            <a:ext cx="4986886" cy="5113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7915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Constraints + approvals</a:t>
            </a:r>
            <a:endParaRPr sz="14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Protected architecture, external actions, destructive operations, and dependency rules.</a:t>
            </a:r>
            <a:endParaRPr sz="14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01AFD65-CE2B-0AE8-8D43-B2EC3F63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938484"/>
            <a:ext cx="5236652" cy="147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Verification + handoff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Commands, runtime checks, diff review, evidence, changed files, and remaining risks.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4B2D712-3C15-6BFD-7D59-4BB690DD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970" y="1054100"/>
            <a:ext cx="5533887" cy="977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4763959-3346-CF48-2A6A-6F12BE71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05" y="1317497"/>
            <a:ext cx="4986886" cy="5113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Bad prompt: “Build the dashboard.”</a:t>
            </a:r>
            <a:endParaRPr sz="14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21A4634-A669-4972-C24C-516C5F0F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05" y="2195285"/>
            <a:ext cx="5236652" cy="147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Good prompt: specify the user journey, data ownership, states, accessibility, responsive behavior, non-goals, and required checks.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5895B4A3-EE6A-858D-AEC7-4EE0313E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970" y="3797299"/>
            <a:ext cx="5533887" cy="977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5F9C50-3A40-C713-DB6E-42BF96FF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05" y="4060696"/>
            <a:ext cx="4986886" cy="5113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State every hard rule once.</a:t>
            </a:r>
            <a:endParaRPr sz="14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19F2123-F7EB-E995-0D2D-C04283EB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05" y="4938484"/>
            <a:ext cx="5236652" cy="1473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Ask for working code—not a plan-only ending.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0E8F0F0-523F-39E7-A1B9-1A75D1F801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34375833-EB2B-2A86-E6AA-2B70E50646D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AD4375-9F50-F53A-6F9F-DD8473067C05}" type="slidenum">
              <a:rPr>
                <a:solidFill>
                  <a:srgbClr val="A9C7E8"/>
                </a:solidFill>
              </a:rPr>
              <a:t>28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91519579"/>
      </p:ext>
    </p:extLst>
  </p:cSld>
</p:sld>
</file>

<file path=ppt/slides/slide2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E0BC934-0157-542C-D5BB-4CBBF257C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418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A bug-fix prompt starts with reproduction and ends with rerun evidence</a:t>
            </a: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19C0BA-A84A-2A07-E313-F86616F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09028"/>
            <a:ext cx="4583034" cy="1315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Observed: save succeeds, but the setting resets after refresh.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Expected: the selected value persists.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581A225-34F9-0D3B-555E-87AD9B04250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C369A1-27DC-4417-B82E-882C775F89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680313-6E64-04FF-399A-57B7CADE95A9}" type="slidenum">
              <a:rPr>
                <a:solidFill>
                  <a:srgbClr val="A9C7E8"/>
                </a:solidFill>
              </a:rPr>
              <a:t>29</a:t>
            </a:fld>
            <a:endParaRPr sz="1100"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F440E49-120F-1A2F-57EB-B029345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1881916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Reproduce with exact steps, account state, environment, logs, and screenshots.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Ask Codex to run the flow before editing.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Locate the first divergence between expected and actual behavior.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FF1B71-7343-3428-E1A5-0130174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1881916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REPRODUCTION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E5C8191-FF5D-721C-939A-810BF6F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622601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Rerun the journey and focused tests. Report changed files, command results, runtime behavior, and remaining risk.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2FB920-4338-60DE-B515-40C9397A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4195489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Trace calls and state transitions before changing code.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Implement the smallest safe fix in the responsible layer.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Add a regression test when feasible, then rerun the original steps.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8B171C2-7536-1E2D-C49E-6F245F4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4195489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RERUN EVIDENCE</a:t>
            </a:r>
          </a:p>
        </p:txBody>
      </p:sp>
    </p:spTree>
    <p:extLst>
      <p:ext uri="{BB962C8B-B14F-4D97-AF65-F5344CB8AC3E}">
        <p14:creationId xmlns:p14="http://schemas.microsoft.com/office/powerpoint/2010/main" val="4204513895"/>
      </p:ext>
    </p:extLst>
  </p:cSld>
</p:sld>
</file>

<file path=ppt/slides/slide3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Investigate the repository, identify affected files and risks, and propose the smallest safe approach.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Use separate modes so each stage has a clear output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Implement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Apply only the approved scope, reuse existing patterns, and keep the change reviewable.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Inspect the complete diff, verify requirements, classify findings, remediate confirmed issues, and rerun checks.</a:t>
            </a:r>
          </a:p>
        </p:txBody>
      </p:sp>
      <p:cxnSp>
        <p:nvCxnSpPr>
          <p:cNvPr id="48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7DD3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MODE 1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MODE 2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MODE 3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FEBBBCE-9E16-527A-0EE3-E5839422D847}" type="slidenum">
              <a:rPr>
                <a:solidFill>
                  <a:srgbClr val="A9C7E8"/>
                </a:solidFill>
              </a:rPr>
              <a:t>30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3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Claude and Codex share fundamentals but need different emphasis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Claude emphasis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Rich domain context, structured analysis, examples for style, explicit uncertainty, and critical independent review.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Explore broadly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Explain decisions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Surface uncertainty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Codex emphasis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Concrete code context, outcome and acceptance criteria, action boundaries, working implementation, tool evidence, and final diff.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Act persistently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Run checks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Close the loop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Shared foundation: clear goal, relevant context, usable output, important boundaries, and iterative refinement.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Do not overload either agent with repeated rules or irrelevant context.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72A7C5-A0CC-7B36-F236-345181E6AD72}" type="slidenum">
              <a:rPr>
                <a:solidFill>
                  <a:srgbClr val="A9C7E8"/>
                </a:solidFill>
              </a:rPr>
              <a:t>31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3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Four reusable prompt templates cover most engineering work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54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Define requirements, architecture, constraints, risks, assumptions, acceptance criteria, and unresolved decisions. Do not implement yet.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ARCHITECTURE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54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Implement one approved vertical slice. Reuse existing patterns, preserve non-goals, run checks, inspect runtime behavior, and report evidence.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IMPLEMENTATION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Review the branch against the specification. Findings first; exact file evidence; no edits during the first pass.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REVIEW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83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Reproduce the failure, trace the first divergence, apply the smallest safe fix, add regression proof, and rerun the journey.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DEBUGGING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Replace placeholders with repository-specific evidence and commands. Keep one outcome, clear boundaries, and a final proof step.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C3428B-053E-6B4E-39FF-75B44F3F33F6}" type="slidenum">
              <a:rPr>
                <a:solidFill>
                  <a:srgbClr val="A9C7E8"/>
                </a:solidFill>
              </a:rPr>
              <a:t>32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3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800">
                <a:solidFill>
                  <a:srgbClr val="F6FAFF"/>
                </a:solidFill>
              </a:rPr>
              <a:t>Model landscape</a:t>
            </a:r>
          </a:p>
          <a:p xmlns:a="http://schemas.openxmlformats.org/drawingml/2006/main">
            <a:r>
              <a:rPr sz="6800">
                <a:solidFill>
                  <a:srgbClr val="F6FAFF"/>
                </a:solidFill>
              </a:rPr>
              <a:t>ChatGPT, Codex + Claude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E2EEFC"/>
                </a:solidFill>
              </a:rPr>
              <a:t>Current developer choices, migrations, and a practical selection framework — October 2026.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CURRENT MODEL GUIDE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slides/slide3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Product names and model names are not interchangeable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ChatGPT / Work / Codex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The product surface controls available models, tools, permissions, and reasoning levels.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Regular Chat differs from Work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Codex CLI/IDE is agentic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Availability varies by plan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API / Claude.ai / Claude Code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APIs expose model IDs; coding products add terminal, repository, and tool workflows.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Check product + account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Pin explicit model IDs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Re-test after upgrades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Choose the surface first, then the model. A model listed in an API catalog may not be selectable in every chat or coding product.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Developer rule — record the surface, exact model, reasoning or effort level, tools, permissions, and date in every benchmark.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C2EC43-E3B9-C9B0-67FF-5447EB7F3925}" type="slidenum">
              <a:rPr>
                <a:solidFill>
                  <a:srgbClr val="A9C7E8"/>
                </a:solidFill>
              </a:rPr>
              <a:t>34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3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OpenAI’s current developer family: Astra, Sol, and Luna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GPT-6 Astra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Highest capability for ambiguous, demanding reasoning, coding, and professional work.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GPT-6.1 Sol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Best default balance: near-Astra capability at lower cost for serious repository work.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GPT-6 Luna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Fast, cost-efficient choice for focused tasks, high-volume automation, and repeatable edits.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Shared platform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About 1.05M context, up to 128K output, tool use, structured outputs, and multimodal input support.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Start with GPT-6.1 Sol; escalate to Astra for the hardest work; route bounded volume to Luna.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4FA566-8B12-6DD2-DDB5-FA6393938FB6}" type="slidenum">
              <a:rPr>
                <a:solidFill>
                  <a:srgbClr val="A9C7E8"/>
                </a:solidFill>
              </a:rPr>
              <a:t>35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3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Choose the lightest OpenAI model that clears your quality bar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Current OpenAI guidance favors task-fit and evaluation over one universal default.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Workload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Astra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GPT-6.1 Sol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Luna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My pick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Unfamiliar architecture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Best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Strong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Limited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Astra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Repository implementation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Best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Best default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Good if scoped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Sol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Difficult debugging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Best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Strong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Fast triage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Astra / Sol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Repetitive edits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Overkill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Strong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Best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Luna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Agentic tool loops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Best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Best default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Good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Sol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Latency-sensitive UX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Slower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Balanced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Fastest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Luna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High-volume extraction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Strong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Balanced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Best economics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Luna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Final high-risk review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Best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Strong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Not first choice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Astra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39A338D-B192-3127-EB9A-53A2665A0BB7}" type="slidenum">
              <a:rPr>
                <a:solidFill>
                  <a:srgbClr val="A9C7E8"/>
                </a:solidFill>
              </a:rPr>
              <a:t>36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3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4D765FCF-56FA-8EE2-65DF-D8A5321F3C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Responses API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 it for new agentic integrations and tool loops.</a:t>
            </a:r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FA1AD57-2515-3263-71AA-F5510D72450E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Async tool calls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Let long tools run without blocking the whole turn.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F4CF59D7-297B-30C8-431E-585575A55EC7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Mid-turn steering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Correct priorities while a run is in progress.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252743B9-4592-4663-CAD2-40CC23D40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GPT-6 capabilities developers should actually use</a:t>
            </a:r>
            <a:endParaRPr/>
          </a:p>
        </p:txBody>
      </p:sp>
      <p:sp>
        <p:nvSpPr>
          <p:cNvPr id="2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0018B0C7-DC20-D7FE-2D99-C8372B90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Persisted reasoning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Preserve useful reasoning across calls and compaction.</a:t>
            </a:r>
          </a:p>
        </p:txBody>
      </p:sp>
      <p:sp>
        <p:nvSpPr>
          <p:cNvPr id="3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142AC269-69D2-161D-AD16-2E5D7B8A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Computer + file tools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Combine structured outputs with real tool evidence.</a:t>
            </a:r>
          </a:p>
        </p:txBody>
      </p:sp>
      <p:sp>
        <p:nvSpPr>
          <p:cNvPr id="4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7E988850-5A60-A9C4-B928-BDFEC4FE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Reasoning control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Match effort to the task; remove unsupported sampling controls.</a:t>
            </a:r>
          </a:p>
        </p:txBody>
      </p:sp>
      <p:sp>
        <p:nvSpPr>
          <p:cNvPr id="5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43830694-5B70-1E3A-562E-A57DE1DE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2022554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7C8ADA23-5610-C31E-B048-A0886EDC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2018463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Google Shape;1369;p101">
            <a:extLst xmlns:a="http://schemas.openxmlformats.org/drawingml/2006/main">
              <a:ext uri="{FF2B5EF4-FFF2-40B4-BE49-F238E27FC236}">
                <a16:creationId xmlns:a16="http://schemas.microsoft.com/office/drawing/2014/main" id="{41FBCA7C-C2E7-AFB5-3B6C-4D9C9E15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0146"/>
            <a:ext cx="338580" cy="338688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415;p101">
            <a:extLst xmlns:a="http://schemas.openxmlformats.org/drawingml/2006/main">
              <a:ext uri="{FF2B5EF4-FFF2-40B4-BE49-F238E27FC236}">
                <a16:creationId xmlns:a16="http://schemas.microsoft.com/office/drawing/2014/main" id="{8574D0ED-7640-B4E7-7B56-C1CA61B9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5" y="4050316"/>
            <a:ext cx="389340" cy="304776"/>
          </a:xfrm>
          <a:custGeom xmlns:a="http://schemas.openxmlformats.org/drawingml/2006/main">
            <a:rect l="l" t="t" r="r" b="b"/>
            <a:pathLst>
              <a:path w="21600" h="21600">
                <a:moveTo>
                  <a:pt x="6574" y="2400"/>
                </a:moveTo>
                <a:cubicBezTo>
                  <a:pt x="5277" y="2400"/>
                  <a:pt x="4226" y="3743"/>
                  <a:pt x="4226" y="5400"/>
                </a:cubicBezTo>
                <a:cubicBezTo>
                  <a:pt x="4226" y="7057"/>
                  <a:pt x="5277" y="8400"/>
                  <a:pt x="6574" y="8400"/>
                </a:cubicBezTo>
                <a:cubicBezTo>
                  <a:pt x="7871" y="8400"/>
                  <a:pt x="8922" y="7057"/>
                  <a:pt x="8922" y="5400"/>
                </a:cubicBezTo>
                <a:cubicBezTo>
                  <a:pt x="8922" y="3743"/>
                  <a:pt x="7871" y="2400"/>
                  <a:pt x="6574" y="2400"/>
                </a:cubicBezTo>
                <a:close/>
                <a:moveTo>
                  <a:pt x="2348" y="5400"/>
                </a:moveTo>
                <a:cubicBezTo>
                  <a:pt x="2348" y="2418"/>
                  <a:pt x="4240" y="0"/>
                  <a:pt x="6574" y="0"/>
                </a:cubicBezTo>
                <a:cubicBezTo>
                  <a:pt x="8908" y="0"/>
                  <a:pt x="10800" y="2418"/>
                  <a:pt x="10800" y="5400"/>
                </a:cubicBezTo>
                <a:cubicBezTo>
                  <a:pt x="10800" y="8382"/>
                  <a:pt x="8908" y="10800"/>
                  <a:pt x="6574" y="10800"/>
                </a:cubicBezTo>
                <a:cubicBezTo>
                  <a:pt x="4240" y="10800"/>
                  <a:pt x="2348" y="8382"/>
                  <a:pt x="2348" y="5400"/>
                </a:cubicBezTo>
                <a:close/>
                <a:moveTo>
                  <a:pt x="15496" y="3600"/>
                </a:moveTo>
                <a:cubicBezTo>
                  <a:pt x="14458" y="3600"/>
                  <a:pt x="13617" y="4674"/>
                  <a:pt x="13617" y="6000"/>
                </a:cubicBezTo>
                <a:cubicBezTo>
                  <a:pt x="13617" y="7326"/>
                  <a:pt x="14458" y="8400"/>
                  <a:pt x="15496" y="8400"/>
                </a:cubicBezTo>
                <a:cubicBezTo>
                  <a:pt x="16533" y="8400"/>
                  <a:pt x="17374" y="7326"/>
                  <a:pt x="17374" y="6000"/>
                </a:cubicBezTo>
                <a:cubicBezTo>
                  <a:pt x="17374" y="4674"/>
                  <a:pt x="16533" y="3600"/>
                  <a:pt x="15496" y="3600"/>
                </a:cubicBezTo>
                <a:close/>
                <a:moveTo>
                  <a:pt x="11739" y="6000"/>
                </a:moveTo>
                <a:cubicBezTo>
                  <a:pt x="11739" y="3349"/>
                  <a:pt x="13421" y="1200"/>
                  <a:pt x="15496" y="1200"/>
                </a:cubicBezTo>
                <a:cubicBezTo>
                  <a:pt x="17570" y="1200"/>
                  <a:pt x="19252" y="3349"/>
                  <a:pt x="19252" y="6000"/>
                </a:cubicBezTo>
                <a:cubicBezTo>
                  <a:pt x="19252" y="8651"/>
                  <a:pt x="17570" y="10800"/>
                  <a:pt x="15496" y="10800"/>
                </a:cubicBezTo>
                <a:cubicBezTo>
                  <a:pt x="13421" y="10800"/>
                  <a:pt x="11739" y="8651"/>
                  <a:pt x="11739" y="6000"/>
                </a:cubicBezTo>
                <a:close/>
                <a:moveTo>
                  <a:pt x="3324" y="15896"/>
                </a:moveTo>
                <a:cubicBezTo>
                  <a:pt x="2477" y="16858"/>
                  <a:pt x="1878" y="18325"/>
                  <a:pt x="1878" y="20400"/>
                </a:cubicBezTo>
                <a:cubicBezTo>
                  <a:pt x="1878" y="21062"/>
                  <a:pt x="1458" y="21600"/>
                  <a:pt x="939" y="21600"/>
                </a:cubicBezTo>
                <a:cubicBezTo>
                  <a:pt x="421" y="21600"/>
                  <a:pt x="0" y="21062"/>
                  <a:pt x="0" y="20400"/>
                </a:cubicBezTo>
                <a:cubicBezTo>
                  <a:pt x="0" y="17675"/>
                  <a:pt x="810" y="15542"/>
                  <a:pt x="2076" y="14102"/>
                </a:cubicBezTo>
                <a:cubicBezTo>
                  <a:pt x="3325" y="12684"/>
                  <a:pt x="4965" y="12000"/>
                  <a:pt x="6574" y="12000"/>
                </a:cubicBezTo>
                <a:cubicBezTo>
                  <a:pt x="8183" y="12000"/>
                  <a:pt x="9822" y="12684"/>
                  <a:pt x="11071" y="14102"/>
                </a:cubicBezTo>
                <a:cubicBezTo>
                  <a:pt x="12338" y="15542"/>
                  <a:pt x="13148" y="17675"/>
                  <a:pt x="13148" y="20400"/>
                </a:cubicBezTo>
                <a:cubicBezTo>
                  <a:pt x="13148" y="21062"/>
                  <a:pt x="12727" y="21600"/>
                  <a:pt x="12209" y="21600"/>
                </a:cubicBezTo>
                <a:cubicBezTo>
                  <a:pt x="11690" y="21600"/>
                  <a:pt x="11270" y="21062"/>
                  <a:pt x="11270" y="20400"/>
                </a:cubicBezTo>
                <a:cubicBezTo>
                  <a:pt x="11270" y="18325"/>
                  <a:pt x="10670" y="16858"/>
                  <a:pt x="9824" y="15896"/>
                </a:cubicBezTo>
                <a:cubicBezTo>
                  <a:pt x="8960" y="14916"/>
                  <a:pt x="7783" y="14400"/>
                  <a:pt x="6574" y="14400"/>
                </a:cubicBezTo>
                <a:cubicBezTo>
                  <a:pt x="5365" y="14400"/>
                  <a:pt x="4188" y="14916"/>
                  <a:pt x="3324" y="15896"/>
                </a:cubicBezTo>
                <a:close/>
                <a:moveTo>
                  <a:pt x="18122" y="15168"/>
                </a:moveTo>
                <a:cubicBezTo>
                  <a:pt x="17175" y="14402"/>
                  <a:pt x="15927" y="14200"/>
                  <a:pt x="14811" y="14602"/>
                </a:cubicBezTo>
                <a:cubicBezTo>
                  <a:pt x="14312" y="14782"/>
                  <a:pt x="13793" y="14411"/>
                  <a:pt x="13653" y="13772"/>
                </a:cubicBezTo>
                <a:cubicBezTo>
                  <a:pt x="13512" y="13134"/>
                  <a:pt x="13802" y="12472"/>
                  <a:pt x="14302" y="12292"/>
                </a:cubicBezTo>
                <a:cubicBezTo>
                  <a:pt x="15894" y="11718"/>
                  <a:pt x="17698" y="11986"/>
                  <a:pt x="19125" y="13139"/>
                </a:cubicBezTo>
                <a:cubicBezTo>
                  <a:pt x="20589" y="14320"/>
                  <a:pt x="21600" y="16387"/>
                  <a:pt x="21600" y="19200"/>
                </a:cubicBezTo>
                <a:cubicBezTo>
                  <a:pt x="21600" y="19862"/>
                  <a:pt x="21179" y="20400"/>
                  <a:pt x="20661" y="20400"/>
                </a:cubicBezTo>
                <a:cubicBezTo>
                  <a:pt x="20142" y="20400"/>
                  <a:pt x="19722" y="19862"/>
                  <a:pt x="19722" y="19200"/>
                </a:cubicBezTo>
                <a:cubicBezTo>
                  <a:pt x="19722" y="17202"/>
                  <a:pt x="19034" y="15905"/>
                  <a:pt x="18122" y="15168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1512;p103">
            <a:extLst xmlns:a="http://schemas.openxmlformats.org/drawingml/2006/main">
              <a:ext uri="{FF2B5EF4-FFF2-40B4-BE49-F238E27FC236}">
                <a16:creationId xmlns:a16="http://schemas.microsoft.com/office/drawing/2014/main" id="{D015E4E0-1777-A560-A6C2-AEDA1FAD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36" y="4025768"/>
            <a:ext cx="305570" cy="338652"/>
          </a:xfrm>
          <a:custGeom xmlns:a="http://schemas.openxmlformats.org/drawingml/2006/main">
            <a:rect l="l" t="t" r="r" b="b"/>
            <a:pathLst>
              <a:path w="21538" h="21553">
                <a:moveTo>
                  <a:pt x="10897" y="543"/>
                </a:moveTo>
                <a:cubicBezTo>
                  <a:pt x="11135" y="165"/>
                  <a:pt x="11603" y="-46"/>
                  <a:pt x="12081" y="8"/>
                </a:cubicBezTo>
                <a:lnTo>
                  <a:pt x="12622" y="69"/>
                </a:lnTo>
                <a:cubicBezTo>
                  <a:pt x="15566" y="401"/>
                  <a:pt x="17464" y="3053"/>
                  <a:pt x="16592" y="5614"/>
                </a:cubicBezTo>
                <a:lnTo>
                  <a:pt x="15932" y="7551"/>
                </a:lnTo>
                <a:cubicBezTo>
                  <a:pt x="16337" y="7557"/>
                  <a:pt x="16701" y="7570"/>
                  <a:pt x="17029" y="7593"/>
                </a:cubicBezTo>
                <a:cubicBezTo>
                  <a:pt x="17750" y="7644"/>
                  <a:pt x="18413" y="7753"/>
                  <a:pt x="19016" y="8039"/>
                </a:cubicBezTo>
                <a:cubicBezTo>
                  <a:pt x="20257" y="8629"/>
                  <a:pt x="21148" y="9683"/>
                  <a:pt x="21451" y="10920"/>
                </a:cubicBezTo>
                <a:cubicBezTo>
                  <a:pt x="21599" y="11520"/>
                  <a:pt x="21541" y="12127"/>
                  <a:pt x="21406" y="12769"/>
                </a:cubicBezTo>
                <a:cubicBezTo>
                  <a:pt x="21273" y="13395"/>
                  <a:pt x="21043" y="14161"/>
                  <a:pt x="20759" y="15099"/>
                </a:cubicBezTo>
                <a:lnTo>
                  <a:pt x="20202" y="16946"/>
                </a:lnTo>
                <a:cubicBezTo>
                  <a:pt x="20181" y="17013"/>
                  <a:pt x="20161" y="17078"/>
                  <a:pt x="20142" y="17143"/>
                </a:cubicBezTo>
                <a:cubicBezTo>
                  <a:pt x="19789" y="18315"/>
                  <a:pt x="19524" y="19196"/>
                  <a:pt x="18943" y="19876"/>
                </a:cubicBezTo>
                <a:cubicBezTo>
                  <a:pt x="18432" y="20473"/>
                  <a:pt x="17757" y="20939"/>
                  <a:pt x="16986" y="21226"/>
                </a:cubicBezTo>
                <a:cubicBezTo>
                  <a:pt x="16107" y="21554"/>
                  <a:pt x="15095" y="21553"/>
                  <a:pt x="13750" y="21552"/>
                </a:cubicBezTo>
                <a:cubicBezTo>
                  <a:pt x="11456" y="21551"/>
                  <a:pt x="9164" y="21552"/>
                  <a:pt x="6872" y="21552"/>
                </a:cubicBezTo>
                <a:cubicBezTo>
                  <a:pt x="5911" y="21552"/>
                  <a:pt x="5118" y="21552"/>
                  <a:pt x="4472" y="21505"/>
                </a:cubicBezTo>
                <a:cubicBezTo>
                  <a:pt x="3802" y="21455"/>
                  <a:pt x="3185" y="21349"/>
                  <a:pt x="2606" y="21082"/>
                </a:cubicBezTo>
                <a:cubicBezTo>
                  <a:pt x="1708" y="20669"/>
                  <a:pt x="979" y="20010"/>
                  <a:pt x="520" y="19199"/>
                </a:cubicBezTo>
                <a:cubicBezTo>
                  <a:pt x="226" y="18676"/>
                  <a:pt x="108" y="18119"/>
                  <a:pt x="53" y="17513"/>
                </a:cubicBezTo>
                <a:cubicBezTo>
                  <a:pt x="0" y="16930"/>
                  <a:pt x="0" y="16214"/>
                  <a:pt x="0" y="15346"/>
                </a:cubicBezTo>
                <a:lnTo>
                  <a:pt x="0" y="12931"/>
                </a:lnTo>
                <a:cubicBezTo>
                  <a:pt x="0" y="12881"/>
                  <a:pt x="0" y="12832"/>
                  <a:pt x="0" y="12783"/>
                </a:cubicBezTo>
                <a:cubicBezTo>
                  <a:pt x="0" y="11926"/>
                  <a:pt x="-1" y="11289"/>
                  <a:pt x="162" y="10738"/>
                </a:cubicBezTo>
                <a:cubicBezTo>
                  <a:pt x="604" y="9250"/>
                  <a:pt x="1890" y="8088"/>
                  <a:pt x="3538" y="7690"/>
                </a:cubicBezTo>
                <a:cubicBezTo>
                  <a:pt x="4148" y="7542"/>
                  <a:pt x="4853" y="7542"/>
                  <a:pt x="5803" y="7543"/>
                </a:cubicBezTo>
                <a:cubicBezTo>
                  <a:pt x="5857" y="7543"/>
                  <a:pt x="5911" y="7543"/>
                  <a:pt x="5966" y="7543"/>
                </a:cubicBezTo>
                <a:cubicBezTo>
                  <a:pt x="6277" y="7543"/>
                  <a:pt x="6562" y="7393"/>
                  <a:pt x="6716" y="7150"/>
                </a:cubicBezTo>
                <a:lnTo>
                  <a:pt x="10897" y="543"/>
                </a:lnTo>
                <a:close/>
                <a:moveTo>
                  <a:pt x="5407" y="19388"/>
                </a:moveTo>
                <a:cubicBezTo>
                  <a:pt x="5204" y="19068"/>
                  <a:pt x="5044" y="18723"/>
                  <a:pt x="4935" y="18357"/>
                </a:cubicBezTo>
                <a:cubicBezTo>
                  <a:pt x="4772" y="17806"/>
                  <a:pt x="4773" y="17169"/>
                  <a:pt x="4773" y="16312"/>
                </a:cubicBezTo>
                <a:cubicBezTo>
                  <a:pt x="4773" y="16264"/>
                  <a:pt x="4773" y="16214"/>
                  <a:pt x="4773" y="16164"/>
                </a:cubicBezTo>
                <a:lnTo>
                  <a:pt x="4773" y="9709"/>
                </a:lnTo>
                <a:cubicBezTo>
                  <a:pt x="4466" y="9719"/>
                  <a:pt x="4297" y="9737"/>
                  <a:pt x="4155" y="9772"/>
                </a:cubicBezTo>
                <a:cubicBezTo>
                  <a:pt x="3332" y="9971"/>
                  <a:pt x="2689" y="10552"/>
                  <a:pt x="2468" y="11296"/>
                </a:cubicBezTo>
                <a:cubicBezTo>
                  <a:pt x="2397" y="11535"/>
                  <a:pt x="2387" y="11860"/>
                  <a:pt x="2387" y="12931"/>
                </a:cubicBezTo>
                <a:lnTo>
                  <a:pt x="2387" y="15302"/>
                </a:lnTo>
                <a:cubicBezTo>
                  <a:pt x="2387" y="16225"/>
                  <a:pt x="2388" y="16853"/>
                  <a:pt x="2432" y="17338"/>
                </a:cubicBezTo>
                <a:cubicBezTo>
                  <a:pt x="2474" y="17810"/>
                  <a:pt x="2551" y="18052"/>
                  <a:pt x="2647" y="18220"/>
                </a:cubicBezTo>
                <a:cubicBezTo>
                  <a:pt x="2876" y="18626"/>
                  <a:pt x="3241" y="18955"/>
                  <a:pt x="3690" y="19162"/>
                </a:cubicBezTo>
                <a:cubicBezTo>
                  <a:pt x="3877" y="19248"/>
                  <a:pt x="4144" y="19318"/>
                  <a:pt x="4667" y="19356"/>
                </a:cubicBezTo>
                <a:cubicBezTo>
                  <a:pt x="4884" y="19372"/>
                  <a:pt x="5128" y="19382"/>
                  <a:pt x="5407" y="19388"/>
                </a:cubicBezTo>
                <a:close/>
                <a:moveTo>
                  <a:pt x="7160" y="9493"/>
                </a:moveTo>
                <a:lnTo>
                  <a:pt x="7160" y="16164"/>
                </a:lnTo>
                <a:cubicBezTo>
                  <a:pt x="7160" y="17236"/>
                  <a:pt x="7170" y="17560"/>
                  <a:pt x="7241" y="17799"/>
                </a:cubicBezTo>
                <a:cubicBezTo>
                  <a:pt x="7462" y="18543"/>
                  <a:pt x="8105" y="19124"/>
                  <a:pt x="8928" y="19324"/>
                </a:cubicBezTo>
                <a:cubicBezTo>
                  <a:pt x="9194" y="19388"/>
                  <a:pt x="9553" y="19397"/>
                  <a:pt x="10739" y="19397"/>
                </a:cubicBezTo>
                <a:lnTo>
                  <a:pt x="13524" y="19397"/>
                </a:lnTo>
                <a:cubicBezTo>
                  <a:pt x="15200" y="19397"/>
                  <a:pt x="15691" y="19377"/>
                  <a:pt x="16076" y="19234"/>
                </a:cubicBezTo>
                <a:cubicBezTo>
                  <a:pt x="16461" y="19090"/>
                  <a:pt x="16799" y="18857"/>
                  <a:pt x="17054" y="18559"/>
                </a:cubicBezTo>
                <a:cubicBezTo>
                  <a:pt x="17307" y="18262"/>
                  <a:pt x="17458" y="17839"/>
                  <a:pt x="17899" y="16379"/>
                </a:cubicBezTo>
                <a:lnTo>
                  <a:pt x="18444" y="14575"/>
                </a:lnTo>
                <a:cubicBezTo>
                  <a:pt x="18744" y="13583"/>
                  <a:pt x="18949" y="12899"/>
                  <a:pt x="19061" y="12366"/>
                </a:cubicBezTo>
                <a:cubicBezTo>
                  <a:pt x="19172" y="11837"/>
                  <a:pt x="19166" y="11567"/>
                  <a:pt x="19122" y="11387"/>
                </a:cubicBezTo>
                <a:cubicBezTo>
                  <a:pt x="18970" y="10768"/>
                  <a:pt x="18524" y="10241"/>
                  <a:pt x="17904" y="9946"/>
                </a:cubicBezTo>
                <a:cubicBezTo>
                  <a:pt x="17722" y="9860"/>
                  <a:pt x="17436" y="9783"/>
                  <a:pt x="16842" y="9741"/>
                </a:cubicBezTo>
                <a:cubicBezTo>
                  <a:pt x="16243" y="9699"/>
                  <a:pt x="15457" y="9698"/>
                  <a:pt x="14319" y="9698"/>
                </a:cubicBezTo>
                <a:cubicBezTo>
                  <a:pt x="13941" y="9698"/>
                  <a:pt x="13584" y="9536"/>
                  <a:pt x="13360" y="9261"/>
                </a:cubicBezTo>
                <a:cubicBezTo>
                  <a:pt x="13134" y="8986"/>
                  <a:pt x="13067" y="8631"/>
                  <a:pt x="13178" y="8304"/>
                </a:cubicBezTo>
                <a:lnTo>
                  <a:pt x="14311" y="4980"/>
                </a:lnTo>
                <a:cubicBezTo>
                  <a:pt x="14722" y="3771"/>
                  <a:pt x="13900" y="2522"/>
                  <a:pt x="12567" y="2246"/>
                </a:cubicBezTo>
                <a:lnTo>
                  <a:pt x="8787" y="8220"/>
                </a:lnTo>
                <a:cubicBezTo>
                  <a:pt x="8415" y="8808"/>
                  <a:pt x="7836" y="9252"/>
                  <a:pt x="7160" y="9493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Google Shape;1266;p99">
            <a:extLst xmlns:a="http://schemas.openxmlformats.org/drawingml/2006/main">
              <a:ext uri="{FF2B5EF4-FFF2-40B4-BE49-F238E27FC236}">
                <a16:creationId xmlns:a16="http://schemas.microsoft.com/office/drawing/2014/main" id="{A7463D0C-45D0-FAD2-0C32-03216576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485" y="4029083"/>
            <a:ext cx="321663" cy="321771"/>
          </a:xfrm>
          <a:custGeom xmlns:a="http://schemas.openxmlformats.org/drawingml/2006/main">
            <a:rect l="l" t="t" r="r" b="b"/>
            <a:pathLst>
              <a:path w="21599" h="21599">
                <a:moveTo>
                  <a:pt x="6252" y="0"/>
                </a:moveTo>
                <a:cubicBezTo>
                  <a:pt x="6880" y="0"/>
                  <a:pt x="7389" y="509"/>
                  <a:pt x="7389" y="1137"/>
                </a:cubicBezTo>
                <a:lnTo>
                  <a:pt x="14210" y="1137"/>
                </a:lnTo>
                <a:cubicBezTo>
                  <a:pt x="14210" y="509"/>
                  <a:pt x="14719" y="0"/>
                  <a:pt x="15347" y="0"/>
                </a:cubicBezTo>
                <a:cubicBezTo>
                  <a:pt x="15974" y="0"/>
                  <a:pt x="16483" y="509"/>
                  <a:pt x="16483" y="1137"/>
                </a:cubicBezTo>
                <a:lnTo>
                  <a:pt x="16483" y="1146"/>
                </a:lnTo>
                <a:cubicBezTo>
                  <a:pt x="16839" y="1155"/>
                  <a:pt x="17162" y="1170"/>
                  <a:pt x="17456" y="1197"/>
                </a:cubicBezTo>
                <a:cubicBezTo>
                  <a:pt x="18049" y="1254"/>
                  <a:pt x="18598" y="1369"/>
                  <a:pt x="19116" y="1632"/>
                </a:cubicBezTo>
                <a:cubicBezTo>
                  <a:pt x="19972" y="2068"/>
                  <a:pt x="20668" y="2764"/>
                  <a:pt x="21103" y="3620"/>
                </a:cubicBezTo>
                <a:cubicBezTo>
                  <a:pt x="21384" y="4171"/>
                  <a:pt x="21497" y="4759"/>
                  <a:pt x="21549" y="5397"/>
                </a:cubicBezTo>
                <a:cubicBezTo>
                  <a:pt x="21599" y="6012"/>
                  <a:pt x="21599" y="6768"/>
                  <a:pt x="21599" y="7684"/>
                </a:cubicBezTo>
                <a:lnTo>
                  <a:pt x="21599" y="13655"/>
                </a:lnTo>
                <a:cubicBezTo>
                  <a:pt x="21599" y="13694"/>
                  <a:pt x="21599" y="13732"/>
                  <a:pt x="21599" y="13771"/>
                </a:cubicBezTo>
                <a:cubicBezTo>
                  <a:pt x="21599" y="14493"/>
                  <a:pt x="21600" y="15037"/>
                  <a:pt x="21473" y="15564"/>
                </a:cubicBezTo>
                <a:cubicBezTo>
                  <a:pt x="21361" y="16027"/>
                  <a:pt x="21178" y="16471"/>
                  <a:pt x="20929" y="16878"/>
                </a:cubicBezTo>
                <a:cubicBezTo>
                  <a:pt x="20646" y="17339"/>
                  <a:pt x="20261" y="17725"/>
                  <a:pt x="19749" y="18235"/>
                </a:cubicBezTo>
                <a:cubicBezTo>
                  <a:pt x="19723" y="18262"/>
                  <a:pt x="19696" y="18290"/>
                  <a:pt x="19667" y="18317"/>
                </a:cubicBezTo>
                <a:lnTo>
                  <a:pt x="18317" y="19667"/>
                </a:lnTo>
                <a:cubicBezTo>
                  <a:pt x="18290" y="19696"/>
                  <a:pt x="18262" y="19723"/>
                  <a:pt x="18235" y="19749"/>
                </a:cubicBezTo>
                <a:cubicBezTo>
                  <a:pt x="17725" y="20260"/>
                  <a:pt x="17339" y="20646"/>
                  <a:pt x="16878" y="20929"/>
                </a:cubicBezTo>
                <a:cubicBezTo>
                  <a:pt x="16471" y="21178"/>
                  <a:pt x="16027" y="21361"/>
                  <a:pt x="15564" y="21473"/>
                </a:cubicBezTo>
                <a:cubicBezTo>
                  <a:pt x="15037" y="21600"/>
                  <a:pt x="14493" y="21599"/>
                  <a:pt x="13771" y="21599"/>
                </a:cubicBezTo>
                <a:cubicBezTo>
                  <a:pt x="13732" y="21599"/>
                  <a:pt x="13694" y="21599"/>
                  <a:pt x="13655" y="21599"/>
                </a:cubicBezTo>
                <a:lnTo>
                  <a:pt x="6547" y="21599"/>
                </a:lnTo>
                <a:cubicBezTo>
                  <a:pt x="5632" y="21599"/>
                  <a:pt x="4876" y="21599"/>
                  <a:pt x="4261" y="21549"/>
                </a:cubicBezTo>
                <a:cubicBezTo>
                  <a:pt x="3622" y="21497"/>
                  <a:pt x="3034" y="21384"/>
                  <a:pt x="2483" y="21103"/>
                </a:cubicBezTo>
                <a:cubicBezTo>
                  <a:pt x="1627" y="20668"/>
                  <a:pt x="931" y="19972"/>
                  <a:pt x="496" y="19116"/>
                </a:cubicBezTo>
                <a:cubicBezTo>
                  <a:pt x="215" y="18565"/>
                  <a:pt x="102" y="17977"/>
                  <a:pt x="50" y="17338"/>
                </a:cubicBezTo>
                <a:cubicBezTo>
                  <a:pt x="0" y="16723"/>
                  <a:pt x="0" y="15967"/>
                  <a:pt x="0" y="15052"/>
                </a:cubicBezTo>
                <a:lnTo>
                  <a:pt x="0" y="7684"/>
                </a:lnTo>
                <a:cubicBezTo>
                  <a:pt x="0" y="6768"/>
                  <a:pt x="0" y="6012"/>
                  <a:pt x="50" y="5397"/>
                </a:cubicBezTo>
                <a:cubicBezTo>
                  <a:pt x="102" y="4759"/>
                  <a:pt x="215" y="4171"/>
                  <a:pt x="496" y="3620"/>
                </a:cubicBezTo>
                <a:cubicBezTo>
                  <a:pt x="931" y="2764"/>
                  <a:pt x="1627" y="2068"/>
                  <a:pt x="2483" y="1632"/>
                </a:cubicBezTo>
                <a:cubicBezTo>
                  <a:pt x="3001" y="1369"/>
                  <a:pt x="3550" y="1254"/>
                  <a:pt x="4142" y="1197"/>
                </a:cubicBezTo>
                <a:cubicBezTo>
                  <a:pt x="4437" y="1170"/>
                  <a:pt x="4760" y="1155"/>
                  <a:pt x="5116" y="1146"/>
                </a:cubicBezTo>
                <a:lnTo>
                  <a:pt x="5116" y="1137"/>
                </a:lnTo>
                <a:cubicBezTo>
                  <a:pt x="5116" y="509"/>
                  <a:pt x="5625" y="0"/>
                  <a:pt x="6252" y="0"/>
                </a:cubicBezTo>
                <a:close/>
                <a:moveTo>
                  <a:pt x="5116" y="3421"/>
                </a:moveTo>
                <a:cubicBezTo>
                  <a:pt x="4822" y="3427"/>
                  <a:pt x="4576" y="3440"/>
                  <a:pt x="4358" y="3460"/>
                </a:cubicBezTo>
                <a:cubicBezTo>
                  <a:pt x="3916" y="3502"/>
                  <a:pt x="3681" y="3573"/>
                  <a:pt x="3515" y="3658"/>
                </a:cubicBezTo>
                <a:cubicBezTo>
                  <a:pt x="3088" y="3876"/>
                  <a:pt x="2740" y="4224"/>
                  <a:pt x="2521" y="4652"/>
                </a:cubicBezTo>
                <a:cubicBezTo>
                  <a:pt x="2430" y="4829"/>
                  <a:pt x="2357" y="5085"/>
                  <a:pt x="2317" y="5583"/>
                </a:cubicBezTo>
                <a:cubicBezTo>
                  <a:pt x="2275" y="6094"/>
                  <a:pt x="2274" y="6756"/>
                  <a:pt x="2274" y="7730"/>
                </a:cubicBezTo>
                <a:lnTo>
                  <a:pt x="2274" y="15006"/>
                </a:lnTo>
                <a:cubicBezTo>
                  <a:pt x="2274" y="15980"/>
                  <a:pt x="2275" y="16641"/>
                  <a:pt x="2317" y="17153"/>
                </a:cubicBezTo>
                <a:cubicBezTo>
                  <a:pt x="2357" y="17651"/>
                  <a:pt x="2430" y="17907"/>
                  <a:pt x="2521" y="18084"/>
                </a:cubicBezTo>
                <a:cubicBezTo>
                  <a:pt x="2740" y="18511"/>
                  <a:pt x="3088" y="18859"/>
                  <a:pt x="3515" y="19077"/>
                </a:cubicBezTo>
                <a:cubicBezTo>
                  <a:pt x="3692" y="19168"/>
                  <a:pt x="3948" y="19242"/>
                  <a:pt x="4446" y="19282"/>
                </a:cubicBezTo>
                <a:cubicBezTo>
                  <a:pt x="4958" y="19324"/>
                  <a:pt x="5619" y="19325"/>
                  <a:pt x="6593" y="19325"/>
                </a:cubicBezTo>
                <a:lnTo>
                  <a:pt x="13073" y="19325"/>
                </a:lnTo>
                <a:lnTo>
                  <a:pt x="13073" y="18189"/>
                </a:lnTo>
                <a:cubicBezTo>
                  <a:pt x="13073" y="15677"/>
                  <a:pt x="15109" y="13641"/>
                  <a:pt x="17620" y="13641"/>
                </a:cubicBezTo>
                <a:lnTo>
                  <a:pt x="18757" y="13641"/>
                </a:lnTo>
                <a:cubicBezTo>
                  <a:pt x="18964" y="13641"/>
                  <a:pt x="19158" y="13697"/>
                  <a:pt x="19325" y="13794"/>
                </a:cubicBezTo>
                <a:cubicBezTo>
                  <a:pt x="19325" y="13749"/>
                  <a:pt x="19325" y="13703"/>
                  <a:pt x="19325" y="13655"/>
                </a:cubicBezTo>
                <a:lnTo>
                  <a:pt x="19325" y="7730"/>
                </a:lnTo>
                <a:cubicBezTo>
                  <a:pt x="19325" y="6756"/>
                  <a:pt x="19324" y="6094"/>
                  <a:pt x="19282" y="5583"/>
                </a:cubicBezTo>
                <a:cubicBezTo>
                  <a:pt x="19242" y="5085"/>
                  <a:pt x="19168" y="4829"/>
                  <a:pt x="19077" y="4652"/>
                </a:cubicBezTo>
                <a:cubicBezTo>
                  <a:pt x="18859" y="4224"/>
                  <a:pt x="18511" y="3876"/>
                  <a:pt x="18084" y="3658"/>
                </a:cubicBezTo>
                <a:cubicBezTo>
                  <a:pt x="17918" y="3573"/>
                  <a:pt x="17683" y="3502"/>
                  <a:pt x="17240" y="3460"/>
                </a:cubicBezTo>
                <a:cubicBezTo>
                  <a:pt x="17023" y="3440"/>
                  <a:pt x="16777" y="3427"/>
                  <a:pt x="16483" y="3421"/>
                </a:cubicBezTo>
                <a:lnTo>
                  <a:pt x="16483" y="4547"/>
                </a:lnTo>
                <a:cubicBezTo>
                  <a:pt x="16483" y="5175"/>
                  <a:pt x="15974" y="5684"/>
                  <a:pt x="15347" y="5684"/>
                </a:cubicBezTo>
                <a:cubicBezTo>
                  <a:pt x="14719" y="5684"/>
                  <a:pt x="14210" y="5175"/>
                  <a:pt x="14210" y="4547"/>
                </a:cubicBezTo>
                <a:lnTo>
                  <a:pt x="14210" y="3410"/>
                </a:lnTo>
                <a:lnTo>
                  <a:pt x="7389" y="3410"/>
                </a:lnTo>
                <a:lnTo>
                  <a:pt x="7389" y="4547"/>
                </a:lnTo>
                <a:cubicBezTo>
                  <a:pt x="7389" y="5175"/>
                  <a:pt x="6880" y="5684"/>
                  <a:pt x="6252" y="5684"/>
                </a:cubicBezTo>
                <a:cubicBezTo>
                  <a:pt x="5625" y="5684"/>
                  <a:pt x="5116" y="5175"/>
                  <a:pt x="5116" y="4547"/>
                </a:cubicBezTo>
                <a:lnTo>
                  <a:pt x="5116" y="3421"/>
                </a:lnTo>
                <a:close/>
                <a:moveTo>
                  <a:pt x="18827" y="15913"/>
                </a:moveTo>
                <a:cubicBezTo>
                  <a:pt x="18804" y="15914"/>
                  <a:pt x="18781" y="15915"/>
                  <a:pt x="18757" y="15915"/>
                </a:cubicBezTo>
                <a:lnTo>
                  <a:pt x="17620" y="15915"/>
                </a:lnTo>
                <a:cubicBezTo>
                  <a:pt x="16364" y="15915"/>
                  <a:pt x="15347" y="16932"/>
                  <a:pt x="15347" y="18189"/>
                </a:cubicBezTo>
                <a:lnTo>
                  <a:pt x="15347" y="19163"/>
                </a:lnTo>
                <a:cubicBezTo>
                  <a:pt x="15466" y="19115"/>
                  <a:pt x="15581" y="19057"/>
                  <a:pt x="15690" y="18990"/>
                </a:cubicBezTo>
                <a:cubicBezTo>
                  <a:pt x="15893" y="18866"/>
                  <a:pt x="16081" y="18689"/>
                  <a:pt x="16710" y="18060"/>
                </a:cubicBezTo>
                <a:lnTo>
                  <a:pt x="18060" y="16710"/>
                </a:lnTo>
                <a:cubicBezTo>
                  <a:pt x="18472" y="16297"/>
                  <a:pt x="18690" y="16074"/>
                  <a:pt x="18827" y="15913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Footer Placeholder 18">
            <a:extLst xmlns:a="http://schemas.openxmlformats.org/drawingml/2006/main">
              <a:ext uri="{FF2B5EF4-FFF2-40B4-BE49-F238E27FC236}">
                <a16:creationId xmlns:a16="http://schemas.microsoft.com/office/drawing/2014/main" id="{A7C685AE-794E-F9C0-C7B3-7E956842DD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892F439-FAFA-E9E4-AA65-F7A04500A77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334276-4C85-190E-BA41-5CA1CBB04E4E}" type="slidenum">
              <a:rPr>
                <a:solidFill>
                  <a:srgbClr val="A9C7E8"/>
                </a:solidFill>
              </a:rPr>
              <a:t>37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342105169"/>
      </p:ext>
    </p:extLst>
  </p:cSld>
</p:sld>
</file>

<file path=ppt/slides/slide3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Audit configs → update model IDs → run evals → canary → monitor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OpenAI rollout checklist: update saved model choices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1. AUDIT CONFIGS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ChatGPT Work and Codex documentation says GPT-5.5 access retires on October 14, 2026. Update saved configurations, custom agents, automations, and scripts before that date. API lifecycles can differ—check each API model page.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2. UPDATE MODELS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3. RUN EVALS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4. CANARY RELEASE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5. MONITOR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67BC5C-65A7-7445-018D-E76E0A9441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5A7F00-3259-A23D-D734-A322A9F9DD63}" type="slidenum">
              <a:rPr>
                <a:solidFill>
                  <a:srgbClr val="A9C7E8"/>
                </a:solidFill>
              </a:rPr>
              <a:t>38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3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Claude’s current family spans daily work to frontier research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Claude Sonnet 5.5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Daily default for well-scoped work, bug fixing, and polished developer artifacts.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Claude Opus 5.5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Leading general model for the most complex coding, architecture, and review work.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Claude Fable 5.1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Frontier coding and knowledge work; generally available where enabled.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Claude Haiku 5.5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Fast, high-volume classification, extraction, routing, and bounded agent tasks.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Mythos 5.1 remains restricted to verified programs. Check exact model IDs and account access before routing work.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66C477-A387-35CF-F492-F54B4FA4FEC9}" type="slidenum">
              <a:rPr>
                <a:solidFill>
                  <a:srgbClr val="A9C7E8"/>
                </a:solidFill>
              </a:rPr>
              <a:t>39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4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Claude API models: defaults and migration watchlist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Active does not mean equally suitable; availability and aliases differ by product.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953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Model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Status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Best developer use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Access note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Migration action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Sonnet 5.5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Active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Daily coding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Broad choice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Replace 4.5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Opus 5.5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Active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Architecture / review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Premium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Escalate selectively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Fable 5.1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Active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Frontier coding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Access dependent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Evaluate vs Opus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Mythos 5.1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Active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Security research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Trusted programs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Not a default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Sonnet 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Active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General work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Still supported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Benchmark upgrade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Opus 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Active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Complex work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Still supported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Benchmark upgrade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Sonnet 4.5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Deprecated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Legacy apps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Retires Nov 30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Move to 5.5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Haiku 5.5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Active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Fast volume / routing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Medium effort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Released Oct 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C89EF0-BE71-8D92-BDDF-FF7D05F0AC04}" type="slidenum">
              <a:rPr>
                <a:solidFill>
                  <a:srgbClr val="A9C7E8"/>
                </a:solidFill>
              </a:rPr>
              <a:t>40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4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4D765FCF-56FA-8EE2-65DF-D8A5321F3C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Daily model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 claude --model sonnet for normal coding and bug-fix loops.</a:t>
            </a:r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FA1AD57-2515-3263-71AA-F5510D72450E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Escalation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 --model opus for hard architecture, review, or ambiguous failures.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F4CF59D7-297B-30C8-431E-585575A55EC7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656666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Frontier access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 --model fable only when your account supports it and evals justify it.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252743B9-4592-4663-CAD2-40CC23D40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Claude Code: select models deliberately, keep permissions explicit</a:t>
            </a:r>
            <a:endParaRPr/>
          </a:p>
        </p:txBody>
      </p:sp>
      <p:sp>
        <p:nvSpPr>
          <p:cNvPr id="2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0018B0C7-DC20-D7FE-2D99-C8372B90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Fallbacks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Configure a fallback chain rather than silently changing task scope.</a:t>
            </a:r>
          </a:p>
        </p:txBody>
      </p:sp>
      <p:sp>
        <p:nvSpPr>
          <p:cNvPr id="3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142AC269-69D2-161D-AD16-2E5D7B8A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Permission mode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Start in plan or manual; allow edits only for approved scope.</a:t>
            </a:r>
          </a:p>
        </p:txBody>
      </p:sp>
      <p:sp>
        <p:nvSpPr>
          <p:cNvPr id="4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7E988850-5A60-A9C4-B928-BDFEC4FE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653452"/>
            <a:ext cx="3568700" cy="11023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Automation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 print mode, JSON output, max turns, and budget caps in CI or scripts.</a:t>
            </a:r>
          </a:p>
        </p:txBody>
      </p:sp>
      <p:sp>
        <p:nvSpPr>
          <p:cNvPr id="5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43830694-5B70-1E3A-562E-A57DE1DE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2022554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7C8ADA23-5610-C31E-B048-A0886EDC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2018463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Google Shape;1369;p101">
            <a:extLst xmlns:a="http://schemas.openxmlformats.org/drawingml/2006/main">
              <a:ext uri="{FF2B5EF4-FFF2-40B4-BE49-F238E27FC236}">
                <a16:creationId xmlns:a16="http://schemas.microsoft.com/office/drawing/2014/main" id="{41FBCA7C-C2E7-AFB5-3B6C-4D9C9E15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0146"/>
            <a:ext cx="338580" cy="338688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415;p101">
            <a:extLst xmlns:a="http://schemas.openxmlformats.org/drawingml/2006/main">
              <a:ext uri="{FF2B5EF4-FFF2-40B4-BE49-F238E27FC236}">
                <a16:creationId xmlns:a16="http://schemas.microsoft.com/office/drawing/2014/main" id="{8574D0ED-7640-B4E7-7B56-C1CA61B9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85" y="4050316"/>
            <a:ext cx="389340" cy="304776"/>
          </a:xfrm>
          <a:custGeom xmlns:a="http://schemas.openxmlformats.org/drawingml/2006/main">
            <a:rect l="l" t="t" r="r" b="b"/>
            <a:pathLst>
              <a:path w="21600" h="21600">
                <a:moveTo>
                  <a:pt x="6574" y="2400"/>
                </a:moveTo>
                <a:cubicBezTo>
                  <a:pt x="5277" y="2400"/>
                  <a:pt x="4226" y="3743"/>
                  <a:pt x="4226" y="5400"/>
                </a:cubicBezTo>
                <a:cubicBezTo>
                  <a:pt x="4226" y="7057"/>
                  <a:pt x="5277" y="8400"/>
                  <a:pt x="6574" y="8400"/>
                </a:cubicBezTo>
                <a:cubicBezTo>
                  <a:pt x="7871" y="8400"/>
                  <a:pt x="8922" y="7057"/>
                  <a:pt x="8922" y="5400"/>
                </a:cubicBezTo>
                <a:cubicBezTo>
                  <a:pt x="8922" y="3743"/>
                  <a:pt x="7871" y="2400"/>
                  <a:pt x="6574" y="2400"/>
                </a:cubicBezTo>
                <a:close/>
                <a:moveTo>
                  <a:pt x="2348" y="5400"/>
                </a:moveTo>
                <a:cubicBezTo>
                  <a:pt x="2348" y="2418"/>
                  <a:pt x="4240" y="0"/>
                  <a:pt x="6574" y="0"/>
                </a:cubicBezTo>
                <a:cubicBezTo>
                  <a:pt x="8908" y="0"/>
                  <a:pt x="10800" y="2418"/>
                  <a:pt x="10800" y="5400"/>
                </a:cubicBezTo>
                <a:cubicBezTo>
                  <a:pt x="10800" y="8382"/>
                  <a:pt x="8908" y="10800"/>
                  <a:pt x="6574" y="10800"/>
                </a:cubicBezTo>
                <a:cubicBezTo>
                  <a:pt x="4240" y="10800"/>
                  <a:pt x="2348" y="8382"/>
                  <a:pt x="2348" y="5400"/>
                </a:cubicBezTo>
                <a:close/>
                <a:moveTo>
                  <a:pt x="15496" y="3600"/>
                </a:moveTo>
                <a:cubicBezTo>
                  <a:pt x="14458" y="3600"/>
                  <a:pt x="13617" y="4674"/>
                  <a:pt x="13617" y="6000"/>
                </a:cubicBezTo>
                <a:cubicBezTo>
                  <a:pt x="13617" y="7326"/>
                  <a:pt x="14458" y="8400"/>
                  <a:pt x="15496" y="8400"/>
                </a:cubicBezTo>
                <a:cubicBezTo>
                  <a:pt x="16533" y="8400"/>
                  <a:pt x="17374" y="7326"/>
                  <a:pt x="17374" y="6000"/>
                </a:cubicBezTo>
                <a:cubicBezTo>
                  <a:pt x="17374" y="4674"/>
                  <a:pt x="16533" y="3600"/>
                  <a:pt x="15496" y="3600"/>
                </a:cubicBezTo>
                <a:close/>
                <a:moveTo>
                  <a:pt x="11739" y="6000"/>
                </a:moveTo>
                <a:cubicBezTo>
                  <a:pt x="11739" y="3349"/>
                  <a:pt x="13421" y="1200"/>
                  <a:pt x="15496" y="1200"/>
                </a:cubicBezTo>
                <a:cubicBezTo>
                  <a:pt x="17570" y="1200"/>
                  <a:pt x="19252" y="3349"/>
                  <a:pt x="19252" y="6000"/>
                </a:cubicBezTo>
                <a:cubicBezTo>
                  <a:pt x="19252" y="8651"/>
                  <a:pt x="17570" y="10800"/>
                  <a:pt x="15496" y="10800"/>
                </a:cubicBezTo>
                <a:cubicBezTo>
                  <a:pt x="13421" y="10800"/>
                  <a:pt x="11739" y="8651"/>
                  <a:pt x="11739" y="6000"/>
                </a:cubicBezTo>
                <a:close/>
                <a:moveTo>
                  <a:pt x="3324" y="15896"/>
                </a:moveTo>
                <a:cubicBezTo>
                  <a:pt x="2477" y="16858"/>
                  <a:pt x="1878" y="18325"/>
                  <a:pt x="1878" y="20400"/>
                </a:cubicBezTo>
                <a:cubicBezTo>
                  <a:pt x="1878" y="21062"/>
                  <a:pt x="1458" y="21600"/>
                  <a:pt x="939" y="21600"/>
                </a:cubicBezTo>
                <a:cubicBezTo>
                  <a:pt x="421" y="21600"/>
                  <a:pt x="0" y="21062"/>
                  <a:pt x="0" y="20400"/>
                </a:cubicBezTo>
                <a:cubicBezTo>
                  <a:pt x="0" y="17675"/>
                  <a:pt x="810" y="15542"/>
                  <a:pt x="2076" y="14102"/>
                </a:cubicBezTo>
                <a:cubicBezTo>
                  <a:pt x="3325" y="12684"/>
                  <a:pt x="4965" y="12000"/>
                  <a:pt x="6574" y="12000"/>
                </a:cubicBezTo>
                <a:cubicBezTo>
                  <a:pt x="8183" y="12000"/>
                  <a:pt x="9822" y="12684"/>
                  <a:pt x="11071" y="14102"/>
                </a:cubicBezTo>
                <a:cubicBezTo>
                  <a:pt x="12338" y="15542"/>
                  <a:pt x="13148" y="17675"/>
                  <a:pt x="13148" y="20400"/>
                </a:cubicBezTo>
                <a:cubicBezTo>
                  <a:pt x="13148" y="21062"/>
                  <a:pt x="12727" y="21600"/>
                  <a:pt x="12209" y="21600"/>
                </a:cubicBezTo>
                <a:cubicBezTo>
                  <a:pt x="11690" y="21600"/>
                  <a:pt x="11270" y="21062"/>
                  <a:pt x="11270" y="20400"/>
                </a:cubicBezTo>
                <a:cubicBezTo>
                  <a:pt x="11270" y="18325"/>
                  <a:pt x="10670" y="16858"/>
                  <a:pt x="9824" y="15896"/>
                </a:cubicBezTo>
                <a:cubicBezTo>
                  <a:pt x="8960" y="14916"/>
                  <a:pt x="7783" y="14400"/>
                  <a:pt x="6574" y="14400"/>
                </a:cubicBezTo>
                <a:cubicBezTo>
                  <a:pt x="5365" y="14400"/>
                  <a:pt x="4188" y="14916"/>
                  <a:pt x="3324" y="15896"/>
                </a:cubicBezTo>
                <a:close/>
                <a:moveTo>
                  <a:pt x="18122" y="15168"/>
                </a:moveTo>
                <a:cubicBezTo>
                  <a:pt x="17175" y="14402"/>
                  <a:pt x="15927" y="14200"/>
                  <a:pt x="14811" y="14602"/>
                </a:cubicBezTo>
                <a:cubicBezTo>
                  <a:pt x="14312" y="14782"/>
                  <a:pt x="13793" y="14411"/>
                  <a:pt x="13653" y="13772"/>
                </a:cubicBezTo>
                <a:cubicBezTo>
                  <a:pt x="13512" y="13134"/>
                  <a:pt x="13802" y="12472"/>
                  <a:pt x="14302" y="12292"/>
                </a:cubicBezTo>
                <a:cubicBezTo>
                  <a:pt x="15894" y="11718"/>
                  <a:pt x="17698" y="11986"/>
                  <a:pt x="19125" y="13139"/>
                </a:cubicBezTo>
                <a:cubicBezTo>
                  <a:pt x="20589" y="14320"/>
                  <a:pt x="21600" y="16387"/>
                  <a:pt x="21600" y="19200"/>
                </a:cubicBezTo>
                <a:cubicBezTo>
                  <a:pt x="21600" y="19862"/>
                  <a:pt x="21179" y="20400"/>
                  <a:pt x="20661" y="20400"/>
                </a:cubicBezTo>
                <a:cubicBezTo>
                  <a:pt x="20142" y="20400"/>
                  <a:pt x="19722" y="19862"/>
                  <a:pt x="19722" y="19200"/>
                </a:cubicBezTo>
                <a:cubicBezTo>
                  <a:pt x="19722" y="17202"/>
                  <a:pt x="19034" y="15905"/>
                  <a:pt x="18122" y="15168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Google Shape;1512;p103">
            <a:extLst xmlns:a="http://schemas.openxmlformats.org/drawingml/2006/main">
              <a:ext uri="{FF2B5EF4-FFF2-40B4-BE49-F238E27FC236}">
                <a16:creationId xmlns:a16="http://schemas.microsoft.com/office/drawing/2014/main" id="{D015E4E0-1777-A560-A6C2-AEDA1FAD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936" y="4025768"/>
            <a:ext cx="305570" cy="338652"/>
          </a:xfrm>
          <a:custGeom xmlns:a="http://schemas.openxmlformats.org/drawingml/2006/main">
            <a:rect l="l" t="t" r="r" b="b"/>
            <a:pathLst>
              <a:path w="21538" h="21553">
                <a:moveTo>
                  <a:pt x="10897" y="543"/>
                </a:moveTo>
                <a:cubicBezTo>
                  <a:pt x="11135" y="165"/>
                  <a:pt x="11603" y="-46"/>
                  <a:pt x="12081" y="8"/>
                </a:cubicBezTo>
                <a:lnTo>
                  <a:pt x="12622" y="69"/>
                </a:lnTo>
                <a:cubicBezTo>
                  <a:pt x="15566" y="401"/>
                  <a:pt x="17464" y="3053"/>
                  <a:pt x="16592" y="5614"/>
                </a:cubicBezTo>
                <a:lnTo>
                  <a:pt x="15932" y="7551"/>
                </a:lnTo>
                <a:cubicBezTo>
                  <a:pt x="16337" y="7557"/>
                  <a:pt x="16701" y="7570"/>
                  <a:pt x="17029" y="7593"/>
                </a:cubicBezTo>
                <a:cubicBezTo>
                  <a:pt x="17750" y="7644"/>
                  <a:pt x="18413" y="7753"/>
                  <a:pt x="19016" y="8039"/>
                </a:cubicBezTo>
                <a:cubicBezTo>
                  <a:pt x="20257" y="8629"/>
                  <a:pt x="21148" y="9683"/>
                  <a:pt x="21451" y="10920"/>
                </a:cubicBezTo>
                <a:cubicBezTo>
                  <a:pt x="21599" y="11520"/>
                  <a:pt x="21541" y="12127"/>
                  <a:pt x="21406" y="12769"/>
                </a:cubicBezTo>
                <a:cubicBezTo>
                  <a:pt x="21273" y="13395"/>
                  <a:pt x="21043" y="14161"/>
                  <a:pt x="20759" y="15099"/>
                </a:cubicBezTo>
                <a:lnTo>
                  <a:pt x="20202" y="16946"/>
                </a:lnTo>
                <a:cubicBezTo>
                  <a:pt x="20181" y="17013"/>
                  <a:pt x="20161" y="17078"/>
                  <a:pt x="20142" y="17143"/>
                </a:cubicBezTo>
                <a:cubicBezTo>
                  <a:pt x="19789" y="18315"/>
                  <a:pt x="19524" y="19196"/>
                  <a:pt x="18943" y="19876"/>
                </a:cubicBezTo>
                <a:cubicBezTo>
                  <a:pt x="18432" y="20473"/>
                  <a:pt x="17757" y="20939"/>
                  <a:pt x="16986" y="21226"/>
                </a:cubicBezTo>
                <a:cubicBezTo>
                  <a:pt x="16107" y="21554"/>
                  <a:pt x="15095" y="21553"/>
                  <a:pt x="13750" y="21552"/>
                </a:cubicBezTo>
                <a:cubicBezTo>
                  <a:pt x="11456" y="21551"/>
                  <a:pt x="9164" y="21552"/>
                  <a:pt x="6872" y="21552"/>
                </a:cubicBezTo>
                <a:cubicBezTo>
                  <a:pt x="5911" y="21552"/>
                  <a:pt x="5118" y="21552"/>
                  <a:pt x="4472" y="21505"/>
                </a:cubicBezTo>
                <a:cubicBezTo>
                  <a:pt x="3802" y="21455"/>
                  <a:pt x="3185" y="21349"/>
                  <a:pt x="2606" y="21082"/>
                </a:cubicBezTo>
                <a:cubicBezTo>
                  <a:pt x="1708" y="20669"/>
                  <a:pt x="979" y="20010"/>
                  <a:pt x="520" y="19199"/>
                </a:cubicBezTo>
                <a:cubicBezTo>
                  <a:pt x="226" y="18676"/>
                  <a:pt x="108" y="18119"/>
                  <a:pt x="53" y="17513"/>
                </a:cubicBezTo>
                <a:cubicBezTo>
                  <a:pt x="0" y="16930"/>
                  <a:pt x="0" y="16214"/>
                  <a:pt x="0" y="15346"/>
                </a:cubicBezTo>
                <a:lnTo>
                  <a:pt x="0" y="12931"/>
                </a:lnTo>
                <a:cubicBezTo>
                  <a:pt x="0" y="12881"/>
                  <a:pt x="0" y="12832"/>
                  <a:pt x="0" y="12783"/>
                </a:cubicBezTo>
                <a:cubicBezTo>
                  <a:pt x="0" y="11926"/>
                  <a:pt x="-1" y="11289"/>
                  <a:pt x="162" y="10738"/>
                </a:cubicBezTo>
                <a:cubicBezTo>
                  <a:pt x="604" y="9250"/>
                  <a:pt x="1890" y="8088"/>
                  <a:pt x="3538" y="7690"/>
                </a:cubicBezTo>
                <a:cubicBezTo>
                  <a:pt x="4148" y="7542"/>
                  <a:pt x="4853" y="7542"/>
                  <a:pt x="5803" y="7543"/>
                </a:cubicBezTo>
                <a:cubicBezTo>
                  <a:pt x="5857" y="7543"/>
                  <a:pt x="5911" y="7543"/>
                  <a:pt x="5966" y="7543"/>
                </a:cubicBezTo>
                <a:cubicBezTo>
                  <a:pt x="6277" y="7543"/>
                  <a:pt x="6562" y="7393"/>
                  <a:pt x="6716" y="7150"/>
                </a:cubicBezTo>
                <a:lnTo>
                  <a:pt x="10897" y="543"/>
                </a:lnTo>
                <a:close/>
                <a:moveTo>
                  <a:pt x="5407" y="19388"/>
                </a:moveTo>
                <a:cubicBezTo>
                  <a:pt x="5204" y="19068"/>
                  <a:pt x="5044" y="18723"/>
                  <a:pt x="4935" y="18357"/>
                </a:cubicBezTo>
                <a:cubicBezTo>
                  <a:pt x="4772" y="17806"/>
                  <a:pt x="4773" y="17169"/>
                  <a:pt x="4773" y="16312"/>
                </a:cubicBezTo>
                <a:cubicBezTo>
                  <a:pt x="4773" y="16264"/>
                  <a:pt x="4773" y="16214"/>
                  <a:pt x="4773" y="16164"/>
                </a:cubicBezTo>
                <a:lnTo>
                  <a:pt x="4773" y="9709"/>
                </a:lnTo>
                <a:cubicBezTo>
                  <a:pt x="4466" y="9719"/>
                  <a:pt x="4297" y="9737"/>
                  <a:pt x="4155" y="9772"/>
                </a:cubicBezTo>
                <a:cubicBezTo>
                  <a:pt x="3332" y="9971"/>
                  <a:pt x="2689" y="10552"/>
                  <a:pt x="2468" y="11296"/>
                </a:cubicBezTo>
                <a:cubicBezTo>
                  <a:pt x="2397" y="11535"/>
                  <a:pt x="2387" y="11860"/>
                  <a:pt x="2387" y="12931"/>
                </a:cubicBezTo>
                <a:lnTo>
                  <a:pt x="2387" y="15302"/>
                </a:lnTo>
                <a:cubicBezTo>
                  <a:pt x="2387" y="16225"/>
                  <a:pt x="2388" y="16853"/>
                  <a:pt x="2432" y="17338"/>
                </a:cubicBezTo>
                <a:cubicBezTo>
                  <a:pt x="2474" y="17810"/>
                  <a:pt x="2551" y="18052"/>
                  <a:pt x="2647" y="18220"/>
                </a:cubicBezTo>
                <a:cubicBezTo>
                  <a:pt x="2876" y="18626"/>
                  <a:pt x="3241" y="18955"/>
                  <a:pt x="3690" y="19162"/>
                </a:cubicBezTo>
                <a:cubicBezTo>
                  <a:pt x="3877" y="19248"/>
                  <a:pt x="4144" y="19318"/>
                  <a:pt x="4667" y="19356"/>
                </a:cubicBezTo>
                <a:cubicBezTo>
                  <a:pt x="4884" y="19372"/>
                  <a:pt x="5128" y="19382"/>
                  <a:pt x="5407" y="19388"/>
                </a:cubicBezTo>
                <a:close/>
                <a:moveTo>
                  <a:pt x="7160" y="9493"/>
                </a:moveTo>
                <a:lnTo>
                  <a:pt x="7160" y="16164"/>
                </a:lnTo>
                <a:cubicBezTo>
                  <a:pt x="7160" y="17236"/>
                  <a:pt x="7170" y="17560"/>
                  <a:pt x="7241" y="17799"/>
                </a:cubicBezTo>
                <a:cubicBezTo>
                  <a:pt x="7462" y="18543"/>
                  <a:pt x="8105" y="19124"/>
                  <a:pt x="8928" y="19324"/>
                </a:cubicBezTo>
                <a:cubicBezTo>
                  <a:pt x="9194" y="19388"/>
                  <a:pt x="9553" y="19397"/>
                  <a:pt x="10739" y="19397"/>
                </a:cubicBezTo>
                <a:lnTo>
                  <a:pt x="13524" y="19397"/>
                </a:lnTo>
                <a:cubicBezTo>
                  <a:pt x="15200" y="19397"/>
                  <a:pt x="15691" y="19377"/>
                  <a:pt x="16076" y="19234"/>
                </a:cubicBezTo>
                <a:cubicBezTo>
                  <a:pt x="16461" y="19090"/>
                  <a:pt x="16799" y="18857"/>
                  <a:pt x="17054" y="18559"/>
                </a:cubicBezTo>
                <a:cubicBezTo>
                  <a:pt x="17307" y="18262"/>
                  <a:pt x="17458" y="17839"/>
                  <a:pt x="17899" y="16379"/>
                </a:cubicBezTo>
                <a:lnTo>
                  <a:pt x="18444" y="14575"/>
                </a:lnTo>
                <a:cubicBezTo>
                  <a:pt x="18744" y="13583"/>
                  <a:pt x="18949" y="12899"/>
                  <a:pt x="19061" y="12366"/>
                </a:cubicBezTo>
                <a:cubicBezTo>
                  <a:pt x="19172" y="11837"/>
                  <a:pt x="19166" y="11567"/>
                  <a:pt x="19122" y="11387"/>
                </a:cubicBezTo>
                <a:cubicBezTo>
                  <a:pt x="18970" y="10768"/>
                  <a:pt x="18524" y="10241"/>
                  <a:pt x="17904" y="9946"/>
                </a:cubicBezTo>
                <a:cubicBezTo>
                  <a:pt x="17722" y="9860"/>
                  <a:pt x="17436" y="9783"/>
                  <a:pt x="16842" y="9741"/>
                </a:cubicBezTo>
                <a:cubicBezTo>
                  <a:pt x="16243" y="9699"/>
                  <a:pt x="15457" y="9698"/>
                  <a:pt x="14319" y="9698"/>
                </a:cubicBezTo>
                <a:cubicBezTo>
                  <a:pt x="13941" y="9698"/>
                  <a:pt x="13584" y="9536"/>
                  <a:pt x="13360" y="9261"/>
                </a:cubicBezTo>
                <a:cubicBezTo>
                  <a:pt x="13134" y="8986"/>
                  <a:pt x="13067" y="8631"/>
                  <a:pt x="13178" y="8304"/>
                </a:cubicBezTo>
                <a:lnTo>
                  <a:pt x="14311" y="4980"/>
                </a:lnTo>
                <a:cubicBezTo>
                  <a:pt x="14722" y="3771"/>
                  <a:pt x="13900" y="2522"/>
                  <a:pt x="12567" y="2246"/>
                </a:cubicBezTo>
                <a:lnTo>
                  <a:pt x="8787" y="8220"/>
                </a:lnTo>
                <a:cubicBezTo>
                  <a:pt x="8415" y="8808"/>
                  <a:pt x="7836" y="9252"/>
                  <a:pt x="7160" y="9493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Google Shape;1266;p99">
            <a:extLst xmlns:a="http://schemas.openxmlformats.org/drawingml/2006/main">
              <a:ext uri="{FF2B5EF4-FFF2-40B4-BE49-F238E27FC236}">
                <a16:creationId xmlns:a16="http://schemas.microsoft.com/office/drawing/2014/main" id="{A7463D0C-45D0-FAD2-0C32-03216576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485" y="4029083"/>
            <a:ext cx="321663" cy="321771"/>
          </a:xfrm>
          <a:custGeom xmlns:a="http://schemas.openxmlformats.org/drawingml/2006/main">
            <a:rect l="l" t="t" r="r" b="b"/>
            <a:pathLst>
              <a:path w="21599" h="21599">
                <a:moveTo>
                  <a:pt x="6252" y="0"/>
                </a:moveTo>
                <a:cubicBezTo>
                  <a:pt x="6880" y="0"/>
                  <a:pt x="7389" y="509"/>
                  <a:pt x="7389" y="1137"/>
                </a:cubicBezTo>
                <a:lnTo>
                  <a:pt x="14210" y="1137"/>
                </a:lnTo>
                <a:cubicBezTo>
                  <a:pt x="14210" y="509"/>
                  <a:pt x="14719" y="0"/>
                  <a:pt x="15347" y="0"/>
                </a:cubicBezTo>
                <a:cubicBezTo>
                  <a:pt x="15974" y="0"/>
                  <a:pt x="16483" y="509"/>
                  <a:pt x="16483" y="1137"/>
                </a:cubicBezTo>
                <a:lnTo>
                  <a:pt x="16483" y="1146"/>
                </a:lnTo>
                <a:cubicBezTo>
                  <a:pt x="16839" y="1155"/>
                  <a:pt x="17162" y="1170"/>
                  <a:pt x="17456" y="1197"/>
                </a:cubicBezTo>
                <a:cubicBezTo>
                  <a:pt x="18049" y="1254"/>
                  <a:pt x="18598" y="1369"/>
                  <a:pt x="19116" y="1632"/>
                </a:cubicBezTo>
                <a:cubicBezTo>
                  <a:pt x="19972" y="2068"/>
                  <a:pt x="20668" y="2764"/>
                  <a:pt x="21103" y="3620"/>
                </a:cubicBezTo>
                <a:cubicBezTo>
                  <a:pt x="21384" y="4171"/>
                  <a:pt x="21497" y="4759"/>
                  <a:pt x="21549" y="5397"/>
                </a:cubicBezTo>
                <a:cubicBezTo>
                  <a:pt x="21599" y="6012"/>
                  <a:pt x="21599" y="6768"/>
                  <a:pt x="21599" y="7684"/>
                </a:cubicBezTo>
                <a:lnTo>
                  <a:pt x="21599" y="13655"/>
                </a:lnTo>
                <a:cubicBezTo>
                  <a:pt x="21599" y="13694"/>
                  <a:pt x="21599" y="13732"/>
                  <a:pt x="21599" y="13771"/>
                </a:cubicBezTo>
                <a:cubicBezTo>
                  <a:pt x="21599" y="14493"/>
                  <a:pt x="21600" y="15037"/>
                  <a:pt x="21473" y="15564"/>
                </a:cubicBezTo>
                <a:cubicBezTo>
                  <a:pt x="21361" y="16027"/>
                  <a:pt x="21178" y="16471"/>
                  <a:pt x="20929" y="16878"/>
                </a:cubicBezTo>
                <a:cubicBezTo>
                  <a:pt x="20646" y="17339"/>
                  <a:pt x="20261" y="17725"/>
                  <a:pt x="19749" y="18235"/>
                </a:cubicBezTo>
                <a:cubicBezTo>
                  <a:pt x="19723" y="18262"/>
                  <a:pt x="19696" y="18290"/>
                  <a:pt x="19667" y="18317"/>
                </a:cubicBezTo>
                <a:lnTo>
                  <a:pt x="18317" y="19667"/>
                </a:lnTo>
                <a:cubicBezTo>
                  <a:pt x="18290" y="19696"/>
                  <a:pt x="18262" y="19723"/>
                  <a:pt x="18235" y="19749"/>
                </a:cubicBezTo>
                <a:cubicBezTo>
                  <a:pt x="17725" y="20260"/>
                  <a:pt x="17339" y="20646"/>
                  <a:pt x="16878" y="20929"/>
                </a:cubicBezTo>
                <a:cubicBezTo>
                  <a:pt x="16471" y="21178"/>
                  <a:pt x="16027" y="21361"/>
                  <a:pt x="15564" y="21473"/>
                </a:cubicBezTo>
                <a:cubicBezTo>
                  <a:pt x="15037" y="21600"/>
                  <a:pt x="14493" y="21599"/>
                  <a:pt x="13771" y="21599"/>
                </a:cubicBezTo>
                <a:cubicBezTo>
                  <a:pt x="13732" y="21599"/>
                  <a:pt x="13694" y="21599"/>
                  <a:pt x="13655" y="21599"/>
                </a:cubicBezTo>
                <a:lnTo>
                  <a:pt x="6547" y="21599"/>
                </a:lnTo>
                <a:cubicBezTo>
                  <a:pt x="5632" y="21599"/>
                  <a:pt x="4876" y="21599"/>
                  <a:pt x="4261" y="21549"/>
                </a:cubicBezTo>
                <a:cubicBezTo>
                  <a:pt x="3622" y="21497"/>
                  <a:pt x="3034" y="21384"/>
                  <a:pt x="2483" y="21103"/>
                </a:cubicBezTo>
                <a:cubicBezTo>
                  <a:pt x="1627" y="20668"/>
                  <a:pt x="931" y="19972"/>
                  <a:pt x="496" y="19116"/>
                </a:cubicBezTo>
                <a:cubicBezTo>
                  <a:pt x="215" y="18565"/>
                  <a:pt x="102" y="17977"/>
                  <a:pt x="50" y="17338"/>
                </a:cubicBezTo>
                <a:cubicBezTo>
                  <a:pt x="0" y="16723"/>
                  <a:pt x="0" y="15967"/>
                  <a:pt x="0" y="15052"/>
                </a:cubicBezTo>
                <a:lnTo>
                  <a:pt x="0" y="7684"/>
                </a:lnTo>
                <a:cubicBezTo>
                  <a:pt x="0" y="6768"/>
                  <a:pt x="0" y="6012"/>
                  <a:pt x="50" y="5397"/>
                </a:cubicBezTo>
                <a:cubicBezTo>
                  <a:pt x="102" y="4759"/>
                  <a:pt x="215" y="4171"/>
                  <a:pt x="496" y="3620"/>
                </a:cubicBezTo>
                <a:cubicBezTo>
                  <a:pt x="931" y="2764"/>
                  <a:pt x="1627" y="2068"/>
                  <a:pt x="2483" y="1632"/>
                </a:cubicBezTo>
                <a:cubicBezTo>
                  <a:pt x="3001" y="1369"/>
                  <a:pt x="3550" y="1254"/>
                  <a:pt x="4142" y="1197"/>
                </a:cubicBezTo>
                <a:cubicBezTo>
                  <a:pt x="4437" y="1170"/>
                  <a:pt x="4760" y="1155"/>
                  <a:pt x="5116" y="1146"/>
                </a:cubicBezTo>
                <a:lnTo>
                  <a:pt x="5116" y="1137"/>
                </a:lnTo>
                <a:cubicBezTo>
                  <a:pt x="5116" y="509"/>
                  <a:pt x="5625" y="0"/>
                  <a:pt x="6252" y="0"/>
                </a:cubicBezTo>
                <a:close/>
                <a:moveTo>
                  <a:pt x="5116" y="3421"/>
                </a:moveTo>
                <a:cubicBezTo>
                  <a:pt x="4822" y="3427"/>
                  <a:pt x="4576" y="3440"/>
                  <a:pt x="4358" y="3460"/>
                </a:cubicBezTo>
                <a:cubicBezTo>
                  <a:pt x="3916" y="3502"/>
                  <a:pt x="3681" y="3573"/>
                  <a:pt x="3515" y="3658"/>
                </a:cubicBezTo>
                <a:cubicBezTo>
                  <a:pt x="3088" y="3876"/>
                  <a:pt x="2740" y="4224"/>
                  <a:pt x="2521" y="4652"/>
                </a:cubicBezTo>
                <a:cubicBezTo>
                  <a:pt x="2430" y="4829"/>
                  <a:pt x="2357" y="5085"/>
                  <a:pt x="2317" y="5583"/>
                </a:cubicBezTo>
                <a:cubicBezTo>
                  <a:pt x="2275" y="6094"/>
                  <a:pt x="2274" y="6756"/>
                  <a:pt x="2274" y="7730"/>
                </a:cubicBezTo>
                <a:lnTo>
                  <a:pt x="2274" y="15006"/>
                </a:lnTo>
                <a:cubicBezTo>
                  <a:pt x="2274" y="15980"/>
                  <a:pt x="2275" y="16641"/>
                  <a:pt x="2317" y="17153"/>
                </a:cubicBezTo>
                <a:cubicBezTo>
                  <a:pt x="2357" y="17651"/>
                  <a:pt x="2430" y="17907"/>
                  <a:pt x="2521" y="18084"/>
                </a:cubicBezTo>
                <a:cubicBezTo>
                  <a:pt x="2740" y="18511"/>
                  <a:pt x="3088" y="18859"/>
                  <a:pt x="3515" y="19077"/>
                </a:cubicBezTo>
                <a:cubicBezTo>
                  <a:pt x="3692" y="19168"/>
                  <a:pt x="3948" y="19242"/>
                  <a:pt x="4446" y="19282"/>
                </a:cubicBezTo>
                <a:cubicBezTo>
                  <a:pt x="4958" y="19324"/>
                  <a:pt x="5619" y="19325"/>
                  <a:pt x="6593" y="19325"/>
                </a:cubicBezTo>
                <a:lnTo>
                  <a:pt x="13073" y="19325"/>
                </a:lnTo>
                <a:lnTo>
                  <a:pt x="13073" y="18189"/>
                </a:lnTo>
                <a:cubicBezTo>
                  <a:pt x="13073" y="15677"/>
                  <a:pt x="15109" y="13641"/>
                  <a:pt x="17620" y="13641"/>
                </a:cubicBezTo>
                <a:lnTo>
                  <a:pt x="18757" y="13641"/>
                </a:lnTo>
                <a:cubicBezTo>
                  <a:pt x="18964" y="13641"/>
                  <a:pt x="19158" y="13697"/>
                  <a:pt x="19325" y="13794"/>
                </a:cubicBezTo>
                <a:cubicBezTo>
                  <a:pt x="19325" y="13749"/>
                  <a:pt x="19325" y="13703"/>
                  <a:pt x="19325" y="13655"/>
                </a:cubicBezTo>
                <a:lnTo>
                  <a:pt x="19325" y="7730"/>
                </a:lnTo>
                <a:cubicBezTo>
                  <a:pt x="19325" y="6756"/>
                  <a:pt x="19324" y="6094"/>
                  <a:pt x="19282" y="5583"/>
                </a:cubicBezTo>
                <a:cubicBezTo>
                  <a:pt x="19242" y="5085"/>
                  <a:pt x="19168" y="4829"/>
                  <a:pt x="19077" y="4652"/>
                </a:cubicBezTo>
                <a:cubicBezTo>
                  <a:pt x="18859" y="4224"/>
                  <a:pt x="18511" y="3876"/>
                  <a:pt x="18084" y="3658"/>
                </a:cubicBezTo>
                <a:cubicBezTo>
                  <a:pt x="17918" y="3573"/>
                  <a:pt x="17683" y="3502"/>
                  <a:pt x="17240" y="3460"/>
                </a:cubicBezTo>
                <a:cubicBezTo>
                  <a:pt x="17023" y="3440"/>
                  <a:pt x="16777" y="3427"/>
                  <a:pt x="16483" y="3421"/>
                </a:cubicBezTo>
                <a:lnTo>
                  <a:pt x="16483" y="4547"/>
                </a:lnTo>
                <a:cubicBezTo>
                  <a:pt x="16483" y="5175"/>
                  <a:pt x="15974" y="5684"/>
                  <a:pt x="15347" y="5684"/>
                </a:cubicBezTo>
                <a:cubicBezTo>
                  <a:pt x="14719" y="5684"/>
                  <a:pt x="14210" y="5175"/>
                  <a:pt x="14210" y="4547"/>
                </a:cubicBezTo>
                <a:lnTo>
                  <a:pt x="14210" y="3410"/>
                </a:lnTo>
                <a:lnTo>
                  <a:pt x="7389" y="3410"/>
                </a:lnTo>
                <a:lnTo>
                  <a:pt x="7389" y="4547"/>
                </a:lnTo>
                <a:cubicBezTo>
                  <a:pt x="7389" y="5175"/>
                  <a:pt x="6880" y="5684"/>
                  <a:pt x="6252" y="5684"/>
                </a:cubicBezTo>
                <a:cubicBezTo>
                  <a:pt x="5625" y="5684"/>
                  <a:pt x="5116" y="5175"/>
                  <a:pt x="5116" y="4547"/>
                </a:cubicBezTo>
                <a:lnTo>
                  <a:pt x="5116" y="3421"/>
                </a:lnTo>
                <a:close/>
                <a:moveTo>
                  <a:pt x="18827" y="15913"/>
                </a:moveTo>
                <a:cubicBezTo>
                  <a:pt x="18804" y="15914"/>
                  <a:pt x="18781" y="15915"/>
                  <a:pt x="18757" y="15915"/>
                </a:cubicBezTo>
                <a:lnTo>
                  <a:pt x="17620" y="15915"/>
                </a:lnTo>
                <a:cubicBezTo>
                  <a:pt x="16364" y="15915"/>
                  <a:pt x="15347" y="16932"/>
                  <a:pt x="15347" y="18189"/>
                </a:cubicBezTo>
                <a:lnTo>
                  <a:pt x="15347" y="19163"/>
                </a:lnTo>
                <a:cubicBezTo>
                  <a:pt x="15466" y="19115"/>
                  <a:pt x="15581" y="19057"/>
                  <a:pt x="15690" y="18990"/>
                </a:cubicBezTo>
                <a:cubicBezTo>
                  <a:pt x="15893" y="18866"/>
                  <a:pt x="16081" y="18689"/>
                  <a:pt x="16710" y="18060"/>
                </a:cubicBezTo>
                <a:lnTo>
                  <a:pt x="18060" y="16710"/>
                </a:lnTo>
                <a:cubicBezTo>
                  <a:pt x="18472" y="16297"/>
                  <a:pt x="18690" y="16074"/>
                  <a:pt x="18827" y="15913"/>
                </a:cubicBezTo>
                <a:close/>
              </a:path>
            </a:pathLst>
          </a:custGeom>
          <a:solidFill xmlns:a="http://schemas.openxmlformats.org/drawingml/2006/main">
            <a:srgbClr val="7DD3FC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</a:pPr>
            <a:endParaRPr sz="4300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Footer Placeholder 18">
            <a:extLst xmlns:a="http://schemas.openxmlformats.org/drawingml/2006/main">
              <a:ext uri="{FF2B5EF4-FFF2-40B4-BE49-F238E27FC236}">
                <a16:creationId xmlns:a16="http://schemas.microsoft.com/office/drawing/2014/main" id="{A7C685AE-794E-F9C0-C7B3-7E956842DD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892F439-FAFA-E9E4-AA65-F7A04500A77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AEC632-A9E6-82AB-6034-3014BC3905A0}" type="slidenum">
              <a:rPr>
                <a:solidFill>
                  <a:srgbClr val="A9C7E8"/>
                </a:solidFill>
              </a:rPr>
              <a:t>41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342105169"/>
      </p:ext>
    </p:extLst>
  </p:cSld>
</p:sld>
</file>

<file path=ppt/slides/slide4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Which is better for a developer? Match the tool to the job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No universal winner: the coding surface, tools, and verification loop matter as much as raw model capability.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953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Developer job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Codex / OpenAI edge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Claude / Claude Code edge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Default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Why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End-to-end repo change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Integrated agentic work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Strong terminal loop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Codex Sol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Execution + proof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Hard architecture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Astra reasoning + tools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Opus / Fable analysis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Test both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Domain eval wins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Focused bug fix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Persistent execution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Sonnet daily strength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Either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Reproduction wins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Independent code review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Fresh Codex reviewer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Critique + ultrareview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Claude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Separate reviewer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Cross-app / browser task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Computer + browser tools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Chrome / MCP available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Codex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Surface integration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High-volume automation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Luna economics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Sonnet / Haiku options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Benchmark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Cost + retry rate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Long contextual analysis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Large context + tools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Structured long context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Either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Input design matters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Deepest final pass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Astra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Opus 5.5 / Fable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Dual review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Disagreement helps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5CE1F1-F8E2-E359-8FD1-A9FA98B3A676}" type="slidenum">
              <a:rPr>
                <a:solidFill>
                  <a:srgbClr val="A9C7E8"/>
                </a:solidFill>
              </a:rPr>
              <a:t>42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4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My recommended stack for a professional developer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Primary implementation → Codex with GPT-6.1 Sol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 it for repository edits, tests, runtime checks, and a clean Git handoff.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Escalate to Astra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Route repetition to Luna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Keep evidence in the diff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Independent review → Claude Code with Sonnet 5.5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 a read-only first pass; escalate deep design or security review when justified.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No edits on first pass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Cite files and tests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Classify residual risk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This pairing is a workflow recommendation, not a permanent ranking. Re-run your own evals when models, plans, tools, or repository constraints change.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One writer at a time. Use separate worktrees for parallel writers. The human owns scope, secrets, merge, deployment, and rollback.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70EE3B2-1325-F8E9-D276-8EA80C32ED19}" type="slidenum">
              <a:rPr>
                <a:solidFill>
                  <a:srgbClr val="A9C7E8"/>
                </a:solidFill>
              </a:rPr>
              <a:t>43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4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Benchmark models on your real developer workload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 10–20 representative tasks from your own repository: features, bugs, reviews, and migrations.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TASK SET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Score correctness, test pass rate, diff quality, regressions, security, and reviewer acceptance.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QUALITY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Track wall time, tokens or cost, tool failures, retries, and human intervention.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EFFICIENCY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Pin exact versions, prompts, permissions, and fixtures; rerun after meaningful upgrades.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REPRODUCIBILITY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Select the lightest model that reliably passes. Escalation should be an explicit routing rule, not guesswork.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110800D-D5E6-B48B-B335-F070B0EAA3B9}" type="slidenum">
              <a:rPr>
                <a:solidFill>
                  <a:srgbClr val="A9C7E8"/>
                </a:solidFill>
              </a:rPr>
              <a:t>44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4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800">
                <a:solidFill>
                  <a:srgbClr val="F6FAFF"/>
                </a:solidFill>
              </a:rPr>
              <a:t>Model mastery</a:t>
            </a:r>
          </a:p>
          <a:p xmlns:a="http://schemas.openxmlformats.org/drawingml/2006/main">
            <a:r>
              <a:rPr sz="6800">
                <a:solidFill>
                  <a:srgbClr val="F6FAFF"/>
                </a:solidFill>
              </a:rPr>
              <a:t>Developer playbooks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E2EEFC"/>
                </a:solidFill>
              </a:rPr>
              <a:t>Version 2: practical use of ChatGPT Astra, Sol mode, Claude Fable 5, and Opus 5.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UPDATED OCTOBER 10, 2026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slides/slide4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Choose the workspace before choosing the model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ChatGPT Work / Codex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Choose the model beneath the composer; use Advanced for the exact model and effort.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Sol is a Work / Codex choice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Availability depends on account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Record the selected version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Claude / Claude Code / API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Select the exact supported version. The coding surface supplies repository and execution tools.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Check access and permissions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Keep the task scope explicit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 actual results as evidence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A model selection does not grant tools. A text-only chat can explain or draft a patch; an equipped coding agent can edit and verify.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Before starting: provide the project, relevant sources, desired behavior, constraints, and authorized actions.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2DB7CE-501A-BBF4-0CAD-B084CE0A592C}" type="slidenum">
              <a:rPr>
                <a:solidFill>
                  <a:srgbClr val="A9C7E8"/>
                </a:solidFill>
              </a:rPr>
              <a:t>46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4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Exact requested models and newer versions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Do not silently substitute a newer version; benchmark the upgrade on your own developer tasks.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9530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Model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Exact label / ID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Guide coverage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Developer use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200" b="1">
                          <a:solidFill>
                            <a:srgbClr val="F6FAFF"/>
                          </a:solidFill>
                          <a:latin typeface="+mn-lt"/>
                          <a:ea typeface="+mn-lt"/>
                          <a:cs typeface="+mn-lt"/>
                        </a:rPr>
                        <a:t>Version rule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D5EA8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Astra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gpt-6-astra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Requested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Hard, broad work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Check surface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GPT-6 Sol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gpt-6-sol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Requested mode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Everyday work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Record version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GPT-6.1 Sol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gpt-6.1-sol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Newer Sol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Cost / quality balance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Evaluate upgrade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Fable 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claude-fable-5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Requested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Extended hard tasks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Exact playbook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Fable 5.1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claude-fable-5-1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Newer Fable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Frontier work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Check access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Opus 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claude-opus-5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Requested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Complex features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Exact playbook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Opus 5.5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claude-opus-5-5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Newer Opus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Deep coding / review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Evaluate upgrade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0C315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GPT-6 Luna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gpt-6-luna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Catalog context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Focused volume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125">
                          <a:solidFill>
                            <a:srgbClr val="E2EEFC"/>
                          </a:solidFill>
                          <a:latin typeface="+mn-lt"/>
                          <a:ea typeface="+mn-lt"/>
                          <a:cs typeface="+mn-lt"/>
                        </a:rPr>
                        <a:t>Test quality bar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  <a:solidFill>
                      <a:srgbClr val="103D70"/>
                    </a:solidFill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66E625-45F0-7FC0-7206-B9D4780D3461}" type="slidenum">
              <a:rPr>
                <a:solidFill>
                  <a:srgbClr val="A9C7E8"/>
                </a:solidFill>
              </a:rPr>
              <a:t>47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4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Astra: give the hardest task a clear destination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Useful context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Relevant documents, tools, and concise AGENTS.md guidance beat exhaustive instructions.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Outcome first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Describe the result, constraints, and success criteria; let Astra choose the approach.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Tune effort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Start with Light / low. Max adds depth; Ultra suits meaningful independent tracks when available.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Room to act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Remove old rituals that force excessive reading or repeated checks. Keep essential release gates.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Practice: build an expiring invitation flow. Check duplicate requests, token expiry, and the real UI behavior.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9CF87E8-8F71-04A5-6F3A-BEE8F630D5E2}" type="slidenum">
              <a:rPr>
                <a:solidFill>
                  <a:srgbClr val="A9C7E8"/>
                </a:solidFill>
              </a:rPr>
              <a:t>48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4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Sol: make everyday engineering repeatable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Scoped task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Name the desired behavior, relevant paths, constraints, and acceptance checks.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Exact version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GPT-6 Sol and GPT-6.1 Sol are distinct. Record the picker label in your evaluation.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Refine in context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Give precise corrections in the same task. Reuse prompts once results are reliable.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Concrete evidence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For a bug, supply reproduction steps, expected behavior, and the exact error.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Practice: fix a settings toggle that resets after refresh. Start at the client default; adjust effort using results.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4175A-4E66-87FD-D56A-AAD4D4BBF877}" type="slidenum">
              <a:rPr>
                <a:solidFill>
                  <a:srgbClr val="A9C7E8"/>
                </a:solidFill>
              </a:rPr>
              <a:t>49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5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Fable 5: anchor long tasks to evidenced progress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Checkpoints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Compare progress against the accepted specification. Cite completed actions and tool results.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Purpose + boundaries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Explain why the work matters, who it serves, and what may be changed.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Adaptive thinking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Start at high; compare xhigh for hard work and lower effort for routine tasks. No manual budgets.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Long-run support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Allow sufficient time and streaming in the harness. Retain task state and durable lessons.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Practice: migrate one legacy service behind its existing API contract, using behavior fixtures and milestone notes.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91E0C6-B3E9-2F0E-6F4F-4638278C4AE4}" type="slidenum">
              <a:rPr>
                <a:solidFill>
                  <a:srgbClr val="A9C7E8"/>
                </a:solidFill>
              </a:rPr>
              <a:t>50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5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Opus 5: complete specification, calibrated scope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Output length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Ask for concise deliverables separately. Thinking effort is not a verbosity control.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Whole specification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Give required behavior, interfaces, constraints, and the intended result up front.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Effort + review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Start high, test lower effort for economy, and use xhigh for demanding work. Triage supported findings.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Scope discipline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Remove redundant self-check rituals. Reserve subagents for sizeable independent work.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Practice: review session-expiry changes against the complete diff and call sites; order findings by impact.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43A58D-60CA-DFB2-80EC-B65AE4CB9481}" type="slidenum">
              <a:rPr>
                <a:solidFill>
                  <a:srgbClr val="A9C7E8"/>
                </a:solidFill>
              </a:rPr>
              <a:t>51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5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Build prompt: define a shippable slice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Implement [feature] for [user and problem]. Supply the repository, stack, and relevant specification.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OBJECTIVE + CONTEXT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Name inputs, outputs, loading, error, and success states. Specify observable acceptance criteria.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REQUIRED BEHAVIOR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List interface and design constraints, files in scope, and authorized local or publishing actions.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SCOPE + AUTHORITY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Deliver the working change with affected files, actual check results, and unresolved requirements.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HANDOFF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Add the selected model’s working preference from the website. Bracketed fields are yours to fill, not facts.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33A456-5465-3671-5B0B-A8DFBB753E5A}" type="slidenum">
              <a:rPr>
                <a:solidFill>
                  <a:srgbClr val="A9C7E8"/>
                </a:solidFill>
              </a:rPr>
              <a:t>52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5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Debug prompt: connect the failure to a correction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Resolve [specific defect]. Supply the environment, exact steps, inputs, and observed failure.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REPRODUCTION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State the correct behavior. Attach the log, failed command, stack trace, or screenshot.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EXPECTED + EVIDENCE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Name compatibility requirements, scope boundaries, and authorized edits or execution.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CONSTRAINTS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Explain the cause, focused correction, changed behavior, and what remains unverified.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DELIVERY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 passing command is evidence for that check—not proof of every user journey. Rerun the actual failure path.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77B42F-3A06-F812-16D6-7080D8A12563}" type="slidenum">
              <a:rPr>
                <a:solidFill>
                  <a:srgbClr val="A9C7E8"/>
                </a:solidFill>
              </a:rPr>
              <a:t>53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5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Review prompt: supported findings, then triage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Review [complete diff] against [base and specification]. Include architecture, contracts, and callers.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COMPLETE CONTEXT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Focus on correctness, state, data integrity, access control, and accessibility as relevant.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REVIEW LENS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Give the file and location, impact, evidence, and practical correction. Separate defects from concerns.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SUPPORTED FINDINGS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First pass is assessment only. Leave files unchanged and order findings across severities by impact.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7DD3FC"/>
                </a:solidFill>
                <a:latin typeface="Helvetica Neue Medium"/>
                <a:ea typeface="Helvetica Neue Medium"/>
                <a:cs typeface="Helvetica Neue Medium"/>
              </a:rPr>
              <a:t>READ-ONLY + TRIAGE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Independent review reduces shared blind spots. The human still owns risk acceptance, merge, and deployment.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FFCF489-DFD6-64BD-BCB3-4D97AF36B1FB}" type="slidenum">
              <a:rPr>
                <a:solidFill>
                  <a:srgbClr val="A9C7E8"/>
                </a:solidFill>
              </a:rPr>
              <a:t>54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5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Your practice loop: brief, run, inspect, calibrate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Choose the work mode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Ask to implement, diagnose, review, or plan. Specify tool access and authorized actions.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Start with one useful result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Give relevant context and observable success criteria. Avoid unrelated background.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Measure the outcome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Score behavior, time, cost, retries, and human intervention; keep prompts and fixtures fixed.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Steer with exact feedback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Name the observed mismatch and desired change. Keep accepted requirements in context.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Tune context first, then effort or model. Reuse successful templates; re-evaluate after meaningful upgrades.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0BC6D5-207B-F838-F994-CD836D38A6B0}" type="slidenum">
              <a:rPr>
                <a:solidFill>
                  <a:srgbClr val="A9C7E8"/>
                </a:solidFill>
              </a:rPr>
              <a:t>55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5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Continue learning: official guides + interactive practice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Claude exact-version guides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Fable 5 and Opus 5 each have model-specific effort, context, and scope advice.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ChatGPT platform controls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Check available Work / Codex models, version labels, reasoning controls, and account access.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Interactive Version 2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Switch four model playbooks and copy build, debug, or review prompts on the website.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Astra + shared prompting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Use outcome-driven Astra briefs and practical context-driven ChatGPT / Codex prompts.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rgbClr val="E2EEFC"/>
                </a:solidFill>
                <a:latin typeface="Helvetica Neue Medium"/>
                <a:ea typeface="Helvetica Neue Medium"/>
                <a:cs typeface="Helvetica Neue Medium"/>
              </a:rPr>
              <a:t>Sources checked October 10, 2026. Follow the links in speaker notes; availability and guidance can change.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265AEE-4D99-0673-12C8-99EFF695690A}" type="slidenum">
              <a:rPr>
                <a:solidFill>
                  <a:srgbClr val="A9C7E8"/>
                </a:solidFill>
              </a:rPr>
              <a:t>56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5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32E36C81-5801-B2BE-01AA-D802EF7CA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10402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F6FAFF"/>
                </a:solidFill>
              </a:rPr>
              <a:t>The combined workflow closes the loop from intent to release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3642A94-5293-AA67-B826-5BD0DE5E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3962400"/>
          </a:xfrm>
          <a:prstGeom xmlns:a="http://schemas.openxmlformats.org/drawingml/2006/main" prst="roundRect">
            <a:avLst>
              <a:gd name="adj" fmla="val 1801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F6AC358-F5F5-46E1-3A28-330B5B7F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557" y="2032000"/>
            <a:ext cx="2597343" cy="3962400"/>
          </a:xfrm>
          <a:prstGeom xmlns:a="http://schemas.openxmlformats.org/drawingml/2006/main" prst="roundRect">
            <a:avLst>
              <a:gd name="adj" fmla="val 1790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27EDC79-B9FD-D75C-F5E0-8650415F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032000"/>
            <a:ext cx="2581975" cy="3962400"/>
          </a:xfrm>
          <a:prstGeom xmlns:a="http://schemas.openxmlformats.org/drawingml/2006/main" prst="roundRect">
            <a:avLst>
              <a:gd name="adj" fmla="val 2701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FAFF379-8A28-CAB1-B1D0-F7E83A8F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957" y="2032000"/>
            <a:ext cx="2597343" cy="3962400"/>
          </a:xfrm>
          <a:prstGeom xmlns:a="http://schemas.openxmlformats.org/drawingml/2006/main" prst="roundRect">
            <a:avLst>
              <a:gd name="adj" fmla="val 2984"/>
            </a:avLst>
          </a:prstGeom>
          <a:solidFill xmlns:a="http://schemas.openxmlformats.org/drawingml/2006/main">
            <a:srgbClr val="103D70"/>
          </a:solidFill>
          <a:ln xmlns:a="http://schemas.openxmlformats.org/drawingml/2006/main" w="9525">
            <a:solidFill>
              <a:srgbClr val="4D8FCE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DC86A8A-FBA6-FD14-99C2-1C4C5D6609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2414155"/>
            <a:ext cx="2145400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Claude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Define the problem, explore the system, design the contract, and review critically.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88605DFA-C810-BB6C-3C24-829EC7D93322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555921" y="2414155"/>
            <a:ext cx="2149303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Codex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Implement the approved slice, test thoroughly, inspect runtime behavior, and prepare a clean handoff.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92FDC1FF-2A9F-386F-4FAC-628138F5E29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489680" y="2414155"/>
            <a:ext cx="2145400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Claude review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Challenge assumptions, cite evidence, classify risk, and request missing proof.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5C2F1B00-B28B-9F1D-8CDD-3C4B2DE34D3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426634" y="2414155"/>
            <a:ext cx="2149303" cy="159904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Approve contracts, triage findings, verify product behavior, read the diff, and control release.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813AAE-3B9F-21FA-95B9-CBD6F80E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49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Define problem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Map risks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Approve contract</a:t>
            </a: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FE99CB3-C543-5212-C2B6-D8E01565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774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Build slice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Run checks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Review diff</a:t>
            </a:r>
          </a:p>
        </p:txBody>
      </p:sp>
      <p:sp>
        <p:nvSpPr>
          <p:cNvPr id="21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6BEB40B-1BEE-A21D-D3BE-79B2C975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849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Challenge assumptions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Classify evidence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Request proof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01569E6-593E-BC39-9E85-17656D65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937" y="4356100"/>
            <a:ext cx="2076818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Verify product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Merge intentionally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srgbClr val="E2EEFC"/>
                </a:solidFill>
                <a:latin typeface="Helvetica Neue"/>
                <a:ea typeface="Helvetica Neue"/>
                <a:cs typeface="Helvetica Neue"/>
              </a:rPr>
              <a:t>Own outcomes</a:t>
            </a:r>
          </a:p>
        </p:txBody>
      </p:sp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F79DC580-131D-75FB-A6FF-8B8F199532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A9C7E8"/>
                </a:solidFill>
              </a:rPr>
              <a:t>CODEX + CLAUDE CODE</a:t>
            </a:r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43D8131C-4637-3473-C20E-BA4F59F911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0DF58B-F0CC-EE04-B3E8-87EC24B7009F}" type="slidenum">
              <a:rPr>
                <a:solidFill>
                  <a:srgbClr val="A9C7E8"/>
                </a:solidFill>
              </a:rPr>
              <a:t>57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526092902"/>
      </p:ext>
    </p:extLst>
  </p:cSld>
</p:sld>
</file>

<file path=ppt/slides/slide5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A3A"/>
            </a:gs>
            <a:gs pos="54000">
              <a:srgbClr val="0A2E5D"/>
            </a:gs>
            <a:gs pos="100000">
              <a:srgbClr val="0B3F7A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800">
                <a:solidFill>
                  <a:srgbClr val="F6FAFF"/>
                </a:solidFill>
              </a:rPr>
              <a:t>Think deeply. Execute precisely.</a:t>
            </a:r>
          </a:p>
          <a:p xmlns:a="http://schemas.openxmlformats.org/drawingml/2006/main">
            <a:r>
              <a:rPr sz="6800">
                <a:solidFill>
                  <a:srgbClr val="F6FAFF"/>
                </a:solidFill>
              </a:rPr>
              <a:t>Verify with evidence.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E2EEFC"/>
                </a:solidFill>
              </a:rPr>
              <a:t>Use this guide as a repeatable checklist for every serious web, mobile, desktop, backend, or full-stack project.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7DD3FC"/>
                </a:solidFill>
                <a:latin typeface="Helvetica Neue"/>
                <a:ea typeface="Helvetica Neue"/>
                <a:cs typeface="Helvetica Neue"/>
              </a:rPr>
              <a:t>CODEX + CLAUDE CODE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2026-10-10T20:28:42.9940000Z</dcterms:created>
  <dcterms:modified xsi:type="dcterms:W3CDTF">2026-10-10T20:28:42.9940000Z</dcterms:modified>
</coreProperties>
</file>